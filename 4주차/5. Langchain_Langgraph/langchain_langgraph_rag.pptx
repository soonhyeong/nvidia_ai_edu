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86" y="96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22516" y="2352852"/>
            <a:ext cx="5410835" cy="39156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64604" y="1747266"/>
            <a:ext cx="5255768" cy="4629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427"/>
            <a:ext cx="12192000" cy="685842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523" y="0"/>
            <a:ext cx="11736476" cy="68575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" y="-1"/>
            <a:ext cx="5580256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-3" y="0"/>
            <a:ext cx="12192005" cy="157594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8560" y="319786"/>
            <a:ext cx="6312915" cy="953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55993" y="2909823"/>
            <a:ext cx="5004434" cy="19392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ecrettsteaks.com/blog/steak-wine-pairing.php" TargetMode="External"/><Relationship Id="rId2" Type="http://schemas.openxmlformats.org/officeDocument/2006/relationships/hyperlink" Target="https://blog.naver.com/PostView.nhn?blogId=cyahnnn&amp;logNo=222766631086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ecrettsteaks.com/blog/steak-wine-pairing.php" TargetMode="External"/><Relationship Id="rId2" Type="http://schemas.openxmlformats.org/officeDocument/2006/relationships/hyperlink" Target="https://blog.naver.com/PostView.nhn?blogId=cyahnnn&amp;logNo=222766631086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naver.com/dolmory9/223556006280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" y="0"/>
            <a:ext cx="12192000" cy="6858000"/>
            <a:chOff x="-4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4" y="0"/>
              <a:ext cx="12192004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717" y="4063"/>
              <a:ext cx="10216603" cy="472897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62529" y="1816734"/>
            <a:ext cx="7278370" cy="141541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998219" marR="5080" indent="-986155">
              <a:lnSpc>
                <a:spcPts val="5180"/>
              </a:lnSpc>
              <a:spcBef>
                <a:spcPts val="755"/>
              </a:spcBef>
            </a:pPr>
            <a:r>
              <a:rPr sz="4800" dirty="0"/>
              <a:t>랭그래프(LangGraph)</a:t>
            </a:r>
            <a:r>
              <a:rPr sz="4800" spc="-20" dirty="0"/>
              <a:t> </a:t>
            </a:r>
            <a:r>
              <a:rPr sz="4800" spc="-25" dirty="0"/>
              <a:t>활용 </a:t>
            </a:r>
            <a:r>
              <a:rPr sz="4800" dirty="0"/>
              <a:t>에이전트</a:t>
            </a:r>
            <a:r>
              <a:rPr sz="4800" spc="-60" dirty="0"/>
              <a:t> </a:t>
            </a:r>
            <a:r>
              <a:rPr sz="4800" dirty="0"/>
              <a:t>RAG</a:t>
            </a:r>
            <a:r>
              <a:rPr sz="4800" spc="-45" dirty="0"/>
              <a:t> </a:t>
            </a:r>
            <a:r>
              <a:rPr sz="4800" spc="-25" dirty="0"/>
              <a:t>구현</a:t>
            </a:r>
            <a:endParaRPr sz="4800"/>
          </a:p>
        </p:txBody>
      </p:sp>
      <p:sp>
        <p:nvSpPr>
          <p:cNvPr id="6" name="object 6"/>
          <p:cNvSpPr txBox="1"/>
          <p:nvPr/>
        </p:nvSpPr>
        <p:spPr>
          <a:xfrm>
            <a:off x="2813050" y="5382869"/>
            <a:ext cx="6573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맑은 고딕"/>
                <a:cs typeface="맑은 고딕"/>
              </a:rPr>
              <a:t>LangGraph</a:t>
            </a:r>
            <a:r>
              <a:rPr sz="2400" spc="-5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2400" dirty="0">
                <a:solidFill>
                  <a:srgbClr val="FFFFFF"/>
                </a:solidFill>
                <a:latin typeface="맑은 고딕"/>
                <a:cs typeface="맑은 고딕"/>
              </a:rPr>
              <a:t>기본</a:t>
            </a:r>
            <a:r>
              <a:rPr sz="2400" spc="-4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2400" dirty="0">
                <a:solidFill>
                  <a:srgbClr val="FFFFFF"/>
                </a:solidFill>
                <a:latin typeface="맑은 고딕"/>
                <a:cs typeface="맑은 고딕"/>
              </a:rPr>
              <a:t>사용법부터</a:t>
            </a:r>
            <a:r>
              <a:rPr sz="2400" spc="-4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2400" dirty="0">
                <a:solidFill>
                  <a:srgbClr val="FFFFFF"/>
                </a:solidFill>
                <a:latin typeface="맑은 고딕"/>
                <a:cs typeface="맑은 고딕"/>
              </a:rPr>
              <a:t>Modular</a:t>
            </a:r>
            <a:r>
              <a:rPr sz="2400" spc="-5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2400" dirty="0">
                <a:solidFill>
                  <a:srgbClr val="FFFFFF"/>
                </a:solidFill>
                <a:latin typeface="맑은 고딕"/>
                <a:cs typeface="맑은 고딕"/>
              </a:rPr>
              <a:t>RAG</a:t>
            </a:r>
            <a:r>
              <a:rPr sz="2400" spc="-6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맑은 고딕"/>
                <a:cs typeface="맑은 고딕"/>
              </a:rPr>
              <a:t>까지</a:t>
            </a:r>
            <a:endParaRPr sz="24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1802" y="3298063"/>
            <a:ext cx="22358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  <a:latin typeface="맑은 고딕"/>
                <a:cs typeface="맑은 고딕"/>
              </a:rPr>
              <a:t>주요</a:t>
            </a:r>
            <a:r>
              <a:rPr sz="4000" spc="-7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맑은 고딕"/>
                <a:cs typeface="맑은 고딕"/>
              </a:rPr>
              <a:t>내용</a:t>
            </a:r>
            <a:endParaRPr sz="400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61303" y="1954841"/>
            <a:ext cx="4725670" cy="283083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001F5F"/>
                </a:solidFill>
                <a:latin typeface="Consolas"/>
                <a:cs typeface="Consolas"/>
              </a:rPr>
              <a:t>LangChain</a:t>
            </a:r>
            <a:r>
              <a:rPr sz="2000" b="1" spc="-30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onsolas"/>
                <a:cs typeface="Consolas"/>
              </a:rPr>
              <a:t>ToolCalling</a:t>
            </a:r>
            <a:endParaRPr sz="2000"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001F5F"/>
                </a:solidFill>
                <a:latin typeface="Consolas"/>
                <a:cs typeface="Consolas"/>
              </a:rPr>
              <a:t>LangChain</a:t>
            </a:r>
            <a:r>
              <a:rPr sz="2000" b="1" spc="-20" dirty="0">
                <a:solidFill>
                  <a:srgbClr val="001F5F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onsolas"/>
                <a:cs typeface="Consolas"/>
              </a:rPr>
              <a:t>Agent</a:t>
            </a:r>
            <a:endParaRPr sz="2000"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800000"/>
                </a:solidFill>
                <a:latin typeface="Consolas"/>
                <a:cs typeface="Consolas"/>
              </a:rPr>
              <a:t>State </a:t>
            </a:r>
            <a:r>
              <a:rPr sz="2000" b="1" spc="-20" dirty="0">
                <a:solidFill>
                  <a:srgbClr val="800000"/>
                </a:solidFill>
                <a:latin typeface="Consolas"/>
                <a:cs typeface="Consolas"/>
              </a:rPr>
              <a:t>Graph</a:t>
            </a:r>
            <a:endParaRPr sz="2000"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800000"/>
                </a:solidFill>
                <a:latin typeface="Consolas"/>
                <a:cs typeface="Consolas"/>
              </a:rPr>
              <a:t>Message</a:t>
            </a:r>
            <a:r>
              <a:rPr sz="2000" b="1" spc="-2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800000"/>
                </a:solidFill>
                <a:latin typeface="Consolas"/>
                <a:cs typeface="Consolas"/>
              </a:rPr>
              <a:t>Graph</a:t>
            </a:r>
            <a:r>
              <a:rPr sz="2000" b="1" spc="-10" dirty="0">
                <a:solidFill>
                  <a:srgbClr val="800000"/>
                </a:solidFill>
                <a:latin typeface="Consolas"/>
                <a:cs typeface="Consolas"/>
              </a:rPr>
              <a:t> (Reducer)</a:t>
            </a:r>
            <a:endParaRPr sz="2000"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800000"/>
                </a:solidFill>
                <a:latin typeface="Consolas"/>
                <a:cs typeface="Consolas"/>
              </a:rPr>
              <a:t>ReAct</a:t>
            </a:r>
            <a:r>
              <a:rPr sz="2000" b="1" spc="-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800000"/>
                </a:solidFill>
                <a:latin typeface="Consolas"/>
                <a:cs typeface="Consolas"/>
              </a:rPr>
              <a:t>(Memory)</a:t>
            </a:r>
            <a:endParaRPr sz="2000"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800000"/>
                </a:solidFill>
                <a:latin typeface="Consolas"/>
                <a:cs typeface="Consolas"/>
              </a:rPr>
              <a:t>Adaptive</a:t>
            </a:r>
            <a:r>
              <a:rPr sz="2000" b="1" spc="2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800000"/>
                </a:solidFill>
                <a:latin typeface="Consolas"/>
                <a:cs typeface="Consolas"/>
              </a:rPr>
              <a:t>RAG</a:t>
            </a:r>
            <a:r>
              <a:rPr sz="2000" b="1" spc="3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800000"/>
                </a:solidFill>
                <a:latin typeface="Consolas"/>
                <a:cs typeface="Consolas"/>
              </a:rPr>
              <a:t>(Human-in-the-Loop)</a:t>
            </a:r>
            <a:endParaRPr sz="2000"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1300" algn="l"/>
              </a:tabLst>
            </a:pPr>
            <a:r>
              <a:rPr sz="2000" b="1" spc="-10" dirty="0">
                <a:solidFill>
                  <a:srgbClr val="800000"/>
                </a:solidFill>
                <a:latin typeface="Consolas"/>
                <a:cs typeface="Consolas"/>
              </a:rPr>
              <a:t>Self-</a:t>
            </a:r>
            <a:r>
              <a:rPr sz="2000" b="1" dirty="0">
                <a:solidFill>
                  <a:srgbClr val="800000"/>
                </a:solidFill>
                <a:latin typeface="Consolas"/>
                <a:cs typeface="Consolas"/>
              </a:rPr>
              <a:t>RAG</a:t>
            </a:r>
            <a:r>
              <a:rPr sz="2000" b="1" spc="6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800000"/>
                </a:solidFill>
                <a:latin typeface="Consolas"/>
                <a:cs typeface="Consolas"/>
              </a:rPr>
              <a:t>(sub-graph)</a:t>
            </a:r>
            <a:endParaRPr sz="2000"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800000"/>
                </a:solidFill>
                <a:latin typeface="Consolas"/>
                <a:cs typeface="Consolas"/>
              </a:rPr>
              <a:t>Corrective</a:t>
            </a:r>
            <a:r>
              <a:rPr sz="2000" b="1" spc="-30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800000"/>
                </a:solidFill>
                <a:latin typeface="Consolas"/>
                <a:cs typeface="Consolas"/>
              </a:rPr>
              <a:t>RAG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0"/>
              </a:spcBef>
            </a:pPr>
            <a:r>
              <a:rPr dirty="0"/>
              <a:t>LangChain</a:t>
            </a:r>
            <a:r>
              <a:rPr spc="-40" dirty="0"/>
              <a:t> </a:t>
            </a:r>
            <a:r>
              <a:rPr spc="-30" dirty="0"/>
              <a:t>ToolCalling</a:t>
            </a:r>
          </a:p>
          <a:p>
            <a:pPr marL="12700">
              <a:lnSpc>
                <a:spcPts val="3650"/>
              </a:lnSpc>
            </a:pPr>
            <a:r>
              <a:rPr spc="-25" dirty="0"/>
              <a:t>개요</a:t>
            </a:r>
          </a:p>
        </p:txBody>
      </p:sp>
      <p:sp>
        <p:nvSpPr>
          <p:cNvPr id="3" name="object 3"/>
          <p:cNvSpPr/>
          <p:nvPr/>
        </p:nvSpPr>
        <p:spPr>
          <a:xfrm>
            <a:off x="500748" y="1756282"/>
            <a:ext cx="10987405" cy="1495425"/>
          </a:xfrm>
          <a:custGeom>
            <a:avLst/>
            <a:gdLst/>
            <a:ahLst/>
            <a:cxnLst/>
            <a:rect l="l" t="t" r="r" b="b"/>
            <a:pathLst>
              <a:path w="10987405" h="1495425">
                <a:moveTo>
                  <a:pt x="10738116" y="0"/>
                </a:moveTo>
                <a:lnTo>
                  <a:pt x="249161" y="0"/>
                </a:lnTo>
                <a:lnTo>
                  <a:pt x="204371" y="4012"/>
                </a:lnTo>
                <a:lnTo>
                  <a:pt x="162217" y="15581"/>
                </a:lnTo>
                <a:lnTo>
                  <a:pt x="123400" y="34003"/>
                </a:lnTo>
                <a:lnTo>
                  <a:pt x="88626" y="58574"/>
                </a:lnTo>
                <a:lnTo>
                  <a:pt x="58596" y="88590"/>
                </a:lnTo>
                <a:lnTo>
                  <a:pt x="34015" y="123349"/>
                </a:lnTo>
                <a:lnTo>
                  <a:pt x="15587" y="162147"/>
                </a:lnTo>
                <a:lnTo>
                  <a:pt x="4014" y="204281"/>
                </a:lnTo>
                <a:lnTo>
                  <a:pt x="0" y="249046"/>
                </a:lnTo>
                <a:lnTo>
                  <a:pt x="0" y="1245742"/>
                </a:lnTo>
                <a:lnTo>
                  <a:pt x="4014" y="1290546"/>
                </a:lnTo>
                <a:lnTo>
                  <a:pt x="15587" y="1332709"/>
                </a:lnTo>
                <a:lnTo>
                  <a:pt x="34015" y="1371529"/>
                </a:lnTo>
                <a:lnTo>
                  <a:pt x="58596" y="1406304"/>
                </a:lnTo>
                <a:lnTo>
                  <a:pt x="88626" y="1436331"/>
                </a:lnTo>
                <a:lnTo>
                  <a:pt x="123400" y="1460909"/>
                </a:lnTo>
                <a:lnTo>
                  <a:pt x="162217" y="1479334"/>
                </a:lnTo>
                <a:lnTo>
                  <a:pt x="204371" y="1490904"/>
                </a:lnTo>
                <a:lnTo>
                  <a:pt x="249161" y="1494916"/>
                </a:lnTo>
                <a:lnTo>
                  <a:pt x="10738116" y="1494916"/>
                </a:lnTo>
                <a:lnTo>
                  <a:pt x="10782920" y="1490904"/>
                </a:lnTo>
                <a:lnTo>
                  <a:pt x="10825082" y="1479334"/>
                </a:lnTo>
                <a:lnTo>
                  <a:pt x="10863903" y="1460909"/>
                </a:lnTo>
                <a:lnTo>
                  <a:pt x="10898678" y="1436331"/>
                </a:lnTo>
                <a:lnTo>
                  <a:pt x="10928705" y="1406304"/>
                </a:lnTo>
                <a:lnTo>
                  <a:pt x="10953282" y="1371529"/>
                </a:lnTo>
                <a:lnTo>
                  <a:pt x="10971707" y="1332709"/>
                </a:lnTo>
                <a:lnTo>
                  <a:pt x="10983277" y="1290546"/>
                </a:lnTo>
                <a:lnTo>
                  <a:pt x="10987290" y="1245742"/>
                </a:lnTo>
                <a:lnTo>
                  <a:pt x="10987290" y="249046"/>
                </a:lnTo>
                <a:lnTo>
                  <a:pt x="10983277" y="204281"/>
                </a:lnTo>
                <a:lnTo>
                  <a:pt x="10971707" y="162147"/>
                </a:lnTo>
                <a:lnTo>
                  <a:pt x="10953282" y="123349"/>
                </a:lnTo>
                <a:lnTo>
                  <a:pt x="10928705" y="88590"/>
                </a:lnTo>
                <a:lnTo>
                  <a:pt x="10898678" y="58574"/>
                </a:lnTo>
                <a:lnTo>
                  <a:pt x="10863903" y="34003"/>
                </a:lnTo>
                <a:lnTo>
                  <a:pt x="10825082" y="15581"/>
                </a:lnTo>
                <a:lnTo>
                  <a:pt x="10782920" y="4012"/>
                </a:lnTo>
                <a:lnTo>
                  <a:pt x="10738116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2678" y="2075434"/>
            <a:ext cx="100653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2085" algn="l"/>
              </a:tabLst>
            </a:pP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Tool</a:t>
            </a:r>
            <a:r>
              <a:rPr sz="18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Calling</a:t>
            </a:r>
            <a:r>
              <a:rPr sz="1800" spc="-3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개념:</a:t>
            </a:r>
            <a:r>
              <a:rPr sz="18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LLM이</a:t>
            </a:r>
            <a:r>
              <a:rPr sz="18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b="1" u="sng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맑은 고딕"/>
                <a:cs typeface="맑은 고딕"/>
              </a:rPr>
              <a:t>외부</a:t>
            </a:r>
            <a:r>
              <a:rPr sz="1800" b="1" u="sng" spc="-15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맑은 고딕"/>
                <a:cs typeface="맑은 고딕"/>
              </a:rPr>
              <a:t> </a:t>
            </a:r>
            <a:r>
              <a:rPr sz="1800" b="1" u="sng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맑은 고딕"/>
                <a:cs typeface="맑은 고딕"/>
              </a:rPr>
              <a:t>기능이나</a:t>
            </a:r>
            <a:r>
              <a:rPr sz="1800" b="1" u="sng" spc="-15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맑은 고딕"/>
                <a:cs typeface="맑은 고딕"/>
              </a:rPr>
              <a:t> </a:t>
            </a:r>
            <a:r>
              <a:rPr sz="1800" b="1" u="sng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맑은 고딕"/>
                <a:cs typeface="맑은 고딕"/>
              </a:rPr>
              <a:t>데이터에</a:t>
            </a:r>
            <a:r>
              <a:rPr sz="1800" b="1" u="sng" spc="-10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맑은 고딕"/>
                <a:cs typeface="맑은 고딕"/>
              </a:rPr>
              <a:t> </a:t>
            </a:r>
            <a:r>
              <a:rPr sz="1800" b="1" u="sng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맑은 고딕"/>
                <a:cs typeface="맑은 고딕"/>
              </a:rPr>
              <a:t>접근</a:t>
            </a:r>
            <a:r>
              <a:rPr sz="1800" u="none" dirty="0">
                <a:solidFill>
                  <a:srgbClr val="0D0D0D"/>
                </a:solidFill>
                <a:latin typeface="맑은 고딕"/>
                <a:cs typeface="맑은 고딕"/>
              </a:rPr>
              <a:t>할</a:t>
            </a:r>
            <a:r>
              <a:rPr sz="1800" u="none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u="none" dirty="0">
                <a:solidFill>
                  <a:srgbClr val="0D0D0D"/>
                </a:solidFill>
                <a:latin typeface="맑은 고딕"/>
                <a:cs typeface="맑은 고딕"/>
              </a:rPr>
              <a:t>수</a:t>
            </a:r>
            <a:r>
              <a:rPr sz="1800" u="none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u="none" dirty="0">
                <a:solidFill>
                  <a:srgbClr val="0D0D0D"/>
                </a:solidFill>
                <a:latin typeface="맑은 고딕"/>
                <a:cs typeface="맑은 고딕"/>
              </a:rPr>
              <a:t>있게</a:t>
            </a:r>
            <a:r>
              <a:rPr sz="1800" u="none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u="none" dirty="0">
                <a:solidFill>
                  <a:srgbClr val="0D0D0D"/>
                </a:solidFill>
                <a:latin typeface="맑은 고딕"/>
                <a:cs typeface="맑은 고딕"/>
              </a:rPr>
              <a:t>해주는 </a:t>
            </a:r>
            <a:r>
              <a:rPr sz="1800" u="none" spc="-20" dirty="0">
                <a:solidFill>
                  <a:srgbClr val="0D0D0D"/>
                </a:solidFill>
                <a:latin typeface="맑은 고딕"/>
                <a:cs typeface="맑은 고딕"/>
              </a:rPr>
              <a:t>메커니즘</a:t>
            </a:r>
            <a:endParaRPr sz="1800" dirty="0">
              <a:latin typeface="맑은 고딕"/>
              <a:cs typeface="맑은 고딕"/>
            </a:endParaRPr>
          </a:p>
          <a:p>
            <a:pPr marL="172085" indent="-159385">
              <a:lnSpc>
                <a:spcPct val="100000"/>
              </a:lnSpc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중요성: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LLM의</a:t>
            </a:r>
            <a:r>
              <a:rPr sz="1800" spc="-2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한계(최신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정보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부족,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특정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작업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수행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불가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등)를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극복하는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방법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(</a:t>
            </a:r>
            <a:r>
              <a:rPr sz="1800" b="1" dirty="0">
                <a:solidFill>
                  <a:srgbClr val="0D0D0D"/>
                </a:solidFill>
                <a:latin typeface="맑은 고딕"/>
                <a:cs typeface="맑은 고딕"/>
              </a:rPr>
              <a:t>RAG에서도</a:t>
            </a:r>
            <a:r>
              <a:rPr sz="1800" b="1" spc="-2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b="1" spc="-25" dirty="0">
                <a:solidFill>
                  <a:srgbClr val="0D0D0D"/>
                </a:solidFill>
                <a:latin typeface="맑은 고딕"/>
                <a:cs typeface="맑은 고딕"/>
              </a:rPr>
              <a:t>중요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)</a:t>
            </a:r>
            <a:endParaRPr sz="1800" dirty="0">
              <a:latin typeface="맑은 고딕"/>
              <a:cs typeface="맑은 고딕"/>
            </a:endParaRPr>
          </a:p>
          <a:p>
            <a:pPr marL="172085" indent="-159385">
              <a:lnSpc>
                <a:spcPct val="100000"/>
              </a:lnSpc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LLM과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외부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도구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연동의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필요성: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실시간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데이터 접근,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특수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기능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수행,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정확성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향상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50" dirty="0">
                <a:solidFill>
                  <a:srgbClr val="0D0D0D"/>
                </a:solidFill>
                <a:latin typeface="맑은 고딕"/>
                <a:cs typeface="맑은 고딕"/>
              </a:rPr>
              <a:t>등</a:t>
            </a:r>
            <a:endParaRPr sz="1800" dirty="0">
              <a:latin typeface="맑은 고딕"/>
              <a:cs typeface="맑은 고딕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5985" y="3355276"/>
            <a:ext cx="10996930" cy="3259454"/>
            <a:chOff x="495985" y="3355276"/>
            <a:chExt cx="10996930" cy="3259454"/>
          </a:xfrm>
        </p:grpSpPr>
        <p:sp>
          <p:nvSpPr>
            <p:cNvPr id="6" name="object 6"/>
            <p:cNvSpPr/>
            <p:nvPr/>
          </p:nvSpPr>
          <p:spPr>
            <a:xfrm>
              <a:off x="500748" y="3360039"/>
              <a:ext cx="10987405" cy="3249930"/>
            </a:xfrm>
            <a:custGeom>
              <a:avLst/>
              <a:gdLst/>
              <a:ahLst/>
              <a:cxnLst/>
              <a:rect l="l" t="t" r="r" b="b"/>
              <a:pathLst>
                <a:path w="10987405" h="3249929">
                  <a:moveTo>
                    <a:pt x="0" y="178815"/>
                  </a:moveTo>
                  <a:lnTo>
                    <a:pt x="6385" y="131262"/>
                  </a:lnTo>
                  <a:lnTo>
                    <a:pt x="24406" y="88542"/>
                  </a:lnTo>
                  <a:lnTo>
                    <a:pt x="52358" y="52355"/>
                  </a:lnTo>
                  <a:lnTo>
                    <a:pt x="88538" y="24402"/>
                  </a:lnTo>
                  <a:lnTo>
                    <a:pt x="131242" y="6384"/>
                  </a:lnTo>
                  <a:lnTo>
                    <a:pt x="178765" y="0"/>
                  </a:lnTo>
                  <a:lnTo>
                    <a:pt x="10808474" y="0"/>
                  </a:lnTo>
                  <a:lnTo>
                    <a:pt x="10856027" y="6384"/>
                  </a:lnTo>
                  <a:lnTo>
                    <a:pt x="10898748" y="24402"/>
                  </a:lnTo>
                  <a:lnTo>
                    <a:pt x="10934934" y="52355"/>
                  </a:lnTo>
                  <a:lnTo>
                    <a:pt x="10962887" y="88542"/>
                  </a:lnTo>
                  <a:lnTo>
                    <a:pt x="10980906" y="131262"/>
                  </a:lnTo>
                  <a:lnTo>
                    <a:pt x="10987290" y="178815"/>
                  </a:lnTo>
                  <a:lnTo>
                    <a:pt x="10987290" y="3071152"/>
                  </a:lnTo>
                  <a:lnTo>
                    <a:pt x="10980906" y="3118675"/>
                  </a:lnTo>
                  <a:lnTo>
                    <a:pt x="10962887" y="3161378"/>
                  </a:lnTo>
                  <a:lnTo>
                    <a:pt x="10934934" y="3197558"/>
                  </a:lnTo>
                  <a:lnTo>
                    <a:pt x="10898748" y="3225510"/>
                  </a:lnTo>
                  <a:lnTo>
                    <a:pt x="10856027" y="3243531"/>
                  </a:lnTo>
                  <a:lnTo>
                    <a:pt x="10808474" y="3249917"/>
                  </a:lnTo>
                  <a:lnTo>
                    <a:pt x="178765" y="3249917"/>
                  </a:lnTo>
                  <a:lnTo>
                    <a:pt x="131242" y="3243531"/>
                  </a:lnTo>
                  <a:lnTo>
                    <a:pt x="88538" y="3225510"/>
                  </a:lnTo>
                  <a:lnTo>
                    <a:pt x="52358" y="3197558"/>
                  </a:lnTo>
                  <a:lnTo>
                    <a:pt x="24406" y="3161378"/>
                  </a:lnTo>
                  <a:lnTo>
                    <a:pt x="6385" y="3118675"/>
                  </a:lnTo>
                  <a:lnTo>
                    <a:pt x="0" y="3071152"/>
                  </a:lnTo>
                  <a:lnTo>
                    <a:pt x="0" y="178815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894" y="3399002"/>
              <a:ext cx="9855200" cy="3172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345551" y="659638"/>
            <a:ext cx="2316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맑은 고딕"/>
                <a:cs typeface="맑은 고딕"/>
              </a:rPr>
              <a:t>LangChain</a:t>
            </a:r>
            <a:r>
              <a:rPr sz="1800" spc="-5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ToolCalling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1809" y="6335369"/>
            <a:ext cx="62947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맑은 고딕"/>
                <a:cs typeface="맑은 고딕"/>
              </a:rPr>
              <a:t>&lt;이미지</a:t>
            </a:r>
            <a:r>
              <a:rPr sz="1050" spc="200" dirty="0">
                <a:latin typeface="맑은 고딕"/>
                <a:cs typeface="맑은 고딕"/>
              </a:rPr>
              <a:t> </a:t>
            </a:r>
            <a:r>
              <a:rPr sz="1050" dirty="0">
                <a:latin typeface="맑은 고딕"/>
                <a:cs typeface="맑은 고딕"/>
              </a:rPr>
              <a:t>출처&gt;</a:t>
            </a:r>
            <a:r>
              <a:rPr sz="1050" spc="229" dirty="0">
                <a:latin typeface="맑은 고딕"/>
                <a:cs typeface="맑은 고딕"/>
              </a:rPr>
              <a:t> </a:t>
            </a:r>
            <a:r>
              <a:rPr sz="1050" spc="-10" dirty="0">
                <a:latin typeface="맑은 고딕"/>
                <a:cs typeface="맑은 고딕"/>
              </a:rPr>
              <a:t>https://langchain-ai.github.io/langgraph/concepts/agentic_concepts/#tool-calling-agent</a:t>
            </a:r>
            <a:endParaRPr sz="1050" dirty="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8560" y="319786"/>
            <a:ext cx="4677410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dirty="0"/>
              <a:t>LangChain</a:t>
            </a:r>
            <a:r>
              <a:rPr spc="-30" dirty="0"/>
              <a:t> </a:t>
            </a:r>
            <a:r>
              <a:rPr dirty="0"/>
              <a:t>에서</a:t>
            </a:r>
            <a:r>
              <a:rPr spc="-20" dirty="0"/>
              <a:t> 제공하는 </a:t>
            </a:r>
            <a:r>
              <a:rPr dirty="0"/>
              <a:t>내장</a:t>
            </a:r>
            <a:r>
              <a:rPr spc="-20" dirty="0"/>
              <a:t> </a:t>
            </a:r>
            <a:r>
              <a:rPr spc="-10" dirty="0"/>
              <a:t>도구(Tool)</a:t>
            </a:r>
          </a:p>
        </p:txBody>
      </p:sp>
      <p:sp>
        <p:nvSpPr>
          <p:cNvPr id="3" name="object 3"/>
          <p:cNvSpPr/>
          <p:nvPr/>
        </p:nvSpPr>
        <p:spPr>
          <a:xfrm>
            <a:off x="500748" y="1756282"/>
            <a:ext cx="5716270" cy="4789805"/>
          </a:xfrm>
          <a:custGeom>
            <a:avLst/>
            <a:gdLst/>
            <a:ahLst/>
            <a:cxnLst/>
            <a:rect l="l" t="t" r="r" b="b"/>
            <a:pathLst>
              <a:path w="5716270" h="4789805">
                <a:moveTo>
                  <a:pt x="5483491" y="0"/>
                </a:moveTo>
                <a:lnTo>
                  <a:pt x="232244" y="0"/>
                </a:lnTo>
                <a:lnTo>
                  <a:pt x="185438" y="4714"/>
                </a:lnTo>
                <a:lnTo>
                  <a:pt x="141842" y="18236"/>
                </a:lnTo>
                <a:lnTo>
                  <a:pt x="102392" y="39634"/>
                </a:lnTo>
                <a:lnTo>
                  <a:pt x="68021" y="67976"/>
                </a:lnTo>
                <a:lnTo>
                  <a:pt x="39662" y="102331"/>
                </a:lnTo>
                <a:lnTo>
                  <a:pt x="18250" y="141767"/>
                </a:lnTo>
                <a:lnTo>
                  <a:pt x="4718" y="185353"/>
                </a:lnTo>
                <a:lnTo>
                  <a:pt x="0" y="232155"/>
                </a:lnTo>
                <a:lnTo>
                  <a:pt x="0" y="4557407"/>
                </a:lnTo>
                <a:lnTo>
                  <a:pt x="4718" y="4604214"/>
                </a:lnTo>
                <a:lnTo>
                  <a:pt x="18250" y="4647809"/>
                </a:lnTo>
                <a:lnTo>
                  <a:pt x="39662" y="4687260"/>
                </a:lnTo>
                <a:lnTo>
                  <a:pt x="68021" y="4721631"/>
                </a:lnTo>
                <a:lnTo>
                  <a:pt x="102392" y="4749990"/>
                </a:lnTo>
                <a:lnTo>
                  <a:pt x="141842" y="4771402"/>
                </a:lnTo>
                <a:lnTo>
                  <a:pt x="185438" y="4784934"/>
                </a:lnTo>
                <a:lnTo>
                  <a:pt x="232244" y="4789652"/>
                </a:lnTo>
                <a:lnTo>
                  <a:pt x="5483491" y="4789652"/>
                </a:lnTo>
                <a:lnTo>
                  <a:pt x="5530300" y="4784934"/>
                </a:lnTo>
                <a:lnTo>
                  <a:pt x="5573899" y="4771402"/>
                </a:lnTo>
                <a:lnTo>
                  <a:pt x="5613356" y="4749990"/>
                </a:lnTo>
                <a:lnTo>
                  <a:pt x="5647734" y="4721631"/>
                </a:lnTo>
                <a:lnTo>
                  <a:pt x="5676100" y="4687260"/>
                </a:lnTo>
                <a:lnTo>
                  <a:pt x="5697518" y="4647809"/>
                </a:lnTo>
                <a:lnTo>
                  <a:pt x="5711054" y="4604214"/>
                </a:lnTo>
                <a:lnTo>
                  <a:pt x="5715774" y="4557407"/>
                </a:lnTo>
                <a:lnTo>
                  <a:pt x="5715774" y="232155"/>
                </a:lnTo>
                <a:lnTo>
                  <a:pt x="5711054" y="185353"/>
                </a:lnTo>
                <a:lnTo>
                  <a:pt x="5697518" y="141767"/>
                </a:lnTo>
                <a:lnTo>
                  <a:pt x="5676100" y="102331"/>
                </a:lnTo>
                <a:lnTo>
                  <a:pt x="5647734" y="67976"/>
                </a:lnTo>
                <a:lnTo>
                  <a:pt x="5613356" y="39634"/>
                </a:lnTo>
                <a:lnTo>
                  <a:pt x="5573899" y="18236"/>
                </a:lnTo>
                <a:lnTo>
                  <a:pt x="5530300" y="4714"/>
                </a:lnTo>
                <a:lnTo>
                  <a:pt x="5483491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7496" y="2127630"/>
            <a:ext cx="51181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marR="5080" indent="-159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3990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랭체인은 검색,</a:t>
            </a:r>
            <a:r>
              <a:rPr sz="18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코드 인터프리터, 생산성 도구</a:t>
            </a:r>
            <a:r>
              <a:rPr sz="18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50" dirty="0">
                <a:solidFill>
                  <a:srgbClr val="0D0D0D"/>
                </a:solidFill>
                <a:latin typeface="맑은 고딕"/>
                <a:cs typeface="맑은 고딕"/>
              </a:rPr>
              <a:t>등 	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다양한</a:t>
            </a:r>
            <a:r>
              <a:rPr sz="1800" spc="-3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Tool(도구)을</a:t>
            </a:r>
            <a:r>
              <a:rPr sz="1800" spc="-4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직접/제휴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형태로</a:t>
            </a:r>
            <a:r>
              <a:rPr sz="1800" spc="-3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제공</a:t>
            </a:r>
            <a:endParaRPr sz="1800">
              <a:latin typeface="맑은 고딕"/>
              <a:cs typeface="맑은 고딕"/>
            </a:endParaRPr>
          </a:p>
          <a:p>
            <a:pPr marL="17399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(검색</a:t>
            </a:r>
            <a:r>
              <a:rPr sz="1800" spc="-2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: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DuckDuckGo,</a:t>
            </a:r>
            <a:r>
              <a:rPr sz="1800" spc="-4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0" dirty="0">
                <a:solidFill>
                  <a:srgbClr val="0D0D0D"/>
                </a:solidFill>
                <a:latin typeface="맑은 고딕"/>
                <a:cs typeface="맑은 고딕"/>
              </a:rPr>
              <a:t>TavilySearch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 등)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5551" y="659638"/>
            <a:ext cx="2316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맑은 고딕"/>
                <a:cs typeface="맑은 고딕"/>
              </a:rPr>
              <a:t>LangChain</a:t>
            </a:r>
            <a:r>
              <a:rPr sz="1800" spc="-5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ToolCalling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30770" y="3538308"/>
            <a:ext cx="5055870" cy="2425700"/>
            <a:chOff x="830770" y="3538308"/>
            <a:chExt cx="5055870" cy="24257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0295" y="3547833"/>
              <a:ext cx="5036693" cy="240639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35533" y="3543071"/>
              <a:ext cx="5046345" cy="2416175"/>
            </a:xfrm>
            <a:custGeom>
              <a:avLst/>
              <a:gdLst/>
              <a:ahLst/>
              <a:cxnLst/>
              <a:rect l="l" t="t" r="r" b="b"/>
              <a:pathLst>
                <a:path w="5046345" h="2416175">
                  <a:moveTo>
                    <a:pt x="0" y="2415920"/>
                  </a:moveTo>
                  <a:lnTo>
                    <a:pt x="5046218" y="2415920"/>
                  </a:lnTo>
                  <a:lnTo>
                    <a:pt x="5046218" y="0"/>
                  </a:lnTo>
                  <a:lnTo>
                    <a:pt x="0" y="0"/>
                  </a:lnTo>
                  <a:lnTo>
                    <a:pt x="0" y="2415920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19073" y="6063792"/>
            <a:ext cx="31426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맑은 고딕"/>
                <a:cs typeface="맑은 고딕"/>
              </a:rPr>
              <a:t>https://python.langchain.com/docs/integrations/tools/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00800" y="1754632"/>
            <a:ext cx="5290820" cy="4636135"/>
          </a:xfrm>
          <a:custGeom>
            <a:avLst/>
            <a:gdLst/>
            <a:ahLst/>
            <a:cxnLst/>
            <a:rect l="l" t="t" r="r" b="b"/>
            <a:pathLst>
              <a:path w="5290820" h="4636135">
                <a:moveTo>
                  <a:pt x="0" y="255015"/>
                </a:moveTo>
                <a:lnTo>
                  <a:pt x="4108" y="209176"/>
                </a:lnTo>
                <a:lnTo>
                  <a:pt x="15954" y="166032"/>
                </a:lnTo>
                <a:lnTo>
                  <a:pt x="34816" y="126303"/>
                </a:lnTo>
                <a:lnTo>
                  <a:pt x="59976" y="90711"/>
                </a:lnTo>
                <a:lnTo>
                  <a:pt x="90711" y="59976"/>
                </a:lnTo>
                <a:lnTo>
                  <a:pt x="126303" y="34816"/>
                </a:lnTo>
                <a:lnTo>
                  <a:pt x="166032" y="15954"/>
                </a:lnTo>
                <a:lnTo>
                  <a:pt x="209176" y="4108"/>
                </a:lnTo>
                <a:lnTo>
                  <a:pt x="255016" y="0"/>
                </a:lnTo>
                <a:lnTo>
                  <a:pt x="5035423" y="0"/>
                </a:lnTo>
                <a:lnTo>
                  <a:pt x="5081262" y="4108"/>
                </a:lnTo>
                <a:lnTo>
                  <a:pt x="5124406" y="15954"/>
                </a:lnTo>
                <a:lnTo>
                  <a:pt x="5164135" y="34816"/>
                </a:lnTo>
                <a:lnTo>
                  <a:pt x="5199727" y="59976"/>
                </a:lnTo>
                <a:lnTo>
                  <a:pt x="5230462" y="90711"/>
                </a:lnTo>
                <a:lnTo>
                  <a:pt x="5255622" y="126303"/>
                </a:lnTo>
                <a:lnTo>
                  <a:pt x="5274484" y="166032"/>
                </a:lnTo>
                <a:lnTo>
                  <a:pt x="5286330" y="209176"/>
                </a:lnTo>
                <a:lnTo>
                  <a:pt x="5290439" y="255015"/>
                </a:lnTo>
                <a:lnTo>
                  <a:pt x="5290439" y="4380941"/>
                </a:lnTo>
                <a:lnTo>
                  <a:pt x="5286330" y="4426781"/>
                </a:lnTo>
                <a:lnTo>
                  <a:pt x="5274484" y="4469926"/>
                </a:lnTo>
                <a:lnTo>
                  <a:pt x="5255622" y="4509656"/>
                </a:lnTo>
                <a:lnTo>
                  <a:pt x="5230462" y="4545250"/>
                </a:lnTo>
                <a:lnTo>
                  <a:pt x="5199727" y="4575988"/>
                </a:lnTo>
                <a:lnTo>
                  <a:pt x="5164135" y="4601149"/>
                </a:lnTo>
                <a:lnTo>
                  <a:pt x="5124406" y="4620014"/>
                </a:lnTo>
                <a:lnTo>
                  <a:pt x="5081262" y="4631860"/>
                </a:lnTo>
                <a:lnTo>
                  <a:pt x="5035423" y="4635969"/>
                </a:lnTo>
                <a:lnTo>
                  <a:pt x="255016" y="4635969"/>
                </a:lnTo>
                <a:lnTo>
                  <a:pt x="209176" y="4631860"/>
                </a:lnTo>
                <a:lnTo>
                  <a:pt x="166032" y="4620014"/>
                </a:lnTo>
                <a:lnTo>
                  <a:pt x="126303" y="4601149"/>
                </a:lnTo>
                <a:lnTo>
                  <a:pt x="90711" y="4575988"/>
                </a:lnTo>
                <a:lnTo>
                  <a:pt x="59976" y="4545250"/>
                </a:lnTo>
                <a:lnTo>
                  <a:pt x="34816" y="4509656"/>
                </a:lnTo>
                <a:lnTo>
                  <a:pt x="15954" y="4469926"/>
                </a:lnTo>
                <a:lnTo>
                  <a:pt x="4108" y="4426781"/>
                </a:lnTo>
                <a:lnTo>
                  <a:pt x="0" y="4380941"/>
                </a:lnTo>
                <a:lnTo>
                  <a:pt x="0" y="255015"/>
                </a:lnTo>
                <a:close/>
              </a:path>
            </a:pathLst>
          </a:custGeom>
          <a:ln w="9524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55105" y="1858136"/>
            <a:ext cx="488442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예시:</a:t>
            </a:r>
            <a:r>
              <a:rPr sz="1800" spc="-2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b="1" spc="-10" dirty="0">
                <a:solidFill>
                  <a:srgbClr val="0D0D0D"/>
                </a:solidFill>
                <a:latin typeface="맑은 고딕"/>
                <a:cs typeface="맑은 고딕"/>
              </a:rPr>
              <a:t>Tavily</a:t>
            </a:r>
            <a:r>
              <a:rPr sz="1800" b="1" spc="-2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0D0D0D"/>
                </a:solidFill>
                <a:latin typeface="맑은 고딕"/>
                <a:cs typeface="맑은 고딕"/>
              </a:rPr>
              <a:t>웹</a:t>
            </a:r>
            <a:r>
              <a:rPr sz="1800" b="1" spc="-3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0D0D0D"/>
                </a:solidFill>
                <a:latin typeface="맑은 고딕"/>
                <a:cs typeface="맑은 고딕"/>
              </a:rPr>
              <a:t>검색</a:t>
            </a:r>
            <a:r>
              <a:rPr sz="1800" b="1" spc="-2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0D0D0D"/>
                </a:solidFill>
                <a:latin typeface="맑은 고딕"/>
                <a:cs typeface="맑은 고딕"/>
              </a:rPr>
              <a:t>도구</a:t>
            </a:r>
            <a:r>
              <a:rPr sz="1800" b="1" spc="-3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사용</a:t>
            </a:r>
            <a:endParaRPr sz="1800">
              <a:latin typeface="맑은 고딕"/>
              <a:cs typeface="맑은 고딕"/>
            </a:endParaRPr>
          </a:p>
          <a:p>
            <a:pPr marL="629285" lvl="1" indent="-159385">
              <a:lnSpc>
                <a:spcPct val="100000"/>
              </a:lnSpc>
              <a:buFont typeface="Arial"/>
              <a:buChar char="•"/>
              <a:tabLst>
                <a:tab pos="6292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AI 기반의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웹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검색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API를</a:t>
            </a:r>
            <a:r>
              <a:rPr sz="1800" spc="-2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제공하는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서비스</a:t>
            </a:r>
            <a:endParaRPr sz="1800">
              <a:latin typeface="맑은 고딕"/>
              <a:cs typeface="맑은 고딕"/>
            </a:endParaRPr>
          </a:p>
          <a:p>
            <a:pPr marL="629285" lvl="1" indent="-159385">
              <a:lnSpc>
                <a:spcPct val="100000"/>
              </a:lnSpc>
              <a:buFont typeface="Arial"/>
              <a:buChar char="•"/>
              <a:tabLst>
                <a:tab pos="6292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인증키:</a:t>
            </a:r>
            <a:r>
              <a:rPr sz="18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환경변수 </a:t>
            </a:r>
            <a:r>
              <a:rPr sz="1800" spc="-30" dirty="0">
                <a:solidFill>
                  <a:srgbClr val="0D0D0D"/>
                </a:solidFill>
                <a:latin typeface="맑은 고딕"/>
                <a:cs typeface="맑은 고딕"/>
              </a:rPr>
              <a:t>TAVILY_API_KEY</a:t>
            </a:r>
            <a:r>
              <a:rPr sz="1800" spc="-4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설정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55993" y="2909823"/>
            <a:ext cx="5004435" cy="1939289"/>
            <a:chOff x="6555993" y="2909823"/>
            <a:chExt cx="5004435" cy="1939289"/>
          </a:xfrm>
        </p:grpSpPr>
        <p:sp>
          <p:nvSpPr>
            <p:cNvPr id="13" name="object 13"/>
            <p:cNvSpPr/>
            <p:nvPr/>
          </p:nvSpPr>
          <p:spPr>
            <a:xfrm>
              <a:off x="6555993" y="2909823"/>
              <a:ext cx="5004435" cy="1939289"/>
            </a:xfrm>
            <a:custGeom>
              <a:avLst/>
              <a:gdLst/>
              <a:ahLst/>
              <a:cxnLst/>
              <a:rect l="l" t="t" r="r" b="b"/>
              <a:pathLst>
                <a:path w="5004434" h="1939289">
                  <a:moveTo>
                    <a:pt x="5004434" y="0"/>
                  </a:moveTo>
                  <a:lnTo>
                    <a:pt x="0" y="0"/>
                  </a:lnTo>
                  <a:lnTo>
                    <a:pt x="0" y="1939036"/>
                  </a:lnTo>
                  <a:lnTo>
                    <a:pt x="5004434" y="1939036"/>
                  </a:lnTo>
                  <a:lnTo>
                    <a:pt x="5004434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48322" y="3347840"/>
              <a:ext cx="4819015" cy="762635"/>
            </a:xfrm>
            <a:custGeom>
              <a:avLst/>
              <a:gdLst/>
              <a:ahLst/>
              <a:cxnLst/>
              <a:rect l="l" t="t" r="r" b="b"/>
              <a:pathLst>
                <a:path w="4819015" h="762635">
                  <a:moveTo>
                    <a:pt x="0" y="0"/>
                  </a:moveTo>
                  <a:lnTo>
                    <a:pt x="4748857" y="0"/>
                  </a:lnTo>
                </a:path>
                <a:path w="4819015" h="762635">
                  <a:moveTo>
                    <a:pt x="0" y="762253"/>
                  </a:moveTo>
                  <a:lnTo>
                    <a:pt x="4818961" y="762253"/>
                  </a:lnTo>
                </a:path>
              </a:pathLst>
            </a:custGeom>
            <a:ln w="1012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pc="-10" dirty="0"/>
              <a:t>name</a:t>
            </a:r>
            <a:r>
              <a:rPr b="0" spc="-10" dirty="0">
                <a:latin typeface="Consolas"/>
                <a:cs typeface="Consolas"/>
              </a:rPr>
              <a:t>:</a:t>
            </a:r>
          </a:p>
          <a:p>
            <a:pPr marL="92075">
              <a:lnSpc>
                <a:spcPct val="100000"/>
              </a:lnSpc>
            </a:pPr>
            <a:r>
              <a:rPr b="0" spc="-10" dirty="0">
                <a:latin typeface="Consolas"/>
                <a:cs typeface="Consolas"/>
              </a:rPr>
              <a:t>tavily_search_results_json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b="0" spc="-1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pc="-10" dirty="0"/>
              <a:t>description</a:t>
            </a:r>
            <a:r>
              <a:rPr b="0" spc="-10" dirty="0">
                <a:latin typeface="Consolas"/>
                <a:cs typeface="Consolas"/>
              </a:rPr>
              <a:t>:</a:t>
            </a:r>
          </a:p>
          <a:p>
            <a:pPr marL="92075" marR="226060">
              <a:lnSpc>
                <a:spcPct val="100000"/>
              </a:lnSpc>
            </a:pPr>
            <a:r>
              <a:rPr b="0" dirty="0">
                <a:latin typeface="Consolas"/>
                <a:cs typeface="Consolas"/>
              </a:rPr>
              <a:t>A</a:t>
            </a:r>
            <a:r>
              <a:rPr b="0" spc="-4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search</a:t>
            </a:r>
            <a:r>
              <a:rPr b="0" spc="-5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engine</a:t>
            </a:r>
            <a:r>
              <a:rPr b="0" spc="-3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optimized</a:t>
            </a:r>
            <a:r>
              <a:rPr b="0" spc="-4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for</a:t>
            </a:r>
            <a:r>
              <a:rPr b="0" spc="-5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comprehensive,</a:t>
            </a:r>
            <a:r>
              <a:rPr b="0" spc="-5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accurate,</a:t>
            </a:r>
            <a:r>
              <a:rPr b="0" spc="-3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and</a:t>
            </a:r>
            <a:r>
              <a:rPr b="0" spc="-55" dirty="0">
                <a:latin typeface="Consolas"/>
                <a:cs typeface="Consolas"/>
              </a:rPr>
              <a:t> </a:t>
            </a:r>
            <a:r>
              <a:rPr b="0" spc="-10" dirty="0">
                <a:latin typeface="Consolas"/>
                <a:cs typeface="Consolas"/>
              </a:rPr>
              <a:t>trusted </a:t>
            </a:r>
            <a:r>
              <a:rPr b="0" dirty="0">
                <a:latin typeface="Consolas"/>
                <a:cs typeface="Consolas"/>
              </a:rPr>
              <a:t>results.</a:t>
            </a:r>
            <a:r>
              <a:rPr b="0" spc="-4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Useful</a:t>
            </a:r>
            <a:r>
              <a:rPr b="0" spc="-3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for</a:t>
            </a:r>
            <a:r>
              <a:rPr b="0" spc="-4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when</a:t>
            </a:r>
            <a:r>
              <a:rPr b="0" spc="-3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you</a:t>
            </a:r>
            <a:r>
              <a:rPr b="0" spc="-3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need</a:t>
            </a:r>
            <a:r>
              <a:rPr b="0" spc="-3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to</a:t>
            </a:r>
            <a:r>
              <a:rPr b="0" spc="-4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answer</a:t>
            </a:r>
            <a:r>
              <a:rPr b="0" spc="-4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questions</a:t>
            </a:r>
            <a:r>
              <a:rPr b="0" spc="-3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about</a:t>
            </a:r>
            <a:r>
              <a:rPr b="0" spc="-25" dirty="0">
                <a:latin typeface="Consolas"/>
                <a:cs typeface="Consolas"/>
              </a:rPr>
              <a:t> </a:t>
            </a:r>
            <a:r>
              <a:rPr b="0" spc="-10" dirty="0">
                <a:latin typeface="Consolas"/>
                <a:cs typeface="Consolas"/>
              </a:rPr>
              <a:t>current </a:t>
            </a:r>
            <a:r>
              <a:rPr b="0" dirty="0">
                <a:latin typeface="Consolas"/>
                <a:cs typeface="Consolas"/>
              </a:rPr>
              <a:t>events.</a:t>
            </a:r>
            <a:r>
              <a:rPr b="0" spc="-4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Input</a:t>
            </a:r>
            <a:r>
              <a:rPr b="0" spc="-4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should</a:t>
            </a:r>
            <a:r>
              <a:rPr b="0" spc="-3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be</a:t>
            </a:r>
            <a:r>
              <a:rPr b="0" spc="-2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a</a:t>
            </a:r>
            <a:r>
              <a:rPr b="0" spc="-2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search</a:t>
            </a:r>
            <a:r>
              <a:rPr b="0" spc="-25" dirty="0">
                <a:latin typeface="Consolas"/>
                <a:cs typeface="Consolas"/>
              </a:rPr>
              <a:t> </a:t>
            </a:r>
            <a:r>
              <a:rPr b="0" spc="-10" dirty="0">
                <a:latin typeface="Consolas"/>
                <a:cs typeface="Consolas"/>
              </a:rPr>
              <a:t>query.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b="0" spc="-1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args</a:t>
            </a:r>
            <a:r>
              <a:rPr b="0" spc="-10" dirty="0">
                <a:latin typeface="Consolas"/>
                <a:cs typeface="Consolas"/>
              </a:rPr>
              <a:t>:</a:t>
            </a:r>
          </a:p>
          <a:p>
            <a:pPr marL="92075">
              <a:lnSpc>
                <a:spcPct val="100000"/>
              </a:lnSpc>
            </a:pPr>
            <a:r>
              <a:rPr b="0" dirty="0">
                <a:latin typeface="Consolas"/>
                <a:cs typeface="Consolas"/>
              </a:rPr>
              <a:t>{'query':</a:t>
            </a:r>
            <a:r>
              <a:rPr b="0" spc="-4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{'description':</a:t>
            </a:r>
            <a:r>
              <a:rPr b="0" spc="-4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'search</a:t>
            </a:r>
            <a:r>
              <a:rPr b="0" spc="-4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query</a:t>
            </a:r>
            <a:r>
              <a:rPr b="0" spc="-4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to</a:t>
            </a:r>
            <a:r>
              <a:rPr b="0" spc="-6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look</a:t>
            </a:r>
            <a:r>
              <a:rPr b="0" spc="-4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up',</a:t>
            </a:r>
            <a:r>
              <a:rPr b="0" spc="-5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'title':</a:t>
            </a:r>
            <a:r>
              <a:rPr b="0" spc="-45" dirty="0">
                <a:latin typeface="Consolas"/>
                <a:cs typeface="Consolas"/>
              </a:rPr>
              <a:t> </a:t>
            </a:r>
            <a:r>
              <a:rPr b="0" spc="-10" dirty="0">
                <a:latin typeface="Consolas"/>
                <a:cs typeface="Consolas"/>
              </a:rPr>
              <a:t>'Query',</a:t>
            </a:r>
          </a:p>
          <a:p>
            <a:pPr marL="92075">
              <a:lnSpc>
                <a:spcPct val="100000"/>
              </a:lnSpc>
            </a:pPr>
            <a:r>
              <a:rPr b="0" dirty="0">
                <a:latin typeface="Consolas"/>
                <a:cs typeface="Consolas"/>
              </a:rPr>
              <a:t>'type':</a:t>
            </a:r>
            <a:r>
              <a:rPr b="0" spc="-50" dirty="0">
                <a:latin typeface="Consolas"/>
                <a:cs typeface="Consolas"/>
              </a:rPr>
              <a:t> </a:t>
            </a:r>
            <a:r>
              <a:rPr b="0" spc="-10" dirty="0">
                <a:latin typeface="Consolas"/>
                <a:cs typeface="Consolas"/>
              </a:rPr>
              <a:t>'string’}}</a:t>
            </a:r>
          </a:p>
        </p:txBody>
      </p:sp>
      <p:sp>
        <p:nvSpPr>
          <p:cNvPr id="16" name="object 16"/>
          <p:cNvSpPr/>
          <p:nvPr/>
        </p:nvSpPr>
        <p:spPr>
          <a:xfrm>
            <a:off x="6648322" y="4719694"/>
            <a:ext cx="4819015" cy="0"/>
          </a:xfrm>
          <a:custGeom>
            <a:avLst/>
            <a:gdLst/>
            <a:ahLst/>
            <a:cxnLst/>
            <a:rect l="l" t="t" r="r" b="b"/>
            <a:pathLst>
              <a:path w="4819015">
                <a:moveTo>
                  <a:pt x="0" y="0"/>
                </a:moveTo>
                <a:lnTo>
                  <a:pt x="4818961" y="0"/>
                </a:lnTo>
              </a:path>
            </a:pathLst>
          </a:custGeom>
          <a:ln w="10129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555993" y="4953647"/>
            <a:ext cx="5004435" cy="1016000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sz="1200" b="1" spc="-20" dirty="0">
                <a:latin typeface="맑은 고딕"/>
                <a:cs typeface="맑은 고딕"/>
              </a:rPr>
              <a:t>Tool의</a:t>
            </a:r>
            <a:r>
              <a:rPr sz="1200" b="1" spc="-30" dirty="0">
                <a:latin typeface="맑은 고딕"/>
                <a:cs typeface="맑은 고딕"/>
              </a:rPr>
              <a:t> </a:t>
            </a:r>
            <a:r>
              <a:rPr sz="1200" b="1" dirty="0">
                <a:latin typeface="맑은 고딕"/>
                <a:cs typeface="맑은 고딕"/>
              </a:rPr>
              <a:t>구성</a:t>
            </a:r>
            <a:r>
              <a:rPr sz="1200" b="1" spc="-30" dirty="0">
                <a:latin typeface="맑은 고딕"/>
                <a:cs typeface="맑은 고딕"/>
              </a:rPr>
              <a:t> </a:t>
            </a:r>
            <a:r>
              <a:rPr sz="1200" b="1" spc="-25" dirty="0">
                <a:latin typeface="맑은 고딕"/>
                <a:cs typeface="맑은 고딕"/>
              </a:rPr>
              <a:t>요소:</a:t>
            </a:r>
            <a:endParaRPr sz="1200">
              <a:latin typeface="맑은 고딕"/>
              <a:cs typeface="맑은 고딕"/>
            </a:endParaRPr>
          </a:p>
          <a:p>
            <a:pPr marL="722630" indent="-173355">
              <a:lnSpc>
                <a:spcPct val="100000"/>
              </a:lnSpc>
              <a:buFont typeface="Arial"/>
              <a:buChar char="•"/>
              <a:tabLst>
                <a:tab pos="722630" algn="l"/>
              </a:tabLst>
            </a:pPr>
            <a:r>
              <a:rPr sz="1200" dirty="0">
                <a:latin typeface="맑은 고딕"/>
                <a:cs typeface="맑은 고딕"/>
              </a:rPr>
              <a:t>name: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도구의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이름</a:t>
            </a:r>
            <a:endParaRPr sz="1200">
              <a:latin typeface="맑은 고딕"/>
              <a:cs typeface="맑은 고딕"/>
            </a:endParaRPr>
          </a:p>
          <a:p>
            <a:pPr marL="722630" indent="-173355">
              <a:lnSpc>
                <a:spcPct val="100000"/>
              </a:lnSpc>
              <a:buFont typeface="Arial"/>
              <a:buChar char="•"/>
              <a:tabLst>
                <a:tab pos="722630" algn="l"/>
              </a:tabLst>
            </a:pPr>
            <a:r>
              <a:rPr sz="1200" dirty="0">
                <a:latin typeface="맑은 고딕"/>
                <a:cs typeface="맑은 고딕"/>
              </a:rPr>
              <a:t>description: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도구가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수행하는</a:t>
            </a:r>
            <a:r>
              <a:rPr sz="1200" spc="-2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작업에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대한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spc="-35" dirty="0">
                <a:latin typeface="맑은 고딕"/>
                <a:cs typeface="맑은 고딕"/>
              </a:rPr>
              <a:t>설명</a:t>
            </a:r>
            <a:endParaRPr sz="1200">
              <a:latin typeface="맑은 고딕"/>
              <a:cs typeface="맑은 고딕"/>
            </a:endParaRPr>
          </a:p>
          <a:p>
            <a:pPr marL="721995" indent="-172720">
              <a:lnSpc>
                <a:spcPct val="100000"/>
              </a:lnSpc>
              <a:buFont typeface="Arial"/>
              <a:buChar char="•"/>
              <a:tabLst>
                <a:tab pos="721995" algn="l"/>
              </a:tabLst>
            </a:pPr>
            <a:r>
              <a:rPr sz="1200" dirty="0">
                <a:latin typeface="맑은 고딕"/>
                <a:cs typeface="맑은 고딕"/>
              </a:rPr>
              <a:t>JSON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schema: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도구의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입력을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정의하는</a:t>
            </a:r>
            <a:r>
              <a:rPr sz="1200" spc="-25" dirty="0">
                <a:latin typeface="맑은 고딕"/>
                <a:cs typeface="맑은 고딕"/>
              </a:rPr>
              <a:t> 스키마</a:t>
            </a:r>
            <a:endParaRPr sz="1200">
              <a:latin typeface="맑은 고딕"/>
              <a:cs typeface="맑은 고딕"/>
            </a:endParaRPr>
          </a:p>
          <a:p>
            <a:pPr marL="722630" indent="-173355">
              <a:lnSpc>
                <a:spcPct val="100000"/>
              </a:lnSpc>
              <a:buFont typeface="Arial"/>
              <a:buChar char="•"/>
              <a:tabLst>
                <a:tab pos="722630" algn="l"/>
              </a:tabLst>
            </a:pPr>
            <a:r>
              <a:rPr sz="1200" dirty="0">
                <a:latin typeface="맑은 고딕"/>
                <a:cs typeface="맑은 고딕"/>
              </a:rPr>
              <a:t>function: 실행할 함수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(선택적으로 비동기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함수도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가능)</a:t>
            </a:r>
            <a:endParaRPr sz="1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8560" y="319786"/>
            <a:ext cx="4677410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dirty="0"/>
              <a:t>LangChain</a:t>
            </a:r>
            <a:r>
              <a:rPr spc="-30" dirty="0"/>
              <a:t> </a:t>
            </a:r>
            <a:r>
              <a:rPr dirty="0"/>
              <a:t>에서</a:t>
            </a:r>
            <a:r>
              <a:rPr spc="-20" dirty="0"/>
              <a:t> 제공하는 </a:t>
            </a:r>
            <a:r>
              <a:rPr dirty="0"/>
              <a:t>내장</a:t>
            </a:r>
            <a:r>
              <a:rPr spc="-20" dirty="0"/>
              <a:t> </a:t>
            </a:r>
            <a:r>
              <a:rPr spc="-10" dirty="0"/>
              <a:t>도구(Tool)</a:t>
            </a:r>
          </a:p>
        </p:txBody>
      </p:sp>
      <p:sp>
        <p:nvSpPr>
          <p:cNvPr id="3" name="object 3"/>
          <p:cNvSpPr/>
          <p:nvPr/>
        </p:nvSpPr>
        <p:spPr>
          <a:xfrm>
            <a:off x="500748" y="1756282"/>
            <a:ext cx="5716270" cy="4789805"/>
          </a:xfrm>
          <a:custGeom>
            <a:avLst/>
            <a:gdLst/>
            <a:ahLst/>
            <a:cxnLst/>
            <a:rect l="l" t="t" r="r" b="b"/>
            <a:pathLst>
              <a:path w="5716270" h="4789805">
                <a:moveTo>
                  <a:pt x="5483491" y="0"/>
                </a:moveTo>
                <a:lnTo>
                  <a:pt x="232244" y="0"/>
                </a:lnTo>
                <a:lnTo>
                  <a:pt x="185438" y="4714"/>
                </a:lnTo>
                <a:lnTo>
                  <a:pt x="141842" y="18236"/>
                </a:lnTo>
                <a:lnTo>
                  <a:pt x="102392" y="39634"/>
                </a:lnTo>
                <a:lnTo>
                  <a:pt x="68021" y="67976"/>
                </a:lnTo>
                <a:lnTo>
                  <a:pt x="39662" y="102331"/>
                </a:lnTo>
                <a:lnTo>
                  <a:pt x="18250" y="141767"/>
                </a:lnTo>
                <a:lnTo>
                  <a:pt x="4718" y="185353"/>
                </a:lnTo>
                <a:lnTo>
                  <a:pt x="0" y="232155"/>
                </a:lnTo>
                <a:lnTo>
                  <a:pt x="0" y="4557407"/>
                </a:lnTo>
                <a:lnTo>
                  <a:pt x="4718" y="4604214"/>
                </a:lnTo>
                <a:lnTo>
                  <a:pt x="18250" y="4647809"/>
                </a:lnTo>
                <a:lnTo>
                  <a:pt x="39662" y="4687260"/>
                </a:lnTo>
                <a:lnTo>
                  <a:pt x="68021" y="4721631"/>
                </a:lnTo>
                <a:lnTo>
                  <a:pt x="102392" y="4749990"/>
                </a:lnTo>
                <a:lnTo>
                  <a:pt x="141842" y="4771402"/>
                </a:lnTo>
                <a:lnTo>
                  <a:pt x="185438" y="4784934"/>
                </a:lnTo>
                <a:lnTo>
                  <a:pt x="232244" y="4789652"/>
                </a:lnTo>
                <a:lnTo>
                  <a:pt x="5483491" y="4789652"/>
                </a:lnTo>
                <a:lnTo>
                  <a:pt x="5530300" y="4784934"/>
                </a:lnTo>
                <a:lnTo>
                  <a:pt x="5573899" y="4771402"/>
                </a:lnTo>
                <a:lnTo>
                  <a:pt x="5613356" y="4749990"/>
                </a:lnTo>
                <a:lnTo>
                  <a:pt x="5647734" y="4721631"/>
                </a:lnTo>
                <a:lnTo>
                  <a:pt x="5676100" y="4687260"/>
                </a:lnTo>
                <a:lnTo>
                  <a:pt x="5697518" y="4647809"/>
                </a:lnTo>
                <a:lnTo>
                  <a:pt x="5711054" y="4604214"/>
                </a:lnTo>
                <a:lnTo>
                  <a:pt x="5715774" y="4557407"/>
                </a:lnTo>
                <a:lnTo>
                  <a:pt x="5715774" y="232155"/>
                </a:lnTo>
                <a:lnTo>
                  <a:pt x="5711054" y="185353"/>
                </a:lnTo>
                <a:lnTo>
                  <a:pt x="5697518" y="141767"/>
                </a:lnTo>
                <a:lnTo>
                  <a:pt x="5676100" y="102331"/>
                </a:lnTo>
                <a:lnTo>
                  <a:pt x="5647734" y="67976"/>
                </a:lnTo>
                <a:lnTo>
                  <a:pt x="5613356" y="39634"/>
                </a:lnTo>
                <a:lnTo>
                  <a:pt x="5573899" y="18236"/>
                </a:lnTo>
                <a:lnTo>
                  <a:pt x="5530300" y="4714"/>
                </a:lnTo>
                <a:lnTo>
                  <a:pt x="5483491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7496" y="2127630"/>
            <a:ext cx="51181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marR="5080" indent="-159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3990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랭체인은 검색,</a:t>
            </a:r>
            <a:r>
              <a:rPr sz="18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코드 인터프리터, 생산성 도구</a:t>
            </a:r>
            <a:r>
              <a:rPr sz="18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50" dirty="0">
                <a:solidFill>
                  <a:srgbClr val="0D0D0D"/>
                </a:solidFill>
                <a:latin typeface="맑은 고딕"/>
                <a:cs typeface="맑은 고딕"/>
              </a:rPr>
              <a:t>등 	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다양한</a:t>
            </a:r>
            <a:r>
              <a:rPr sz="1800" spc="-3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Tool(도구)을</a:t>
            </a:r>
            <a:r>
              <a:rPr sz="1800" spc="-4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직접/제휴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형태로</a:t>
            </a:r>
            <a:r>
              <a:rPr sz="1800" spc="-3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제공</a:t>
            </a:r>
            <a:endParaRPr sz="1800">
              <a:latin typeface="맑은 고딕"/>
              <a:cs typeface="맑은 고딕"/>
            </a:endParaRPr>
          </a:p>
          <a:p>
            <a:pPr marL="17399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(검색</a:t>
            </a:r>
            <a:r>
              <a:rPr sz="1800" spc="-2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: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DuckDuckGo,</a:t>
            </a:r>
            <a:r>
              <a:rPr sz="1800" spc="-4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0" dirty="0">
                <a:solidFill>
                  <a:srgbClr val="0D0D0D"/>
                </a:solidFill>
                <a:latin typeface="맑은 고딕"/>
                <a:cs typeface="맑은 고딕"/>
              </a:rPr>
              <a:t>TavilySearch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 등)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5551" y="659638"/>
            <a:ext cx="2316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맑은 고딕"/>
                <a:cs typeface="맑은 고딕"/>
              </a:rPr>
              <a:t>LangChain</a:t>
            </a:r>
            <a:r>
              <a:rPr sz="1800" spc="-5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ToolCalling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30770" y="3538308"/>
            <a:ext cx="5055870" cy="2425700"/>
            <a:chOff x="830770" y="3538308"/>
            <a:chExt cx="5055870" cy="24257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0295" y="3547833"/>
              <a:ext cx="5036693" cy="240639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35533" y="3543071"/>
              <a:ext cx="5046345" cy="2416175"/>
            </a:xfrm>
            <a:custGeom>
              <a:avLst/>
              <a:gdLst/>
              <a:ahLst/>
              <a:cxnLst/>
              <a:rect l="l" t="t" r="r" b="b"/>
              <a:pathLst>
                <a:path w="5046345" h="2416175">
                  <a:moveTo>
                    <a:pt x="0" y="2415920"/>
                  </a:moveTo>
                  <a:lnTo>
                    <a:pt x="5046218" y="2415920"/>
                  </a:lnTo>
                  <a:lnTo>
                    <a:pt x="5046218" y="0"/>
                  </a:lnTo>
                  <a:lnTo>
                    <a:pt x="0" y="0"/>
                  </a:lnTo>
                  <a:lnTo>
                    <a:pt x="0" y="2415920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19073" y="6063792"/>
            <a:ext cx="31426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맑은 고딕"/>
                <a:cs typeface="맑은 고딕"/>
              </a:rPr>
              <a:t>https://python.langchain.com/docs/integrations/tools/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00800" y="1754632"/>
            <a:ext cx="5290820" cy="4636135"/>
          </a:xfrm>
          <a:custGeom>
            <a:avLst/>
            <a:gdLst/>
            <a:ahLst/>
            <a:cxnLst/>
            <a:rect l="l" t="t" r="r" b="b"/>
            <a:pathLst>
              <a:path w="5290820" h="4636135">
                <a:moveTo>
                  <a:pt x="0" y="255015"/>
                </a:moveTo>
                <a:lnTo>
                  <a:pt x="4108" y="209176"/>
                </a:lnTo>
                <a:lnTo>
                  <a:pt x="15954" y="166032"/>
                </a:lnTo>
                <a:lnTo>
                  <a:pt x="34816" y="126303"/>
                </a:lnTo>
                <a:lnTo>
                  <a:pt x="59976" y="90711"/>
                </a:lnTo>
                <a:lnTo>
                  <a:pt x="90711" y="59976"/>
                </a:lnTo>
                <a:lnTo>
                  <a:pt x="126303" y="34816"/>
                </a:lnTo>
                <a:lnTo>
                  <a:pt x="166032" y="15954"/>
                </a:lnTo>
                <a:lnTo>
                  <a:pt x="209176" y="4108"/>
                </a:lnTo>
                <a:lnTo>
                  <a:pt x="255016" y="0"/>
                </a:lnTo>
                <a:lnTo>
                  <a:pt x="5035423" y="0"/>
                </a:lnTo>
                <a:lnTo>
                  <a:pt x="5081262" y="4108"/>
                </a:lnTo>
                <a:lnTo>
                  <a:pt x="5124406" y="15954"/>
                </a:lnTo>
                <a:lnTo>
                  <a:pt x="5164135" y="34816"/>
                </a:lnTo>
                <a:lnTo>
                  <a:pt x="5199727" y="59976"/>
                </a:lnTo>
                <a:lnTo>
                  <a:pt x="5230462" y="90711"/>
                </a:lnTo>
                <a:lnTo>
                  <a:pt x="5255622" y="126303"/>
                </a:lnTo>
                <a:lnTo>
                  <a:pt x="5274484" y="166032"/>
                </a:lnTo>
                <a:lnTo>
                  <a:pt x="5286330" y="209176"/>
                </a:lnTo>
                <a:lnTo>
                  <a:pt x="5290439" y="255015"/>
                </a:lnTo>
                <a:lnTo>
                  <a:pt x="5290439" y="4380941"/>
                </a:lnTo>
                <a:lnTo>
                  <a:pt x="5286330" y="4426781"/>
                </a:lnTo>
                <a:lnTo>
                  <a:pt x="5274484" y="4469926"/>
                </a:lnTo>
                <a:lnTo>
                  <a:pt x="5255622" y="4509656"/>
                </a:lnTo>
                <a:lnTo>
                  <a:pt x="5230462" y="4545250"/>
                </a:lnTo>
                <a:lnTo>
                  <a:pt x="5199727" y="4575988"/>
                </a:lnTo>
                <a:lnTo>
                  <a:pt x="5164135" y="4601149"/>
                </a:lnTo>
                <a:lnTo>
                  <a:pt x="5124406" y="4620014"/>
                </a:lnTo>
                <a:lnTo>
                  <a:pt x="5081262" y="4631860"/>
                </a:lnTo>
                <a:lnTo>
                  <a:pt x="5035423" y="4635969"/>
                </a:lnTo>
                <a:lnTo>
                  <a:pt x="255016" y="4635969"/>
                </a:lnTo>
                <a:lnTo>
                  <a:pt x="209176" y="4631860"/>
                </a:lnTo>
                <a:lnTo>
                  <a:pt x="166032" y="4620014"/>
                </a:lnTo>
                <a:lnTo>
                  <a:pt x="126303" y="4601149"/>
                </a:lnTo>
                <a:lnTo>
                  <a:pt x="90711" y="4575988"/>
                </a:lnTo>
                <a:lnTo>
                  <a:pt x="59976" y="4545250"/>
                </a:lnTo>
                <a:lnTo>
                  <a:pt x="34816" y="4509656"/>
                </a:lnTo>
                <a:lnTo>
                  <a:pt x="15954" y="4469926"/>
                </a:lnTo>
                <a:lnTo>
                  <a:pt x="4108" y="4426781"/>
                </a:lnTo>
                <a:lnTo>
                  <a:pt x="0" y="4380941"/>
                </a:lnTo>
                <a:lnTo>
                  <a:pt x="0" y="255015"/>
                </a:lnTo>
                <a:close/>
              </a:path>
            </a:pathLst>
          </a:custGeom>
          <a:ln w="9524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55105" y="1858136"/>
            <a:ext cx="488442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예시:</a:t>
            </a:r>
            <a:r>
              <a:rPr sz="1800" spc="-2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b="1" spc="-10" dirty="0">
                <a:solidFill>
                  <a:srgbClr val="0D0D0D"/>
                </a:solidFill>
                <a:latin typeface="맑은 고딕"/>
                <a:cs typeface="맑은 고딕"/>
              </a:rPr>
              <a:t>Tavily</a:t>
            </a:r>
            <a:r>
              <a:rPr sz="1800" b="1" spc="-2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0D0D0D"/>
                </a:solidFill>
                <a:latin typeface="맑은 고딕"/>
                <a:cs typeface="맑은 고딕"/>
              </a:rPr>
              <a:t>웹</a:t>
            </a:r>
            <a:r>
              <a:rPr sz="1800" b="1" spc="-3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0D0D0D"/>
                </a:solidFill>
                <a:latin typeface="맑은 고딕"/>
                <a:cs typeface="맑은 고딕"/>
              </a:rPr>
              <a:t>검색</a:t>
            </a:r>
            <a:r>
              <a:rPr sz="1800" b="1" spc="-2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0D0D0D"/>
                </a:solidFill>
                <a:latin typeface="맑은 고딕"/>
                <a:cs typeface="맑은 고딕"/>
              </a:rPr>
              <a:t>도구</a:t>
            </a:r>
            <a:r>
              <a:rPr sz="1800" b="1" spc="-3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사용</a:t>
            </a:r>
            <a:endParaRPr sz="1800">
              <a:latin typeface="맑은 고딕"/>
              <a:cs typeface="맑은 고딕"/>
            </a:endParaRPr>
          </a:p>
          <a:p>
            <a:pPr marL="629285" lvl="1" indent="-159385">
              <a:lnSpc>
                <a:spcPct val="100000"/>
              </a:lnSpc>
              <a:buFont typeface="Arial"/>
              <a:buChar char="•"/>
              <a:tabLst>
                <a:tab pos="6292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AI 기반의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웹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검색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API를</a:t>
            </a:r>
            <a:r>
              <a:rPr sz="1800" spc="-2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제공하는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서비스</a:t>
            </a:r>
            <a:endParaRPr sz="1800">
              <a:latin typeface="맑은 고딕"/>
              <a:cs typeface="맑은 고딕"/>
            </a:endParaRPr>
          </a:p>
          <a:p>
            <a:pPr marL="629285" lvl="1" indent="-159385">
              <a:lnSpc>
                <a:spcPct val="100000"/>
              </a:lnSpc>
              <a:buFont typeface="Arial"/>
              <a:buChar char="•"/>
              <a:tabLst>
                <a:tab pos="6292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인증키:</a:t>
            </a:r>
            <a:r>
              <a:rPr sz="18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환경변수 </a:t>
            </a:r>
            <a:r>
              <a:rPr sz="1800" spc="-30" dirty="0">
                <a:solidFill>
                  <a:srgbClr val="0D0D0D"/>
                </a:solidFill>
                <a:latin typeface="맑은 고딕"/>
                <a:cs typeface="맑은 고딕"/>
              </a:rPr>
              <a:t>TAVILY_API_KEY</a:t>
            </a:r>
            <a:r>
              <a:rPr sz="1800" spc="-4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설정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55993" y="2909823"/>
            <a:ext cx="5004435" cy="1939289"/>
            <a:chOff x="6555993" y="2909823"/>
            <a:chExt cx="5004435" cy="1939289"/>
          </a:xfrm>
        </p:grpSpPr>
        <p:sp>
          <p:nvSpPr>
            <p:cNvPr id="13" name="object 13"/>
            <p:cNvSpPr/>
            <p:nvPr/>
          </p:nvSpPr>
          <p:spPr>
            <a:xfrm>
              <a:off x="6555993" y="2909823"/>
              <a:ext cx="5004435" cy="1939289"/>
            </a:xfrm>
            <a:custGeom>
              <a:avLst/>
              <a:gdLst/>
              <a:ahLst/>
              <a:cxnLst/>
              <a:rect l="l" t="t" r="r" b="b"/>
              <a:pathLst>
                <a:path w="5004434" h="1939289">
                  <a:moveTo>
                    <a:pt x="5004434" y="0"/>
                  </a:moveTo>
                  <a:lnTo>
                    <a:pt x="0" y="0"/>
                  </a:lnTo>
                  <a:lnTo>
                    <a:pt x="0" y="1939036"/>
                  </a:lnTo>
                  <a:lnTo>
                    <a:pt x="5004434" y="1939036"/>
                  </a:lnTo>
                  <a:lnTo>
                    <a:pt x="5004434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48322" y="3347840"/>
              <a:ext cx="4819015" cy="762635"/>
            </a:xfrm>
            <a:custGeom>
              <a:avLst/>
              <a:gdLst/>
              <a:ahLst/>
              <a:cxnLst/>
              <a:rect l="l" t="t" r="r" b="b"/>
              <a:pathLst>
                <a:path w="4819015" h="762635">
                  <a:moveTo>
                    <a:pt x="0" y="0"/>
                  </a:moveTo>
                  <a:lnTo>
                    <a:pt x="4748857" y="0"/>
                  </a:lnTo>
                </a:path>
                <a:path w="4819015" h="762635">
                  <a:moveTo>
                    <a:pt x="0" y="762253"/>
                  </a:moveTo>
                  <a:lnTo>
                    <a:pt x="4818961" y="762253"/>
                  </a:lnTo>
                </a:path>
              </a:pathLst>
            </a:custGeom>
            <a:ln w="1012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pc="-10" dirty="0"/>
              <a:t>name</a:t>
            </a:r>
            <a:r>
              <a:rPr b="0" spc="-10" dirty="0">
                <a:latin typeface="Consolas"/>
                <a:cs typeface="Consolas"/>
              </a:rPr>
              <a:t>:</a:t>
            </a:r>
          </a:p>
          <a:p>
            <a:pPr marL="92075">
              <a:lnSpc>
                <a:spcPct val="100000"/>
              </a:lnSpc>
            </a:pPr>
            <a:r>
              <a:rPr b="0" spc="-10" dirty="0">
                <a:latin typeface="Consolas"/>
                <a:cs typeface="Consolas"/>
              </a:rPr>
              <a:t>tavily_search_results_json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b="0" spc="-1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pc="-10" dirty="0"/>
              <a:t>description</a:t>
            </a:r>
            <a:r>
              <a:rPr b="0" spc="-10" dirty="0">
                <a:latin typeface="Consolas"/>
                <a:cs typeface="Consolas"/>
              </a:rPr>
              <a:t>:</a:t>
            </a:r>
          </a:p>
          <a:p>
            <a:pPr marL="92075" marR="226060">
              <a:lnSpc>
                <a:spcPct val="100000"/>
              </a:lnSpc>
            </a:pPr>
            <a:r>
              <a:rPr b="0" dirty="0">
                <a:latin typeface="Consolas"/>
                <a:cs typeface="Consolas"/>
              </a:rPr>
              <a:t>A</a:t>
            </a:r>
            <a:r>
              <a:rPr b="0" spc="-4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search</a:t>
            </a:r>
            <a:r>
              <a:rPr b="0" spc="-5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engine</a:t>
            </a:r>
            <a:r>
              <a:rPr b="0" spc="-3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optimized</a:t>
            </a:r>
            <a:r>
              <a:rPr b="0" spc="-4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for</a:t>
            </a:r>
            <a:r>
              <a:rPr b="0" spc="-5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comprehensive,</a:t>
            </a:r>
            <a:r>
              <a:rPr b="0" spc="-5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accurate,</a:t>
            </a:r>
            <a:r>
              <a:rPr b="0" spc="-3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and</a:t>
            </a:r>
            <a:r>
              <a:rPr b="0" spc="-55" dirty="0">
                <a:latin typeface="Consolas"/>
                <a:cs typeface="Consolas"/>
              </a:rPr>
              <a:t> </a:t>
            </a:r>
            <a:r>
              <a:rPr b="0" spc="-10" dirty="0">
                <a:latin typeface="Consolas"/>
                <a:cs typeface="Consolas"/>
              </a:rPr>
              <a:t>trusted </a:t>
            </a:r>
            <a:r>
              <a:rPr b="0" dirty="0">
                <a:latin typeface="Consolas"/>
                <a:cs typeface="Consolas"/>
              </a:rPr>
              <a:t>results.</a:t>
            </a:r>
            <a:r>
              <a:rPr b="0" spc="-4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Useful</a:t>
            </a:r>
            <a:r>
              <a:rPr b="0" spc="-3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for</a:t>
            </a:r>
            <a:r>
              <a:rPr b="0" spc="-4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when</a:t>
            </a:r>
            <a:r>
              <a:rPr b="0" spc="-3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you</a:t>
            </a:r>
            <a:r>
              <a:rPr b="0" spc="-3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need</a:t>
            </a:r>
            <a:r>
              <a:rPr b="0" spc="-3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to</a:t>
            </a:r>
            <a:r>
              <a:rPr b="0" spc="-4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answer</a:t>
            </a:r>
            <a:r>
              <a:rPr b="0" spc="-4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questions</a:t>
            </a:r>
            <a:r>
              <a:rPr b="0" spc="-3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about</a:t>
            </a:r>
            <a:r>
              <a:rPr b="0" spc="-25" dirty="0">
                <a:latin typeface="Consolas"/>
                <a:cs typeface="Consolas"/>
              </a:rPr>
              <a:t> </a:t>
            </a:r>
            <a:r>
              <a:rPr b="0" spc="-10" dirty="0">
                <a:latin typeface="Consolas"/>
                <a:cs typeface="Consolas"/>
              </a:rPr>
              <a:t>current </a:t>
            </a:r>
            <a:r>
              <a:rPr b="0" dirty="0">
                <a:latin typeface="Consolas"/>
                <a:cs typeface="Consolas"/>
              </a:rPr>
              <a:t>events.</a:t>
            </a:r>
            <a:r>
              <a:rPr b="0" spc="-4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Input</a:t>
            </a:r>
            <a:r>
              <a:rPr b="0" spc="-4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should</a:t>
            </a:r>
            <a:r>
              <a:rPr b="0" spc="-3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be</a:t>
            </a:r>
            <a:r>
              <a:rPr b="0" spc="-2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a</a:t>
            </a:r>
            <a:r>
              <a:rPr b="0" spc="-2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search</a:t>
            </a:r>
            <a:r>
              <a:rPr b="0" spc="-25" dirty="0">
                <a:latin typeface="Consolas"/>
                <a:cs typeface="Consolas"/>
              </a:rPr>
              <a:t> </a:t>
            </a:r>
            <a:r>
              <a:rPr b="0" spc="-10" dirty="0">
                <a:latin typeface="Consolas"/>
                <a:cs typeface="Consolas"/>
              </a:rPr>
              <a:t>query.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b="0" spc="-1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args</a:t>
            </a:r>
            <a:r>
              <a:rPr b="0" spc="-10" dirty="0">
                <a:latin typeface="Consolas"/>
                <a:cs typeface="Consolas"/>
              </a:rPr>
              <a:t>:</a:t>
            </a:r>
          </a:p>
          <a:p>
            <a:pPr marL="92075">
              <a:lnSpc>
                <a:spcPct val="100000"/>
              </a:lnSpc>
            </a:pPr>
            <a:r>
              <a:rPr b="0" dirty="0">
                <a:latin typeface="Consolas"/>
                <a:cs typeface="Consolas"/>
              </a:rPr>
              <a:t>{'query':</a:t>
            </a:r>
            <a:r>
              <a:rPr b="0" spc="-4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{'description':</a:t>
            </a:r>
            <a:r>
              <a:rPr b="0" spc="-4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'search</a:t>
            </a:r>
            <a:r>
              <a:rPr b="0" spc="-4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query</a:t>
            </a:r>
            <a:r>
              <a:rPr b="0" spc="-4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to</a:t>
            </a:r>
            <a:r>
              <a:rPr b="0" spc="-6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look</a:t>
            </a:r>
            <a:r>
              <a:rPr b="0" spc="-40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up',</a:t>
            </a:r>
            <a:r>
              <a:rPr b="0" spc="-55" dirty="0">
                <a:latin typeface="Consolas"/>
                <a:cs typeface="Consolas"/>
              </a:rPr>
              <a:t> </a:t>
            </a:r>
            <a:r>
              <a:rPr b="0" dirty="0">
                <a:latin typeface="Consolas"/>
                <a:cs typeface="Consolas"/>
              </a:rPr>
              <a:t>'title':</a:t>
            </a:r>
            <a:r>
              <a:rPr b="0" spc="-45" dirty="0">
                <a:latin typeface="Consolas"/>
                <a:cs typeface="Consolas"/>
              </a:rPr>
              <a:t> </a:t>
            </a:r>
            <a:r>
              <a:rPr b="0" spc="-10" dirty="0">
                <a:latin typeface="Consolas"/>
                <a:cs typeface="Consolas"/>
              </a:rPr>
              <a:t>'Query',</a:t>
            </a:r>
          </a:p>
          <a:p>
            <a:pPr marL="92075">
              <a:lnSpc>
                <a:spcPct val="100000"/>
              </a:lnSpc>
            </a:pPr>
            <a:r>
              <a:rPr b="0" dirty="0">
                <a:latin typeface="Consolas"/>
                <a:cs typeface="Consolas"/>
              </a:rPr>
              <a:t>'type':</a:t>
            </a:r>
            <a:r>
              <a:rPr b="0" spc="-50" dirty="0">
                <a:latin typeface="Consolas"/>
                <a:cs typeface="Consolas"/>
              </a:rPr>
              <a:t> </a:t>
            </a:r>
            <a:r>
              <a:rPr b="0" spc="-10" dirty="0">
                <a:latin typeface="Consolas"/>
                <a:cs typeface="Consolas"/>
              </a:rPr>
              <a:t>'string’}}</a:t>
            </a:r>
          </a:p>
        </p:txBody>
      </p:sp>
      <p:sp>
        <p:nvSpPr>
          <p:cNvPr id="16" name="object 16"/>
          <p:cNvSpPr/>
          <p:nvPr/>
        </p:nvSpPr>
        <p:spPr>
          <a:xfrm>
            <a:off x="6648322" y="4719694"/>
            <a:ext cx="4819015" cy="0"/>
          </a:xfrm>
          <a:custGeom>
            <a:avLst/>
            <a:gdLst/>
            <a:ahLst/>
            <a:cxnLst/>
            <a:rect l="l" t="t" r="r" b="b"/>
            <a:pathLst>
              <a:path w="4819015">
                <a:moveTo>
                  <a:pt x="0" y="0"/>
                </a:moveTo>
                <a:lnTo>
                  <a:pt x="4818961" y="0"/>
                </a:lnTo>
              </a:path>
            </a:pathLst>
          </a:custGeom>
          <a:ln w="10129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555993" y="4953647"/>
            <a:ext cx="5004435" cy="1016000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sz="1200" b="1" spc="-20" dirty="0">
                <a:latin typeface="맑은 고딕"/>
                <a:cs typeface="맑은 고딕"/>
              </a:rPr>
              <a:t>Tool의</a:t>
            </a:r>
            <a:r>
              <a:rPr sz="1200" b="1" spc="-30" dirty="0">
                <a:latin typeface="맑은 고딕"/>
                <a:cs typeface="맑은 고딕"/>
              </a:rPr>
              <a:t> </a:t>
            </a:r>
            <a:r>
              <a:rPr sz="1200" b="1" dirty="0">
                <a:latin typeface="맑은 고딕"/>
                <a:cs typeface="맑은 고딕"/>
              </a:rPr>
              <a:t>구성</a:t>
            </a:r>
            <a:r>
              <a:rPr sz="1200" b="1" spc="-30" dirty="0">
                <a:latin typeface="맑은 고딕"/>
                <a:cs typeface="맑은 고딕"/>
              </a:rPr>
              <a:t> </a:t>
            </a:r>
            <a:r>
              <a:rPr sz="1200" b="1" spc="-25" dirty="0">
                <a:latin typeface="맑은 고딕"/>
                <a:cs typeface="맑은 고딕"/>
              </a:rPr>
              <a:t>요소:</a:t>
            </a:r>
            <a:endParaRPr sz="1200">
              <a:latin typeface="맑은 고딕"/>
              <a:cs typeface="맑은 고딕"/>
            </a:endParaRPr>
          </a:p>
          <a:p>
            <a:pPr marL="722630" indent="-173355">
              <a:lnSpc>
                <a:spcPct val="100000"/>
              </a:lnSpc>
              <a:buFont typeface="Arial"/>
              <a:buChar char="•"/>
              <a:tabLst>
                <a:tab pos="722630" algn="l"/>
              </a:tabLst>
            </a:pPr>
            <a:r>
              <a:rPr sz="1200" dirty="0">
                <a:latin typeface="맑은 고딕"/>
                <a:cs typeface="맑은 고딕"/>
              </a:rPr>
              <a:t>name: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도구의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이름</a:t>
            </a:r>
            <a:endParaRPr sz="1200">
              <a:latin typeface="맑은 고딕"/>
              <a:cs typeface="맑은 고딕"/>
            </a:endParaRPr>
          </a:p>
          <a:p>
            <a:pPr marL="722630" indent="-173355">
              <a:lnSpc>
                <a:spcPct val="100000"/>
              </a:lnSpc>
              <a:buFont typeface="Arial"/>
              <a:buChar char="•"/>
              <a:tabLst>
                <a:tab pos="722630" algn="l"/>
              </a:tabLst>
            </a:pPr>
            <a:r>
              <a:rPr sz="1200" dirty="0">
                <a:latin typeface="맑은 고딕"/>
                <a:cs typeface="맑은 고딕"/>
              </a:rPr>
              <a:t>description: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도구가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수행하는</a:t>
            </a:r>
            <a:r>
              <a:rPr sz="1200" spc="-2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작업에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대한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spc="-35" dirty="0">
                <a:latin typeface="맑은 고딕"/>
                <a:cs typeface="맑은 고딕"/>
              </a:rPr>
              <a:t>설명</a:t>
            </a:r>
            <a:endParaRPr sz="1200">
              <a:latin typeface="맑은 고딕"/>
              <a:cs typeface="맑은 고딕"/>
            </a:endParaRPr>
          </a:p>
          <a:p>
            <a:pPr marL="721995" indent="-172720">
              <a:lnSpc>
                <a:spcPct val="100000"/>
              </a:lnSpc>
              <a:buFont typeface="Arial"/>
              <a:buChar char="•"/>
              <a:tabLst>
                <a:tab pos="721995" algn="l"/>
              </a:tabLst>
            </a:pPr>
            <a:r>
              <a:rPr sz="1200" dirty="0">
                <a:latin typeface="맑은 고딕"/>
                <a:cs typeface="맑은 고딕"/>
              </a:rPr>
              <a:t>JSON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schema: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도구의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입력을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정의하는</a:t>
            </a:r>
            <a:r>
              <a:rPr sz="1200" spc="-25" dirty="0">
                <a:latin typeface="맑은 고딕"/>
                <a:cs typeface="맑은 고딕"/>
              </a:rPr>
              <a:t> 스키마</a:t>
            </a:r>
            <a:endParaRPr sz="1200">
              <a:latin typeface="맑은 고딕"/>
              <a:cs typeface="맑은 고딕"/>
            </a:endParaRPr>
          </a:p>
          <a:p>
            <a:pPr marL="722630" indent="-173355">
              <a:lnSpc>
                <a:spcPct val="100000"/>
              </a:lnSpc>
              <a:buFont typeface="Arial"/>
              <a:buChar char="•"/>
              <a:tabLst>
                <a:tab pos="722630" algn="l"/>
              </a:tabLst>
            </a:pPr>
            <a:r>
              <a:rPr sz="1200" dirty="0">
                <a:latin typeface="맑은 고딕"/>
                <a:cs typeface="맑은 고딕"/>
              </a:rPr>
              <a:t>function: 실행할 함수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(선택적으로 비동기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함수도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가능)</a:t>
            </a:r>
            <a:endParaRPr sz="1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Tavily</a:t>
            </a:r>
            <a:r>
              <a:rPr spc="-70" dirty="0"/>
              <a:t> </a:t>
            </a:r>
            <a:r>
              <a:rPr dirty="0"/>
              <a:t>웹</a:t>
            </a:r>
            <a:r>
              <a:rPr spc="-45" dirty="0"/>
              <a:t> </a:t>
            </a:r>
            <a:r>
              <a:rPr dirty="0"/>
              <a:t>검색</a:t>
            </a:r>
            <a:r>
              <a:rPr spc="-65" dirty="0"/>
              <a:t> </a:t>
            </a:r>
            <a:r>
              <a:rPr dirty="0"/>
              <a:t>도구</a:t>
            </a:r>
            <a:r>
              <a:rPr spc="-60" dirty="0"/>
              <a:t> </a:t>
            </a:r>
            <a:r>
              <a:rPr spc="-25" dirty="0"/>
              <a:t>사용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1637" y="1822373"/>
            <a:ext cx="5605145" cy="4792345"/>
            <a:chOff x="401637" y="1822373"/>
            <a:chExt cx="5605145" cy="4792345"/>
          </a:xfrm>
        </p:grpSpPr>
        <p:sp>
          <p:nvSpPr>
            <p:cNvPr id="4" name="object 4"/>
            <p:cNvSpPr/>
            <p:nvPr/>
          </p:nvSpPr>
          <p:spPr>
            <a:xfrm>
              <a:off x="406400" y="1973961"/>
              <a:ext cx="5595620" cy="4636135"/>
            </a:xfrm>
            <a:custGeom>
              <a:avLst/>
              <a:gdLst/>
              <a:ahLst/>
              <a:cxnLst/>
              <a:rect l="l" t="t" r="r" b="b"/>
              <a:pathLst>
                <a:path w="5595620" h="4636134">
                  <a:moveTo>
                    <a:pt x="0" y="255015"/>
                  </a:moveTo>
                  <a:lnTo>
                    <a:pt x="4109" y="209176"/>
                  </a:lnTo>
                  <a:lnTo>
                    <a:pt x="15955" y="166032"/>
                  </a:lnTo>
                  <a:lnTo>
                    <a:pt x="34820" y="126303"/>
                  </a:lnTo>
                  <a:lnTo>
                    <a:pt x="59981" y="90711"/>
                  </a:lnTo>
                  <a:lnTo>
                    <a:pt x="90719" y="59976"/>
                  </a:lnTo>
                  <a:lnTo>
                    <a:pt x="126313" y="34816"/>
                  </a:lnTo>
                  <a:lnTo>
                    <a:pt x="166043" y="15954"/>
                  </a:lnTo>
                  <a:lnTo>
                    <a:pt x="209188" y="4108"/>
                  </a:lnTo>
                  <a:lnTo>
                    <a:pt x="255028" y="0"/>
                  </a:lnTo>
                  <a:lnTo>
                    <a:pt x="5340223" y="0"/>
                  </a:lnTo>
                  <a:lnTo>
                    <a:pt x="5386062" y="4108"/>
                  </a:lnTo>
                  <a:lnTo>
                    <a:pt x="5429206" y="15954"/>
                  </a:lnTo>
                  <a:lnTo>
                    <a:pt x="5468935" y="34816"/>
                  </a:lnTo>
                  <a:lnTo>
                    <a:pt x="5504527" y="59976"/>
                  </a:lnTo>
                  <a:lnTo>
                    <a:pt x="5535262" y="90711"/>
                  </a:lnTo>
                  <a:lnTo>
                    <a:pt x="5560422" y="126303"/>
                  </a:lnTo>
                  <a:lnTo>
                    <a:pt x="5579284" y="166032"/>
                  </a:lnTo>
                  <a:lnTo>
                    <a:pt x="5591130" y="209176"/>
                  </a:lnTo>
                  <a:lnTo>
                    <a:pt x="5595239" y="255015"/>
                  </a:lnTo>
                  <a:lnTo>
                    <a:pt x="5595239" y="4380966"/>
                  </a:lnTo>
                  <a:lnTo>
                    <a:pt x="5591130" y="4426810"/>
                  </a:lnTo>
                  <a:lnTo>
                    <a:pt x="5579284" y="4469957"/>
                  </a:lnTo>
                  <a:lnTo>
                    <a:pt x="5560422" y="4509687"/>
                  </a:lnTo>
                  <a:lnTo>
                    <a:pt x="5535262" y="4545281"/>
                  </a:lnTo>
                  <a:lnTo>
                    <a:pt x="5504527" y="4576018"/>
                  </a:lnTo>
                  <a:lnTo>
                    <a:pt x="5468935" y="4601178"/>
                  </a:lnTo>
                  <a:lnTo>
                    <a:pt x="5429206" y="4620040"/>
                  </a:lnTo>
                  <a:lnTo>
                    <a:pt x="5386062" y="4631886"/>
                  </a:lnTo>
                  <a:lnTo>
                    <a:pt x="5340223" y="4635995"/>
                  </a:lnTo>
                  <a:lnTo>
                    <a:pt x="255028" y="4635995"/>
                  </a:lnTo>
                  <a:lnTo>
                    <a:pt x="209188" y="4631886"/>
                  </a:lnTo>
                  <a:lnTo>
                    <a:pt x="166043" y="4620040"/>
                  </a:lnTo>
                  <a:lnTo>
                    <a:pt x="126313" y="4601178"/>
                  </a:lnTo>
                  <a:lnTo>
                    <a:pt x="90719" y="4576018"/>
                  </a:lnTo>
                  <a:lnTo>
                    <a:pt x="59981" y="4545281"/>
                  </a:lnTo>
                  <a:lnTo>
                    <a:pt x="34820" y="4509687"/>
                  </a:lnTo>
                  <a:lnTo>
                    <a:pt x="15955" y="4469957"/>
                  </a:lnTo>
                  <a:lnTo>
                    <a:pt x="4109" y="4426810"/>
                  </a:lnTo>
                  <a:lnTo>
                    <a:pt x="0" y="4380966"/>
                  </a:lnTo>
                  <a:lnTo>
                    <a:pt x="0" y="255015"/>
                  </a:lnTo>
                  <a:close/>
                </a:path>
                <a:path w="5595620" h="4636134">
                  <a:moveTo>
                    <a:pt x="210451" y="2317877"/>
                  </a:moveTo>
                  <a:lnTo>
                    <a:pt x="5384812" y="2317877"/>
                  </a:lnTo>
                  <a:lnTo>
                    <a:pt x="5384812" y="378840"/>
                  </a:lnTo>
                  <a:lnTo>
                    <a:pt x="210451" y="378840"/>
                  </a:lnTo>
                  <a:lnTo>
                    <a:pt x="210451" y="2317877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81887" y="2922777"/>
              <a:ext cx="3248025" cy="208915"/>
            </a:xfrm>
            <a:custGeom>
              <a:avLst/>
              <a:gdLst/>
              <a:ahLst/>
              <a:cxnLst/>
              <a:rect l="l" t="t" r="r" b="b"/>
              <a:pathLst>
                <a:path w="3248025" h="208914">
                  <a:moveTo>
                    <a:pt x="1623047" y="0"/>
                  </a:moveTo>
                  <a:lnTo>
                    <a:pt x="1623047" y="0"/>
                  </a:lnTo>
                  <a:lnTo>
                    <a:pt x="0" y="0"/>
                  </a:lnTo>
                  <a:lnTo>
                    <a:pt x="0" y="208788"/>
                  </a:lnTo>
                  <a:lnTo>
                    <a:pt x="1623047" y="208788"/>
                  </a:lnTo>
                  <a:lnTo>
                    <a:pt x="1623047" y="0"/>
                  </a:lnTo>
                  <a:close/>
                </a:path>
                <a:path w="3248025" h="208914">
                  <a:moveTo>
                    <a:pt x="3247644" y="0"/>
                  </a:moveTo>
                  <a:lnTo>
                    <a:pt x="3080004" y="0"/>
                  </a:lnTo>
                  <a:lnTo>
                    <a:pt x="2165604" y="0"/>
                  </a:lnTo>
                  <a:lnTo>
                    <a:pt x="2080260" y="0"/>
                  </a:lnTo>
                  <a:lnTo>
                    <a:pt x="1623060" y="0"/>
                  </a:lnTo>
                  <a:lnTo>
                    <a:pt x="1623060" y="208788"/>
                  </a:lnTo>
                  <a:lnTo>
                    <a:pt x="2080260" y="208788"/>
                  </a:lnTo>
                  <a:lnTo>
                    <a:pt x="2165604" y="208788"/>
                  </a:lnTo>
                  <a:lnTo>
                    <a:pt x="3080004" y="208788"/>
                  </a:lnTo>
                  <a:lnTo>
                    <a:pt x="3247644" y="208788"/>
                  </a:lnTo>
                  <a:lnTo>
                    <a:pt x="324764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90623" y="1822373"/>
              <a:ext cx="1734820" cy="391160"/>
            </a:xfrm>
            <a:custGeom>
              <a:avLst/>
              <a:gdLst/>
              <a:ahLst/>
              <a:cxnLst/>
              <a:rect l="l" t="t" r="r" b="b"/>
              <a:pathLst>
                <a:path w="1734820" h="391160">
                  <a:moveTo>
                    <a:pt x="1734439" y="0"/>
                  </a:moveTo>
                  <a:lnTo>
                    <a:pt x="0" y="0"/>
                  </a:lnTo>
                  <a:lnTo>
                    <a:pt x="0" y="390982"/>
                  </a:lnTo>
                  <a:lnTo>
                    <a:pt x="1734439" y="390982"/>
                  </a:lnTo>
                  <a:lnTo>
                    <a:pt x="173443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345551" y="659638"/>
            <a:ext cx="2316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맑은 고딕"/>
                <a:cs typeface="맑은 고딕"/>
              </a:rPr>
              <a:t>LangChain</a:t>
            </a:r>
            <a:r>
              <a:rPr sz="1800" spc="-5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ToolCalling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74283" y="1973960"/>
            <a:ext cx="5595620" cy="4636135"/>
          </a:xfrm>
          <a:custGeom>
            <a:avLst/>
            <a:gdLst/>
            <a:ahLst/>
            <a:cxnLst/>
            <a:rect l="l" t="t" r="r" b="b"/>
            <a:pathLst>
              <a:path w="5595620" h="4636134">
                <a:moveTo>
                  <a:pt x="0" y="255015"/>
                </a:moveTo>
                <a:lnTo>
                  <a:pt x="4108" y="209176"/>
                </a:lnTo>
                <a:lnTo>
                  <a:pt x="15954" y="166032"/>
                </a:lnTo>
                <a:lnTo>
                  <a:pt x="34816" y="126303"/>
                </a:lnTo>
                <a:lnTo>
                  <a:pt x="59976" y="90711"/>
                </a:lnTo>
                <a:lnTo>
                  <a:pt x="90711" y="59976"/>
                </a:lnTo>
                <a:lnTo>
                  <a:pt x="126303" y="34816"/>
                </a:lnTo>
                <a:lnTo>
                  <a:pt x="166032" y="15954"/>
                </a:lnTo>
                <a:lnTo>
                  <a:pt x="209176" y="4108"/>
                </a:lnTo>
                <a:lnTo>
                  <a:pt x="255015" y="0"/>
                </a:lnTo>
                <a:lnTo>
                  <a:pt x="5340222" y="0"/>
                </a:lnTo>
                <a:lnTo>
                  <a:pt x="5386062" y="4108"/>
                </a:lnTo>
                <a:lnTo>
                  <a:pt x="5429206" y="15954"/>
                </a:lnTo>
                <a:lnTo>
                  <a:pt x="5468935" y="34816"/>
                </a:lnTo>
                <a:lnTo>
                  <a:pt x="5504527" y="59976"/>
                </a:lnTo>
                <a:lnTo>
                  <a:pt x="5535262" y="90711"/>
                </a:lnTo>
                <a:lnTo>
                  <a:pt x="5560422" y="126303"/>
                </a:lnTo>
                <a:lnTo>
                  <a:pt x="5579284" y="166032"/>
                </a:lnTo>
                <a:lnTo>
                  <a:pt x="5591130" y="209176"/>
                </a:lnTo>
                <a:lnTo>
                  <a:pt x="5595239" y="255015"/>
                </a:lnTo>
                <a:lnTo>
                  <a:pt x="5595239" y="4380966"/>
                </a:lnTo>
                <a:lnTo>
                  <a:pt x="5591130" y="4426810"/>
                </a:lnTo>
                <a:lnTo>
                  <a:pt x="5579284" y="4469957"/>
                </a:lnTo>
                <a:lnTo>
                  <a:pt x="5560422" y="4509687"/>
                </a:lnTo>
                <a:lnTo>
                  <a:pt x="5535262" y="4545281"/>
                </a:lnTo>
                <a:lnTo>
                  <a:pt x="5504527" y="4576018"/>
                </a:lnTo>
                <a:lnTo>
                  <a:pt x="5468935" y="4601178"/>
                </a:lnTo>
                <a:lnTo>
                  <a:pt x="5429206" y="4620040"/>
                </a:lnTo>
                <a:lnTo>
                  <a:pt x="5386062" y="4631886"/>
                </a:lnTo>
                <a:lnTo>
                  <a:pt x="5340222" y="4635995"/>
                </a:lnTo>
                <a:lnTo>
                  <a:pt x="255015" y="4635995"/>
                </a:lnTo>
                <a:lnTo>
                  <a:pt x="209176" y="4631886"/>
                </a:lnTo>
                <a:lnTo>
                  <a:pt x="166032" y="4620040"/>
                </a:lnTo>
                <a:lnTo>
                  <a:pt x="126303" y="4601178"/>
                </a:lnTo>
                <a:lnTo>
                  <a:pt x="90711" y="4576018"/>
                </a:lnTo>
                <a:lnTo>
                  <a:pt x="59976" y="4545281"/>
                </a:lnTo>
                <a:lnTo>
                  <a:pt x="34816" y="4509687"/>
                </a:lnTo>
                <a:lnTo>
                  <a:pt x="15954" y="4469957"/>
                </a:lnTo>
                <a:lnTo>
                  <a:pt x="4108" y="4426810"/>
                </a:lnTo>
                <a:lnTo>
                  <a:pt x="0" y="4380966"/>
                </a:lnTo>
                <a:lnTo>
                  <a:pt x="0" y="255015"/>
                </a:lnTo>
                <a:close/>
              </a:path>
              <a:path w="5595620" h="4636134">
                <a:moveTo>
                  <a:pt x="232155" y="2317877"/>
                </a:moveTo>
                <a:lnTo>
                  <a:pt x="5380482" y="2317877"/>
                </a:lnTo>
                <a:lnTo>
                  <a:pt x="5380482" y="378840"/>
                </a:lnTo>
                <a:lnTo>
                  <a:pt x="232155" y="378840"/>
                </a:lnTo>
                <a:lnTo>
                  <a:pt x="232155" y="2317877"/>
                </a:lnTo>
                <a:close/>
              </a:path>
            </a:pathLst>
          </a:custGeom>
          <a:ln w="95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98640" y="2377185"/>
            <a:ext cx="430339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2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langchain_openai</a:t>
            </a:r>
            <a:r>
              <a:rPr sz="1200" spc="-3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2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ChatOpenAI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onsolas"/>
              <a:cs typeface="Consolas"/>
            </a:endParaRPr>
          </a:p>
          <a:p>
            <a:pPr>
              <a:lnSpc>
                <a:spcPts val="1435"/>
              </a:lnSpc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ChatOpenAI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모델</a:t>
            </a:r>
            <a:r>
              <a:rPr sz="1200" spc="19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초기화</a:t>
            </a:r>
            <a:endParaRPr sz="1200">
              <a:latin typeface="맑은 고딕"/>
              <a:cs typeface="맑은 고딕"/>
            </a:endParaRPr>
          </a:p>
          <a:p>
            <a:pPr>
              <a:lnSpc>
                <a:spcPts val="1435"/>
              </a:lnSpc>
            </a:pPr>
            <a:r>
              <a:rPr sz="1200" dirty="0">
                <a:latin typeface="Consolas"/>
                <a:cs typeface="Consolas"/>
              </a:rPr>
              <a:t>llm</a:t>
            </a:r>
            <a:r>
              <a:rPr sz="1200" spc="6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6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ChatOpenAI(model=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"gpt-4o-mini"</a:t>
            </a:r>
            <a:r>
              <a:rPr sz="1200" spc="-10" dirty="0"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onsolas"/>
              <a:cs typeface="Consolas"/>
            </a:endParaRPr>
          </a:p>
          <a:p>
            <a:pPr>
              <a:lnSpc>
                <a:spcPts val="1435"/>
              </a:lnSpc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웹</a:t>
            </a:r>
            <a:r>
              <a:rPr sz="1200" spc="24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검색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도구를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직접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LLM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에</a:t>
            </a:r>
            <a:r>
              <a:rPr sz="1200" spc="24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바인딩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가능</a:t>
            </a:r>
            <a:endParaRPr sz="1200">
              <a:latin typeface="맑은 고딕"/>
              <a:cs typeface="맑은 고딕"/>
            </a:endParaRPr>
          </a:p>
          <a:p>
            <a:pPr>
              <a:lnSpc>
                <a:spcPts val="1435"/>
              </a:lnSpc>
            </a:pPr>
            <a:r>
              <a:rPr sz="1200" dirty="0">
                <a:latin typeface="Consolas"/>
                <a:cs typeface="Consolas"/>
              </a:rPr>
              <a:t>llm_with_tools</a:t>
            </a:r>
            <a:r>
              <a:rPr sz="1200" spc="-3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3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llm.</a:t>
            </a:r>
            <a:r>
              <a:rPr sz="1200" b="1" spc="-10" dirty="0">
                <a:solidFill>
                  <a:srgbClr val="FF0000"/>
                </a:solidFill>
                <a:latin typeface="Consolas"/>
                <a:cs typeface="Consolas"/>
              </a:rPr>
              <a:t>bind_tools</a:t>
            </a:r>
            <a:r>
              <a:rPr sz="1200" spc="-10" dirty="0">
                <a:latin typeface="Consolas"/>
                <a:cs typeface="Consolas"/>
              </a:rPr>
              <a:t>(tools=[web_search])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98640" y="3842130"/>
            <a:ext cx="3126740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435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쿼리를</a:t>
            </a:r>
            <a:r>
              <a:rPr sz="1200" spc="24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LLM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에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전달하여</a:t>
            </a:r>
            <a:r>
              <a:rPr sz="1200" spc="24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결과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얻기</a:t>
            </a:r>
            <a:endParaRPr sz="1200">
              <a:latin typeface="맑은 고딕"/>
              <a:cs typeface="맑은 고딕"/>
            </a:endParaRPr>
          </a:p>
          <a:p>
            <a:pPr>
              <a:lnSpc>
                <a:spcPts val="1435"/>
              </a:lnSpc>
            </a:pPr>
            <a:r>
              <a:rPr sz="1200" dirty="0">
                <a:latin typeface="Consolas"/>
                <a:cs typeface="Consolas"/>
              </a:rPr>
              <a:t>ai_msg</a:t>
            </a:r>
            <a:r>
              <a:rPr sz="1200" spc="-3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4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llm_with_tools.invoke(query)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90623" y="1822373"/>
            <a:ext cx="1734820" cy="3911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425"/>
              </a:spcBef>
            </a:pP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도구 직접</a:t>
            </a:r>
            <a:r>
              <a:rPr sz="1800" b="1" spc="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실행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128889" y="1822373"/>
            <a:ext cx="1734820" cy="391160"/>
          </a:xfrm>
          <a:custGeom>
            <a:avLst/>
            <a:gdLst/>
            <a:ahLst/>
            <a:cxnLst/>
            <a:rect l="l" t="t" r="r" b="b"/>
            <a:pathLst>
              <a:path w="1734820" h="391160">
                <a:moveTo>
                  <a:pt x="1734439" y="0"/>
                </a:moveTo>
                <a:lnTo>
                  <a:pt x="0" y="0"/>
                </a:lnTo>
                <a:lnTo>
                  <a:pt x="0" y="390982"/>
                </a:lnTo>
                <a:lnTo>
                  <a:pt x="1734439" y="390982"/>
                </a:lnTo>
                <a:lnTo>
                  <a:pt x="1734439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128889" y="1822373"/>
            <a:ext cx="1734820" cy="3911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425"/>
              </a:spcBef>
            </a:pPr>
            <a:r>
              <a:rPr sz="1800" b="1" spc="-20" dirty="0">
                <a:solidFill>
                  <a:srgbClr val="FFFFFF"/>
                </a:solidFill>
                <a:latin typeface="맑은 고딕"/>
                <a:cs typeface="맑은 고딕"/>
              </a:rPr>
              <a:t>Tool</a:t>
            </a:r>
            <a:r>
              <a:rPr sz="1800" b="1" spc="-13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맑은 고딕"/>
                <a:cs typeface="맑은 고딕"/>
              </a:rPr>
              <a:t>Calling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6851" y="4431322"/>
            <a:ext cx="5174615" cy="1892935"/>
          </a:xfrm>
          <a:custGeom>
            <a:avLst/>
            <a:gdLst/>
            <a:ahLst/>
            <a:cxnLst/>
            <a:rect l="l" t="t" r="r" b="b"/>
            <a:pathLst>
              <a:path w="5174615" h="1892935">
                <a:moveTo>
                  <a:pt x="5174360" y="0"/>
                </a:moveTo>
                <a:lnTo>
                  <a:pt x="0" y="0"/>
                </a:lnTo>
                <a:lnTo>
                  <a:pt x="0" y="1892808"/>
                </a:lnTo>
                <a:lnTo>
                  <a:pt x="5174360" y="1892808"/>
                </a:lnTo>
                <a:lnTo>
                  <a:pt x="5174360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95655" y="2377185"/>
            <a:ext cx="4991735" cy="3891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2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langchain_community.tools</a:t>
            </a:r>
            <a:r>
              <a:rPr sz="1200" spc="-3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2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TavilySearchResults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검색할</a:t>
            </a:r>
            <a:r>
              <a:rPr sz="1200" spc="24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쿼리</a:t>
            </a:r>
            <a:r>
              <a:rPr sz="1200" spc="229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설정</a:t>
            </a:r>
            <a:endParaRPr sz="12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Consolas"/>
                <a:cs typeface="Consolas"/>
              </a:rPr>
              <a:t>query = 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스테이크와</a:t>
            </a:r>
            <a:r>
              <a:rPr sz="1200" spc="229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어울리는</a:t>
            </a:r>
            <a:r>
              <a:rPr sz="1200" spc="229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와인을</a:t>
            </a:r>
            <a:r>
              <a:rPr sz="1200" spc="24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맑은 고딕"/>
                <a:cs typeface="맑은 고딕"/>
              </a:rPr>
              <a:t>추천해주세요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."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200">
              <a:latin typeface="Consolas"/>
              <a:cs typeface="Consolas"/>
            </a:endParaRPr>
          </a:p>
          <a:p>
            <a:pPr marL="12700" marR="1016635">
              <a:lnSpc>
                <a:spcPts val="1430"/>
              </a:lnSpc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Tavily</a:t>
            </a:r>
            <a:r>
              <a:rPr sz="1200" spc="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검색</a:t>
            </a:r>
            <a:r>
              <a:rPr sz="1200" spc="229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도구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초기화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(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최대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2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개의</a:t>
            </a:r>
            <a:r>
              <a:rPr sz="1200" spc="229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결과</a:t>
            </a:r>
            <a:r>
              <a:rPr sz="1200" spc="24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반환</a:t>
            </a:r>
            <a:r>
              <a:rPr sz="1200" spc="-25" dirty="0">
                <a:solidFill>
                  <a:srgbClr val="008000"/>
                </a:solidFill>
                <a:latin typeface="Consolas"/>
                <a:cs typeface="Consolas"/>
              </a:rPr>
              <a:t>) </a:t>
            </a:r>
            <a:r>
              <a:rPr sz="1200" dirty="0">
                <a:latin typeface="Consolas"/>
                <a:cs typeface="Consolas"/>
              </a:rPr>
              <a:t>web_search</a:t>
            </a:r>
            <a:r>
              <a:rPr sz="1200" spc="-3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2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TavilySearchResults(max_results=</a:t>
            </a:r>
            <a:r>
              <a:rPr sz="1200" spc="-10" dirty="0">
                <a:solidFill>
                  <a:srgbClr val="098557"/>
                </a:solidFill>
                <a:latin typeface="Consolas"/>
                <a:cs typeface="Consolas"/>
              </a:rPr>
              <a:t>2</a:t>
            </a:r>
            <a:r>
              <a:rPr sz="1200" spc="-10" dirty="0"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435"/>
              </a:lnSpc>
              <a:spcBef>
                <a:spcPts val="1405"/>
              </a:spcBef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웹</a:t>
            </a:r>
            <a:r>
              <a:rPr sz="1200" spc="25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검색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실행</a:t>
            </a:r>
            <a:endParaRPr sz="1200">
              <a:latin typeface="맑은 고딕"/>
              <a:cs typeface="맑은 고딕"/>
            </a:endParaRPr>
          </a:p>
          <a:p>
            <a:pPr marL="12700">
              <a:lnSpc>
                <a:spcPts val="1435"/>
              </a:lnSpc>
            </a:pPr>
            <a:r>
              <a:rPr sz="1200" dirty="0">
                <a:latin typeface="Consolas"/>
                <a:cs typeface="Consolas"/>
              </a:rPr>
              <a:t>search_results</a:t>
            </a:r>
            <a:r>
              <a:rPr sz="1200" spc="-5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4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web_search.</a:t>
            </a:r>
            <a:r>
              <a:rPr sz="1200" b="1" spc="-10" dirty="0">
                <a:solidFill>
                  <a:srgbClr val="FF0000"/>
                </a:solidFill>
                <a:latin typeface="Consolas"/>
                <a:cs typeface="Consolas"/>
              </a:rPr>
              <a:t>invoke</a:t>
            </a:r>
            <a:r>
              <a:rPr sz="1200" spc="-10" dirty="0">
                <a:latin typeface="Consolas"/>
                <a:cs typeface="Consolas"/>
              </a:rPr>
              <a:t>(query)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2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</a:pPr>
            <a:r>
              <a:rPr sz="900" spc="-10" dirty="0">
                <a:latin typeface="Consolas"/>
                <a:cs typeface="Consolas"/>
              </a:rPr>
              <a:t>{'url':</a:t>
            </a:r>
            <a:r>
              <a:rPr sz="900" spc="50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'</a:t>
            </a:r>
            <a:r>
              <a:rPr sz="9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onsolas"/>
                <a:cs typeface="Consolas"/>
                <a:hlinkClick r:id="rId2"/>
              </a:rPr>
              <a:t>https://blog.naver.com/PostView.nhn?blogId=cyahnnn&amp;logNo=222766631086</a:t>
            </a:r>
            <a:r>
              <a:rPr sz="900" u="none" spc="-10" dirty="0">
                <a:latin typeface="Consolas"/>
                <a:cs typeface="Consolas"/>
              </a:rPr>
              <a:t>', </a:t>
            </a:r>
            <a:r>
              <a:rPr sz="900" u="none" dirty="0">
                <a:latin typeface="Consolas"/>
                <a:cs typeface="Consolas"/>
              </a:rPr>
              <a:t>'content':</a:t>
            </a:r>
            <a:r>
              <a:rPr sz="900" u="none" spc="30" dirty="0">
                <a:latin typeface="Consolas"/>
                <a:cs typeface="Consolas"/>
              </a:rPr>
              <a:t> </a:t>
            </a:r>
            <a:r>
              <a:rPr sz="900" u="none" dirty="0">
                <a:latin typeface="Consolas"/>
                <a:cs typeface="Consolas"/>
              </a:rPr>
              <a:t>'</a:t>
            </a:r>
            <a:r>
              <a:rPr sz="900" u="none" dirty="0">
                <a:latin typeface="맑은 고딕"/>
                <a:cs typeface="맑은 고딕"/>
              </a:rPr>
              <a:t>스테이크와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어울리는</a:t>
            </a:r>
            <a:r>
              <a:rPr sz="900" u="none" spc="15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와인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Consolas"/>
                <a:cs typeface="Consolas"/>
              </a:rPr>
              <a:t>:</a:t>
            </a:r>
            <a:r>
              <a:rPr sz="900" u="none" spc="-10" dirty="0">
                <a:latin typeface="Consolas"/>
                <a:cs typeface="Consolas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네이버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블로그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변경</a:t>
            </a:r>
            <a:r>
              <a:rPr sz="900" u="none" spc="15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전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공유된</a:t>
            </a:r>
            <a:r>
              <a:rPr sz="900" u="none" spc="170" dirty="0">
                <a:latin typeface="맑은 고딕"/>
                <a:cs typeface="맑은 고딕"/>
              </a:rPr>
              <a:t> </a:t>
            </a:r>
            <a:r>
              <a:rPr sz="900" u="none" spc="-10" dirty="0">
                <a:latin typeface="맑은 고딕"/>
                <a:cs typeface="맑은 고딕"/>
              </a:rPr>
              <a:t>블로그</a:t>
            </a:r>
            <a:r>
              <a:rPr sz="900" u="none" spc="-10" dirty="0">
                <a:latin typeface="Consolas"/>
                <a:cs typeface="Consolas"/>
              </a:rPr>
              <a:t>/</a:t>
            </a:r>
            <a:r>
              <a:rPr sz="900" u="none" spc="-10" dirty="0">
                <a:latin typeface="맑은 고딕"/>
                <a:cs typeface="맑은 고딕"/>
              </a:rPr>
              <a:t>글</a:t>
            </a:r>
            <a:r>
              <a:rPr sz="900" u="none" spc="-10" dirty="0">
                <a:latin typeface="Consolas"/>
                <a:cs typeface="Consolas"/>
              </a:rPr>
              <a:t>/</a:t>
            </a:r>
            <a:r>
              <a:rPr sz="900" u="none" spc="-10" dirty="0">
                <a:latin typeface="맑은 고딕"/>
                <a:cs typeface="맑은 고딕"/>
              </a:rPr>
              <a:t>클립 </a:t>
            </a:r>
            <a:r>
              <a:rPr sz="900" u="none" dirty="0">
                <a:latin typeface="맑은 고딕"/>
                <a:cs typeface="맑은 고딕"/>
              </a:rPr>
              <a:t>링크는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연결이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끊길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수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있습니다</a:t>
            </a:r>
            <a:r>
              <a:rPr sz="900" u="none" dirty="0">
                <a:latin typeface="Consolas"/>
                <a:cs typeface="Consolas"/>
              </a:rPr>
              <a:t>.</a:t>
            </a:r>
            <a:r>
              <a:rPr sz="900" u="none" spc="5" dirty="0">
                <a:latin typeface="Consolas"/>
                <a:cs typeface="Consolas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블로그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블로그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블로그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블로그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카베르네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spc="-10" dirty="0">
                <a:latin typeface="맑은 고딕"/>
                <a:cs typeface="맑은 고딕"/>
              </a:rPr>
              <a:t>소비뇽</a:t>
            </a:r>
            <a:r>
              <a:rPr sz="900" u="none" spc="-10" dirty="0">
                <a:latin typeface="Consolas"/>
                <a:cs typeface="Consolas"/>
              </a:rPr>
              <a:t>(Cabernet </a:t>
            </a:r>
            <a:r>
              <a:rPr sz="900" u="none" dirty="0">
                <a:latin typeface="Consolas"/>
                <a:cs typeface="Consolas"/>
              </a:rPr>
              <a:t>Sauvignon)</a:t>
            </a:r>
            <a:r>
              <a:rPr sz="900" u="none" spc="-5" dirty="0">
                <a:latin typeface="Consolas"/>
                <a:cs typeface="Consolas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및</a:t>
            </a:r>
            <a:r>
              <a:rPr sz="900" u="none" spc="12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말벡</a:t>
            </a:r>
            <a:r>
              <a:rPr sz="900" u="none" dirty="0">
                <a:latin typeface="Consolas"/>
                <a:cs typeface="Consolas"/>
              </a:rPr>
              <a:t>(Malbec)</a:t>
            </a:r>
            <a:r>
              <a:rPr sz="900" u="none" spc="5" dirty="0">
                <a:latin typeface="Consolas"/>
                <a:cs typeface="Consolas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켓</a:t>
            </a:r>
            <a:r>
              <a:rPr sz="900" u="none" dirty="0">
                <a:latin typeface="Consolas"/>
                <a:cs typeface="Consolas"/>
              </a:rPr>
              <a:t>(Fiona</a:t>
            </a:r>
            <a:r>
              <a:rPr sz="900" u="none" spc="-10" dirty="0">
                <a:latin typeface="Consolas"/>
                <a:cs typeface="Consolas"/>
              </a:rPr>
              <a:t> </a:t>
            </a:r>
            <a:r>
              <a:rPr sz="900" u="none" dirty="0">
                <a:latin typeface="Consolas"/>
                <a:cs typeface="Consolas"/>
              </a:rPr>
              <a:t>Becket)</a:t>
            </a:r>
            <a:r>
              <a:rPr sz="900" u="none" dirty="0">
                <a:latin typeface="맑은 고딕"/>
                <a:cs typeface="맑은 고딕"/>
              </a:rPr>
              <a:t>이</a:t>
            </a:r>
            <a:r>
              <a:rPr sz="900" u="none" spc="17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Consolas"/>
                <a:cs typeface="Consolas"/>
              </a:rPr>
              <a:t>2007</a:t>
            </a:r>
            <a:r>
              <a:rPr sz="900" u="none" dirty="0">
                <a:latin typeface="맑은 고딕"/>
                <a:cs typeface="맑은 고딕"/>
              </a:rPr>
              <a:t>년</a:t>
            </a:r>
            <a:r>
              <a:rPr sz="900" u="none" spc="15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디캔터에서</a:t>
            </a:r>
            <a:r>
              <a:rPr sz="900" u="none" spc="114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스테이크와</a:t>
            </a:r>
            <a:r>
              <a:rPr sz="900" u="none" spc="13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함께</a:t>
            </a:r>
            <a:r>
              <a:rPr sz="900" u="none" spc="114" dirty="0">
                <a:latin typeface="맑은 고딕"/>
                <a:cs typeface="맑은 고딕"/>
              </a:rPr>
              <a:t> </a:t>
            </a:r>
            <a:r>
              <a:rPr sz="900" u="none" spc="-50" dirty="0">
                <a:latin typeface="맑은 고딕"/>
                <a:cs typeface="맑은 고딕"/>
              </a:rPr>
              <a:t>스 </a:t>
            </a:r>
            <a:r>
              <a:rPr sz="900" u="none" dirty="0">
                <a:latin typeface="맑은 고딕"/>
                <a:cs typeface="맑은 고딕"/>
              </a:rPr>
              <a:t>테이크와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궁합이라고</a:t>
            </a:r>
            <a:r>
              <a:rPr sz="900" u="none" spc="16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생각하지</a:t>
            </a:r>
            <a:r>
              <a:rPr sz="900" u="none" spc="17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않지만</a:t>
            </a:r>
            <a:r>
              <a:rPr sz="900" u="none" dirty="0">
                <a:latin typeface="Consolas"/>
                <a:cs typeface="Consolas"/>
              </a:rPr>
              <a:t>,</a:t>
            </a:r>
            <a:r>
              <a:rPr sz="900" u="none" spc="-5" dirty="0">
                <a:latin typeface="Consolas"/>
                <a:cs typeface="Consolas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고기를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레어</a:t>
            </a:r>
            <a:r>
              <a:rPr sz="900" u="none" dirty="0">
                <a:latin typeface="Consolas"/>
                <a:cs typeface="Consolas"/>
              </a:rPr>
              <a:t>(rare)</a:t>
            </a:r>
            <a:r>
              <a:rPr sz="900" u="none" dirty="0">
                <a:latin typeface="맑은 고딕"/>
                <a:cs typeface="맑은 고딕"/>
              </a:rPr>
              <a:t>로</a:t>
            </a:r>
            <a:r>
              <a:rPr sz="900" u="none" spc="21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요리했을</a:t>
            </a:r>
            <a:r>
              <a:rPr sz="900" u="none" spc="15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때</a:t>
            </a:r>
            <a:r>
              <a:rPr sz="900" u="none" spc="17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지금까지</a:t>
            </a:r>
            <a:r>
              <a:rPr sz="900" u="none" spc="170" dirty="0">
                <a:latin typeface="맑은 고딕"/>
                <a:cs typeface="맑은 고딕"/>
              </a:rPr>
              <a:t> </a:t>
            </a:r>
            <a:r>
              <a:rPr sz="900" u="none" spc="-25" dirty="0">
                <a:latin typeface="맑은 고딕"/>
                <a:cs typeface="맑은 고딕"/>
              </a:rPr>
              <a:t>최고의 </a:t>
            </a:r>
            <a:r>
              <a:rPr sz="900" u="none" dirty="0">
                <a:latin typeface="맑은 고딕"/>
                <a:cs typeface="맑은 고딕"/>
              </a:rPr>
              <a:t>궁합은</a:t>
            </a:r>
            <a:r>
              <a:rPr sz="900" u="none" spc="15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클래식하게</a:t>
            </a:r>
            <a:r>
              <a:rPr sz="900" u="none" spc="14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실크처럼</a:t>
            </a:r>
            <a:r>
              <a:rPr sz="900" u="none" spc="15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부드럽고</a:t>
            </a:r>
            <a:r>
              <a:rPr sz="900" u="none" spc="15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매혹적인</a:t>
            </a:r>
            <a:r>
              <a:rPr sz="900" u="none" spc="14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다니엘</a:t>
            </a:r>
            <a:r>
              <a:rPr sz="900" u="none" spc="16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리옹의</a:t>
            </a:r>
            <a:r>
              <a:rPr sz="900" u="none" spc="15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본</a:t>
            </a:r>
            <a:r>
              <a:rPr sz="900" u="none" spc="14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로마네</a:t>
            </a:r>
            <a:r>
              <a:rPr sz="900" u="none" dirty="0">
                <a:latin typeface="Consolas"/>
                <a:cs typeface="Consolas"/>
              </a:rPr>
              <a:t>(Daniel</a:t>
            </a:r>
            <a:r>
              <a:rPr sz="900" u="none" spc="40" dirty="0">
                <a:latin typeface="Consolas"/>
                <a:cs typeface="Consolas"/>
              </a:rPr>
              <a:t> </a:t>
            </a:r>
            <a:r>
              <a:rPr sz="900" u="none" spc="-10" dirty="0">
                <a:latin typeface="Consolas"/>
                <a:cs typeface="Consolas"/>
              </a:rPr>
              <a:t>Rion, </a:t>
            </a:r>
            <a:r>
              <a:rPr sz="900" u="none" spc="-15" dirty="0">
                <a:latin typeface="Consolas"/>
                <a:cs typeface="Consolas"/>
              </a:rPr>
              <a:t>Vosne-</a:t>
            </a:r>
            <a:r>
              <a:rPr sz="900" u="none" dirty="0">
                <a:latin typeface="Consolas"/>
                <a:cs typeface="Consolas"/>
              </a:rPr>
              <a:t>Romanée</a:t>
            </a:r>
            <a:r>
              <a:rPr sz="900" u="none" spc="25" dirty="0">
                <a:latin typeface="Consolas"/>
                <a:cs typeface="Consolas"/>
              </a:rPr>
              <a:t> </a:t>
            </a:r>
            <a:r>
              <a:rPr sz="900" u="none" dirty="0">
                <a:latin typeface="Consolas"/>
                <a:cs typeface="Consolas"/>
              </a:rPr>
              <a:t>2001)</a:t>
            </a:r>
            <a:r>
              <a:rPr sz="900" u="none" dirty="0">
                <a:latin typeface="맑은 고딕"/>
                <a:cs typeface="맑은 고딕"/>
              </a:rPr>
              <a:t>이다’라고</a:t>
            </a:r>
            <a:r>
              <a:rPr sz="900" u="none" spc="19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썼다</a:t>
            </a:r>
            <a:r>
              <a:rPr sz="900" u="none" dirty="0">
                <a:latin typeface="Consolas"/>
                <a:cs typeface="Consolas"/>
              </a:rPr>
              <a:t>.'} </a:t>
            </a:r>
            <a:r>
              <a:rPr sz="900" u="none" spc="-15" dirty="0">
                <a:latin typeface="Consolas"/>
                <a:cs typeface="Consolas"/>
              </a:rPr>
              <a:t>-------</a:t>
            </a:r>
            <a:r>
              <a:rPr sz="900" u="none" spc="-10" dirty="0">
                <a:latin typeface="Consolas"/>
                <a:cs typeface="Consolas"/>
              </a:rPr>
              <a:t>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50" dirty="0">
                <a:latin typeface="Consolas"/>
                <a:cs typeface="Consolas"/>
              </a:rPr>
              <a:t>-</a:t>
            </a: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</a:t>
            </a:r>
            <a:r>
              <a:rPr sz="900" dirty="0">
                <a:latin typeface="Consolas"/>
                <a:cs typeface="Consolas"/>
              </a:rPr>
              <a:t>-</a:t>
            </a:r>
            <a:r>
              <a:rPr sz="900" spc="20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{'url':</a:t>
            </a:r>
            <a:endParaRPr sz="900">
              <a:latin typeface="Consolas"/>
              <a:cs typeface="Consolas"/>
            </a:endParaRPr>
          </a:p>
          <a:p>
            <a:pPr marL="12700" marR="18415">
              <a:lnSpc>
                <a:spcPct val="100000"/>
              </a:lnSpc>
            </a:pPr>
            <a:r>
              <a:rPr sz="900" spc="-10" dirty="0">
                <a:latin typeface="Consolas"/>
                <a:cs typeface="Consolas"/>
              </a:rPr>
              <a:t>'</a:t>
            </a:r>
            <a:r>
              <a:rPr sz="9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onsolas"/>
                <a:cs typeface="Consolas"/>
                <a:hlinkClick r:id="rId3"/>
              </a:rPr>
              <a:t>https://secrettsteaks.com/blog/steak-wine-</a:t>
            </a:r>
            <a:r>
              <a:rPr sz="9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onsolas"/>
                <a:cs typeface="Consolas"/>
                <a:hlinkClick r:id="rId3"/>
              </a:rPr>
              <a:t>pairing.php</a:t>
            </a:r>
            <a:r>
              <a:rPr sz="900" u="none" dirty="0">
                <a:latin typeface="Consolas"/>
                <a:cs typeface="Consolas"/>
              </a:rPr>
              <a:t>',</a:t>
            </a:r>
            <a:r>
              <a:rPr sz="900" u="none" spc="-40" dirty="0">
                <a:latin typeface="Consolas"/>
                <a:cs typeface="Consolas"/>
              </a:rPr>
              <a:t> </a:t>
            </a:r>
            <a:r>
              <a:rPr sz="900" u="none" dirty="0">
                <a:latin typeface="Consolas"/>
                <a:cs typeface="Consolas"/>
              </a:rPr>
              <a:t>'content':</a:t>
            </a:r>
            <a:r>
              <a:rPr sz="900" u="none" spc="-40" dirty="0">
                <a:latin typeface="Consolas"/>
                <a:cs typeface="Consolas"/>
              </a:rPr>
              <a:t> </a:t>
            </a:r>
            <a:r>
              <a:rPr sz="900" u="none" spc="-10" dirty="0">
                <a:latin typeface="Consolas"/>
                <a:cs typeface="Consolas"/>
              </a:rPr>
              <a:t>'</a:t>
            </a:r>
            <a:r>
              <a:rPr sz="900" u="none" spc="-10" dirty="0">
                <a:latin typeface="맑은 고딕"/>
                <a:cs typeface="맑은 고딕"/>
              </a:rPr>
              <a:t>스테이크와 </a:t>
            </a:r>
            <a:r>
              <a:rPr sz="900" u="none" dirty="0">
                <a:latin typeface="맑은 고딕"/>
                <a:cs typeface="맑은 고딕"/>
              </a:rPr>
              <a:t>가장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잘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어울리는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와인을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추천해드리며</a:t>
            </a:r>
            <a:r>
              <a:rPr sz="900" u="none" dirty="0">
                <a:latin typeface="Consolas"/>
                <a:cs typeface="Consolas"/>
              </a:rPr>
              <a:t>,</a:t>
            </a:r>
            <a:r>
              <a:rPr sz="900" u="none" spc="5" dirty="0">
                <a:latin typeface="Consolas"/>
                <a:cs typeface="Consolas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어떤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와인이</a:t>
            </a:r>
            <a:r>
              <a:rPr sz="900" u="none" spc="16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여러분의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식사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경험을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한층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더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spc="-25" dirty="0">
                <a:latin typeface="맑은 고딕"/>
                <a:cs typeface="맑은 고딕"/>
              </a:rPr>
              <a:t>업그레 </a:t>
            </a:r>
            <a:r>
              <a:rPr sz="900" u="none" dirty="0">
                <a:latin typeface="맑은 고딕"/>
                <a:cs typeface="맑은 고딕"/>
              </a:rPr>
              <a:t>이드할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수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있을지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알아보겠습니다</a:t>
            </a:r>
            <a:r>
              <a:rPr sz="900" u="none" dirty="0">
                <a:latin typeface="Consolas"/>
                <a:cs typeface="Consolas"/>
              </a:rPr>
              <a:t>.</a:t>
            </a:r>
            <a:r>
              <a:rPr sz="900" u="none" spc="5" dirty="0">
                <a:latin typeface="Consolas"/>
                <a:cs typeface="Consolas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첫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번째로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추천하는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와인은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카베르네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spc="-10" dirty="0">
                <a:latin typeface="맑은 고딕"/>
                <a:cs typeface="맑은 고딕"/>
              </a:rPr>
              <a:t>소비뇽</a:t>
            </a:r>
            <a:r>
              <a:rPr sz="900" u="none" spc="-10" dirty="0">
                <a:latin typeface="Consolas"/>
                <a:cs typeface="Consolas"/>
              </a:rPr>
              <a:t>(Cabernet </a:t>
            </a:r>
            <a:r>
              <a:rPr sz="900" u="none" dirty="0">
                <a:latin typeface="Consolas"/>
                <a:cs typeface="Consolas"/>
              </a:rPr>
              <a:t>Sauvignon)</a:t>
            </a:r>
            <a:r>
              <a:rPr sz="900" u="none" dirty="0">
                <a:latin typeface="맑은 고딕"/>
                <a:cs typeface="맑은 고딕"/>
              </a:rPr>
              <a:t>입니다</a:t>
            </a:r>
            <a:r>
              <a:rPr sz="900" u="none" dirty="0">
                <a:latin typeface="Consolas"/>
                <a:cs typeface="Consolas"/>
              </a:rPr>
              <a:t>.'}</a:t>
            </a:r>
            <a:r>
              <a:rPr sz="900" u="none" spc="-90" dirty="0">
                <a:latin typeface="Consolas"/>
                <a:cs typeface="Consolas"/>
              </a:rPr>
              <a:t> </a:t>
            </a:r>
            <a:r>
              <a:rPr sz="900" u="none" spc="-15" dirty="0">
                <a:latin typeface="Consolas"/>
                <a:cs typeface="Consolas"/>
              </a:rPr>
              <a:t>---</a:t>
            </a:r>
            <a:r>
              <a:rPr sz="900" u="none" spc="-50" dirty="0">
                <a:latin typeface="Consolas"/>
                <a:cs typeface="Consolas"/>
              </a:rPr>
              <a:t>-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295009" y="4431322"/>
            <a:ext cx="5160010" cy="1892935"/>
          </a:xfrm>
          <a:custGeom>
            <a:avLst/>
            <a:gdLst/>
            <a:ahLst/>
            <a:cxnLst/>
            <a:rect l="l" t="t" r="r" b="b"/>
            <a:pathLst>
              <a:path w="5160009" h="1892935">
                <a:moveTo>
                  <a:pt x="5159883" y="0"/>
                </a:moveTo>
                <a:lnTo>
                  <a:pt x="0" y="0"/>
                </a:lnTo>
                <a:lnTo>
                  <a:pt x="0" y="1892808"/>
                </a:lnTo>
                <a:lnTo>
                  <a:pt x="5159883" y="1892808"/>
                </a:lnTo>
                <a:lnTo>
                  <a:pt x="5159883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374384" y="4459351"/>
            <a:ext cx="4991735" cy="1809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onsolas"/>
                <a:cs typeface="Consolas"/>
              </a:rPr>
              <a:t>content='' </a:t>
            </a:r>
            <a:r>
              <a:rPr sz="900" spc="-10" dirty="0">
                <a:latin typeface="Consolas"/>
                <a:cs typeface="Consolas"/>
              </a:rPr>
              <a:t>additional_kwargs={'tool_calls':</a:t>
            </a:r>
            <a:r>
              <a:rPr sz="90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[{'id': 'call_5lPOU0gWyOJXqVR5PZsY6uPa',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'function':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{'arguments':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'{"query":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"</a:t>
            </a:r>
            <a:r>
              <a:rPr sz="900" spc="-10" dirty="0">
                <a:latin typeface="맑은 고딕"/>
                <a:cs typeface="맑은 고딕"/>
              </a:rPr>
              <a:t>스테이크 </a:t>
            </a:r>
            <a:r>
              <a:rPr sz="900" dirty="0">
                <a:latin typeface="맑은 고딕"/>
                <a:cs typeface="맑은 고딕"/>
              </a:rPr>
              <a:t>에</a:t>
            </a:r>
            <a:r>
              <a:rPr sz="900" spc="145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어울리는</a:t>
            </a:r>
            <a:r>
              <a:rPr sz="900" spc="140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와인</a:t>
            </a:r>
            <a:r>
              <a:rPr sz="900" spc="155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추천</a:t>
            </a:r>
            <a:r>
              <a:rPr sz="900" dirty="0">
                <a:latin typeface="Consolas"/>
                <a:cs typeface="Consolas"/>
              </a:rPr>
              <a:t>"}',</a:t>
            </a:r>
            <a:r>
              <a:rPr sz="900" spc="1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'name':</a:t>
            </a:r>
            <a:r>
              <a:rPr sz="900" spc="3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'tavily_search_results_json'},</a:t>
            </a:r>
            <a:r>
              <a:rPr sz="900" spc="3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'type': </a:t>
            </a:r>
            <a:r>
              <a:rPr sz="900" dirty="0">
                <a:latin typeface="Consolas"/>
                <a:cs typeface="Consolas"/>
              </a:rPr>
              <a:t>'function'},</a:t>
            </a:r>
            <a:r>
              <a:rPr sz="900" spc="-5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{'id':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'call_iC7y2CjvSR0vLxUoNLAIYFel',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'function':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{'arguments': </a:t>
            </a:r>
            <a:r>
              <a:rPr sz="900" dirty="0">
                <a:latin typeface="Consolas"/>
                <a:cs typeface="Consolas"/>
              </a:rPr>
              <a:t>'{"query":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"</a:t>
            </a:r>
            <a:r>
              <a:rPr sz="900" dirty="0">
                <a:latin typeface="맑은 고딕"/>
                <a:cs typeface="맑은 고딕"/>
              </a:rPr>
              <a:t>스테이크와</a:t>
            </a:r>
            <a:r>
              <a:rPr sz="900" spc="145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와인</a:t>
            </a:r>
            <a:r>
              <a:rPr sz="900" spc="120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페어링</a:t>
            </a:r>
            <a:r>
              <a:rPr sz="900" spc="135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팁</a:t>
            </a:r>
            <a:r>
              <a:rPr sz="900" dirty="0">
                <a:latin typeface="Consolas"/>
                <a:cs typeface="Consolas"/>
              </a:rPr>
              <a:t>"}',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'name':</a:t>
            </a:r>
            <a:r>
              <a:rPr sz="900" spc="1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'tavily_search_results_json'}, </a:t>
            </a:r>
            <a:r>
              <a:rPr sz="900" dirty="0">
                <a:latin typeface="Consolas"/>
                <a:cs typeface="Consolas"/>
              </a:rPr>
              <a:t>'type':</a:t>
            </a:r>
            <a:r>
              <a:rPr sz="900" spc="-8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'function'}],</a:t>
            </a:r>
            <a:r>
              <a:rPr sz="900" spc="-8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'refusal':</a:t>
            </a:r>
            <a:r>
              <a:rPr sz="900" spc="-70" dirty="0">
                <a:latin typeface="Consolas"/>
                <a:cs typeface="Consolas"/>
              </a:rPr>
              <a:t> </a:t>
            </a:r>
            <a:r>
              <a:rPr sz="900" spc="-20" dirty="0">
                <a:latin typeface="Consolas"/>
                <a:cs typeface="Consolas"/>
              </a:rPr>
              <a:t>None}</a:t>
            </a:r>
            <a:endParaRPr sz="900">
              <a:latin typeface="Consolas"/>
              <a:cs typeface="Consolas"/>
            </a:endParaRPr>
          </a:p>
          <a:p>
            <a:pPr marL="74930">
              <a:lnSpc>
                <a:spcPct val="100000"/>
              </a:lnSpc>
            </a:pPr>
            <a:r>
              <a:rPr sz="900" dirty="0">
                <a:latin typeface="Consolas"/>
                <a:cs typeface="Consolas"/>
              </a:rPr>
              <a:t>…</a:t>
            </a:r>
            <a:r>
              <a:rPr sz="900" spc="10" dirty="0">
                <a:latin typeface="Consolas"/>
                <a:cs typeface="Consolas"/>
              </a:rPr>
              <a:t> </a:t>
            </a:r>
            <a:r>
              <a:rPr sz="900" spc="-50" dirty="0">
                <a:latin typeface="Consolas"/>
                <a:cs typeface="Consolas"/>
              </a:rPr>
              <a:t>…</a:t>
            </a:r>
            <a:endParaRPr sz="900">
              <a:latin typeface="Consolas"/>
              <a:cs typeface="Consolas"/>
            </a:endParaRPr>
          </a:p>
          <a:p>
            <a:pPr marL="12700" marR="5080" indent="63500">
              <a:lnSpc>
                <a:spcPct val="100000"/>
              </a:lnSpc>
            </a:pPr>
            <a:r>
              <a:rPr sz="900" b="1" spc="-10" dirty="0">
                <a:latin typeface="Consolas"/>
                <a:cs typeface="Consolas"/>
              </a:rPr>
              <a:t>tool_calls</a:t>
            </a:r>
            <a:r>
              <a:rPr sz="900" spc="-10" dirty="0">
                <a:latin typeface="Consolas"/>
                <a:cs typeface="Consolas"/>
              </a:rPr>
              <a:t>=[{'name':</a:t>
            </a:r>
            <a:r>
              <a:rPr sz="90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Consolas"/>
                <a:cs typeface="Consolas"/>
              </a:rPr>
              <a:t>'tavily_search_results_json</a:t>
            </a:r>
            <a:r>
              <a:rPr sz="900" spc="-10" dirty="0">
                <a:latin typeface="Consolas"/>
                <a:cs typeface="Consolas"/>
              </a:rPr>
              <a:t>',</a:t>
            </a:r>
            <a:r>
              <a:rPr sz="900" spc="1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'args': {'query':</a:t>
            </a:r>
            <a:r>
              <a:rPr sz="900" spc="1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'</a:t>
            </a:r>
            <a:r>
              <a:rPr sz="900" spc="-10" dirty="0">
                <a:latin typeface="맑은 고딕"/>
                <a:cs typeface="맑은 고딕"/>
              </a:rPr>
              <a:t>스테이크 </a:t>
            </a:r>
            <a:r>
              <a:rPr sz="900" dirty="0">
                <a:latin typeface="맑은 고딕"/>
                <a:cs typeface="맑은 고딕"/>
              </a:rPr>
              <a:t>에</a:t>
            </a:r>
            <a:r>
              <a:rPr sz="900" spc="150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어울리는</a:t>
            </a:r>
            <a:r>
              <a:rPr sz="900" spc="145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와인</a:t>
            </a:r>
            <a:r>
              <a:rPr sz="900" spc="165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추천</a:t>
            </a:r>
            <a:r>
              <a:rPr sz="900" dirty="0">
                <a:latin typeface="Consolas"/>
                <a:cs typeface="Consolas"/>
              </a:rPr>
              <a:t>'},</a:t>
            </a:r>
            <a:r>
              <a:rPr sz="900" spc="1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'id':</a:t>
            </a:r>
            <a:r>
              <a:rPr sz="900" spc="2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'call_5lPOU0gWyOJXqVR5PZsY6uPa',</a:t>
            </a:r>
            <a:r>
              <a:rPr sz="900" spc="5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'type': </a:t>
            </a:r>
            <a:r>
              <a:rPr sz="900" dirty="0">
                <a:latin typeface="Consolas"/>
                <a:cs typeface="Consolas"/>
              </a:rPr>
              <a:t>'tool_call'},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{'name':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Consolas"/>
                <a:cs typeface="Consolas"/>
              </a:rPr>
              <a:t>'tavily_search_results_json</a:t>
            </a:r>
            <a:r>
              <a:rPr sz="900" spc="-10" dirty="0">
                <a:latin typeface="Consolas"/>
                <a:cs typeface="Consolas"/>
              </a:rPr>
              <a:t>',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'args':</a:t>
            </a:r>
            <a:r>
              <a:rPr sz="900" spc="-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{'query':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spc="-20" dirty="0">
                <a:latin typeface="Consolas"/>
                <a:cs typeface="Consolas"/>
              </a:rPr>
              <a:t>'</a:t>
            </a:r>
            <a:r>
              <a:rPr sz="900" spc="-20" dirty="0">
                <a:latin typeface="맑은 고딕"/>
                <a:cs typeface="맑은 고딕"/>
              </a:rPr>
              <a:t>스테이 </a:t>
            </a:r>
            <a:r>
              <a:rPr sz="900" dirty="0">
                <a:latin typeface="맑은 고딕"/>
                <a:cs typeface="맑은 고딕"/>
              </a:rPr>
              <a:t>크와</a:t>
            </a:r>
            <a:r>
              <a:rPr sz="900" spc="150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와인</a:t>
            </a:r>
            <a:r>
              <a:rPr sz="900" spc="150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페어링</a:t>
            </a:r>
            <a:r>
              <a:rPr sz="900" spc="165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팁</a:t>
            </a:r>
            <a:r>
              <a:rPr sz="900" dirty="0">
                <a:latin typeface="Consolas"/>
                <a:cs typeface="Consolas"/>
              </a:rPr>
              <a:t>'},</a:t>
            </a:r>
            <a:r>
              <a:rPr sz="900" spc="1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'id':</a:t>
            </a:r>
            <a:r>
              <a:rPr sz="900" spc="2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'call_iC7y2CjvSR0vLxUoNLAIYFel',</a:t>
            </a:r>
            <a:r>
              <a:rPr sz="900" spc="5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'type': </a:t>
            </a:r>
            <a:r>
              <a:rPr sz="900" dirty="0">
                <a:latin typeface="Consolas"/>
                <a:cs typeface="Consolas"/>
              </a:rPr>
              <a:t>'tool_call'}]</a:t>
            </a:r>
            <a:r>
              <a:rPr sz="900" spc="-5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usage_metadata={'input_tokens':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91,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'output_tokens':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71,</a:t>
            </a: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Consolas"/>
                <a:cs typeface="Consolas"/>
              </a:rPr>
              <a:t>'total_tokens':</a:t>
            </a:r>
            <a:r>
              <a:rPr sz="900" spc="-114" dirty="0">
                <a:latin typeface="Consolas"/>
                <a:cs typeface="Consolas"/>
              </a:rPr>
              <a:t> </a:t>
            </a:r>
            <a:r>
              <a:rPr sz="900" spc="-20" dirty="0">
                <a:latin typeface="Consolas"/>
                <a:cs typeface="Consolas"/>
              </a:rPr>
              <a:t>162}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97400" y="2679445"/>
            <a:ext cx="1116330" cy="539115"/>
          </a:xfrm>
          <a:custGeom>
            <a:avLst/>
            <a:gdLst/>
            <a:ahLst/>
            <a:cxnLst/>
            <a:rect l="l" t="t" r="r" b="b"/>
            <a:pathLst>
              <a:path w="1116329" h="539114">
                <a:moveTo>
                  <a:pt x="1026033" y="0"/>
                </a:moveTo>
                <a:lnTo>
                  <a:pt x="170687" y="0"/>
                </a:lnTo>
                <a:lnTo>
                  <a:pt x="135762" y="7046"/>
                </a:lnTo>
                <a:lnTo>
                  <a:pt x="107219" y="26273"/>
                </a:lnTo>
                <a:lnTo>
                  <a:pt x="87963" y="54810"/>
                </a:lnTo>
                <a:lnTo>
                  <a:pt x="80899" y="89788"/>
                </a:lnTo>
                <a:lnTo>
                  <a:pt x="80899" y="314198"/>
                </a:lnTo>
                <a:lnTo>
                  <a:pt x="0" y="407542"/>
                </a:lnTo>
                <a:lnTo>
                  <a:pt x="80899" y="448944"/>
                </a:lnTo>
                <a:lnTo>
                  <a:pt x="87963" y="483869"/>
                </a:lnTo>
                <a:lnTo>
                  <a:pt x="107219" y="512413"/>
                </a:lnTo>
                <a:lnTo>
                  <a:pt x="135762" y="531669"/>
                </a:lnTo>
                <a:lnTo>
                  <a:pt x="170687" y="538733"/>
                </a:lnTo>
                <a:lnTo>
                  <a:pt x="1026033" y="538733"/>
                </a:lnTo>
                <a:lnTo>
                  <a:pt x="1061011" y="531669"/>
                </a:lnTo>
                <a:lnTo>
                  <a:pt x="1089548" y="512413"/>
                </a:lnTo>
                <a:lnTo>
                  <a:pt x="1108775" y="483869"/>
                </a:lnTo>
                <a:lnTo>
                  <a:pt x="1115822" y="448944"/>
                </a:lnTo>
                <a:lnTo>
                  <a:pt x="1115822" y="89788"/>
                </a:lnTo>
                <a:lnTo>
                  <a:pt x="1108775" y="54810"/>
                </a:lnTo>
                <a:lnTo>
                  <a:pt x="1089548" y="26273"/>
                </a:lnTo>
                <a:lnTo>
                  <a:pt x="1061011" y="7046"/>
                </a:lnTo>
                <a:lnTo>
                  <a:pt x="1026033" y="0"/>
                </a:lnTo>
                <a:close/>
              </a:path>
            </a:pathLst>
          </a:custGeom>
          <a:solidFill>
            <a:srgbClr val="E9703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967985" y="2750946"/>
            <a:ext cx="469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5080" indent="-762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80350D"/>
                </a:solidFill>
                <a:latin typeface="맑은 고딕"/>
                <a:cs typeface="맑은 고딕"/>
              </a:rPr>
              <a:t>그대로 검색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473438" y="3800855"/>
            <a:ext cx="1924685" cy="436880"/>
          </a:xfrm>
          <a:custGeom>
            <a:avLst/>
            <a:gdLst/>
            <a:ahLst/>
            <a:cxnLst/>
            <a:rect l="l" t="t" r="r" b="b"/>
            <a:pathLst>
              <a:path w="1924684" h="436879">
                <a:moveTo>
                  <a:pt x="1851913" y="0"/>
                </a:moveTo>
                <a:lnTo>
                  <a:pt x="212343" y="0"/>
                </a:lnTo>
                <a:lnTo>
                  <a:pt x="183989" y="5707"/>
                </a:lnTo>
                <a:lnTo>
                  <a:pt x="160861" y="21272"/>
                </a:lnTo>
                <a:lnTo>
                  <a:pt x="145282" y="44362"/>
                </a:lnTo>
                <a:lnTo>
                  <a:pt x="139572" y="72644"/>
                </a:lnTo>
                <a:lnTo>
                  <a:pt x="139572" y="254508"/>
                </a:lnTo>
                <a:lnTo>
                  <a:pt x="0" y="330200"/>
                </a:lnTo>
                <a:lnTo>
                  <a:pt x="139572" y="363601"/>
                </a:lnTo>
                <a:lnTo>
                  <a:pt x="145282" y="391955"/>
                </a:lnTo>
                <a:lnTo>
                  <a:pt x="160861" y="415083"/>
                </a:lnTo>
                <a:lnTo>
                  <a:pt x="183989" y="430662"/>
                </a:lnTo>
                <a:lnTo>
                  <a:pt x="212343" y="436372"/>
                </a:lnTo>
                <a:lnTo>
                  <a:pt x="1851913" y="436372"/>
                </a:lnTo>
                <a:lnTo>
                  <a:pt x="1880215" y="430662"/>
                </a:lnTo>
                <a:lnTo>
                  <a:pt x="1903348" y="415083"/>
                </a:lnTo>
                <a:lnTo>
                  <a:pt x="1918958" y="391955"/>
                </a:lnTo>
                <a:lnTo>
                  <a:pt x="1924684" y="363601"/>
                </a:lnTo>
                <a:lnTo>
                  <a:pt x="1924684" y="72644"/>
                </a:lnTo>
                <a:lnTo>
                  <a:pt x="1918958" y="44362"/>
                </a:lnTo>
                <a:lnTo>
                  <a:pt x="1903349" y="21272"/>
                </a:lnTo>
                <a:lnTo>
                  <a:pt x="1880215" y="5707"/>
                </a:lnTo>
                <a:lnTo>
                  <a:pt x="1851913" y="0"/>
                </a:lnTo>
                <a:close/>
              </a:path>
            </a:pathLst>
          </a:custGeom>
          <a:solidFill>
            <a:srgbClr val="E9703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792969" y="3821429"/>
            <a:ext cx="1492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5016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80350D"/>
                </a:solidFill>
                <a:latin typeface="맑은 고딕"/>
                <a:cs typeface="맑은 고딕"/>
              </a:rPr>
              <a:t>LLM이</a:t>
            </a:r>
            <a:r>
              <a:rPr sz="1200" b="1" spc="-10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200" b="1" dirty="0">
                <a:solidFill>
                  <a:srgbClr val="80350D"/>
                </a:solidFill>
                <a:latin typeface="맑은 고딕"/>
                <a:cs typeface="맑은 고딕"/>
              </a:rPr>
              <a:t>검색에</a:t>
            </a:r>
            <a:r>
              <a:rPr sz="1200" b="1" spc="-10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200" b="1" spc="-25" dirty="0">
                <a:solidFill>
                  <a:srgbClr val="80350D"/>
                </a:solidFill>
                <a:latin typeface="맑은 고딕"/>
                <a:cs typeface="맑은 고딕"/>
              </a:rPr>
              <a:t>맞는 </a:t>
            </a:r>
            <a:r>
              <a:rPr sz="1200" b="1" dirty="0">
                <a:solidFill>
                  <a:srgbClr val="80350D"/>
                </a:solidFill>
                <a:latin typeface="맑은 고딕"/>
                <a:cs typeface="맑은 고딕"/>
              </a:rPr>
              <a:t>적절한</a:t>
            </a:r>
            <a:r>
              <a:rPr sz="1200" b="1" spc="10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200" b="1" dirty="0">
                <a:solidFill>
                  <a:srgbClr val="80350D"/>
                </a:solidFill>
                <a:latin typeface="맑은 고딕"/>
                <a:cs typeface="맑은 고딕"/>
              </a:rPr>
              <a:t>검색어를</a:t>
            </a:r>
            <a:r>
              <a:rPr sz="1200" b="1" spc="-5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200" b="1" spc="-25" dirty="0">
                <a:solidFill>
                  <a:srgbClr val="80350D"/>
                </a:solidFill>
                <a:latin typeface="맑은 고딕"/>
                <a:cs typeface="맑은 고딕"/>
              </a:rPr>
              <a:t>생성</a:t>
            </a:r>
            <a:endParaRPr sz="1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8560" y="319786"/>
            <a:ext cx="4902200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pc="-45" dirty="0"/>
              <a:t>Tool</a:t>
            </a:r>
            <a:r>
              <a:rPr spc="-90" dirty="0"/>
              <a:t> </a:t>
            </a:r>
            <a:r>
              <a:rPr dirty="0"/>
              <a:t>Calling</a:t>
            </a:r>
            <a:r>
              <a:rPr spc="-95" dirty="0"/>
              <a:t> </a:t>
            </a:r>
            <a:r>
              <a:rPr dirty="0"/>
              <a:t>결과를</a:t>
            </a:r>
            <a:r>
              <a:rPr spc="-114" dirty="0"/>
              <a:t> </a:t>
            </a:r>
            <a:r>
              <a:rPr spc="-25" dirty="0"/>
              <a:t>가지고 </a:t>
            </a:r>
            <a:r>
              <a:rPr dirty="0"/>
              <a:t>검색</a:t>
            </a:r>
            <a:r>
              <a:rPr spc="-20" dirty="0"/>
              <a:t> </a:t>
            </a:r>
            <a:r>
              <a:rPr dirty="0"/>
              <a:t>작업을</a:t>
            </a:r>
            <a:r>
              <a:rPr spc="-15" dirty="0"/>
              <a:t> </a:t>
            </a:r>
            <a:r>
              <a:rPr spc="-25" dirty="0"/>
              <a:t>실행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407" y="1969198"/>
            <a:ext cx="3955415" cy="4645660"/>
            <a:chOff x="61407" y="1969198"/>
            <a:chExt cx="3955415" cy="4645660"/>
          </a:xfrm>
        </p:grpSpPr>
        <p:sp>
          <p:nvSpPr>
            <p:cNvPr id="4" name="object 4"/>
            <p:cNvSpPr/>
            <p:nvPr/>
          </p:nvSpPr>
          <p:spPr>
            <a:xfrm>
              <a:off x="66169" y="1973960"/>
              <a:ext cx="3945890" cy="4636135"/>
            </a:xfrm>
            <a:custGeom>
              <a:avLst/>
              <a:gdLst/>
              <a:ahLst/>
              <a:cxnLst/>
              <a:rect l="l" t="t" r="r" b="b"/>
              <a:pathLst>
                <a:path w="3945890" h="4636134">
                  <a:moveTo>
                    <a:pt x="0" y="217042"/>
                  </a:moveTo>
                  <a:lnTo>
                    <a:pt x="5732" y="167271"/>
                  </a:lnTo>
                  <a:lnTo>
                    <a:pt x="22061" y="121584"/>
                  </a:lnTo>
                  <a:lnTo>
                    <a:pt x="47685" y="81285"/>
                  </a:lnTo>
                  <a:lnTo>
                    <a:pt x="81299" y="47676"/>
                  </a:lnTo>
                  <a:lnTo>
                    <a:pt x="121603" y="22057"/>
                  </a:lnTo>
                  <a:lnTo>
                    <a:pt x="167292" y="5731"/>
                  </a:lnTo>
                  <a:lnTo>
                    <a:pt x="217065" y="0"/>
                  </a:lnTo>
                  <a:lnTo>
                    <a:pt x="3728844" y="0"/>
                  </a:lnTo>
                  <a:lnTo>
                    <a:pt x="3778616" y="5731"/>
                  </a:lnTo>
                  <a:lnTo>
                    <a:pt x="3824302" y="22057"/>
                  </a:lnTo>
                  <a:lnTo>
                    <a:pt x="3864601" y="47676"/>
                  </a:lnTo>
                  <a:lnTo>
                    <a:pt x="3898211" y="81285"/>
                  </a:lnTo>
                  <a:lnTo>
                    <a:pt x="3923830" y="121584"/>
                  </a:lnTo>
                  <a:lnTo>
                    <a:pt x="3940156" y="167271"/>
                  </a:lnTo>
                  <a:lnTo>
                    <a:pt x="3945887" y="217042"/>
                  </a:lnTo>
                  <a:lnTo>
                    <a:pt x="3945887" y="4418939"/>
                  </a:lnTo>
                  <a:lnTo>
                    <a:pt x="3940156" y="4468708"/>
                  </a:lnTo>
                  <a:lnTo>
                    <a:pt x="3923830" y="4514394"/>
                  </a:lnTo>
                  <a:lnTo>
                    <a:pt x="3898211" y="4554696"/>
                  </a:lnTo>
                  <a:lnTo>
                    <a:pt x="3864601" y="4588310"/>
                  </a:lnTo>
                  <a:lnTo>
                    <a:pt x="3824302" y="4613933"/>
                  </a:lnTo>
                  <a:lnTo>
                    <a:pt x="3778616" y="4630262"/>
                  </a:lnTo>
                  <a:lnTo>
                    <a:pt x="3728844" y="4635995"/>
                  </a:lnTo>
                  <a:lnTo>
                    <a:pt x="217065" y="4635995"/>
                  </a:lnTo>
                  <a:lnTo>
                    <a:pt x="167292" y="4630262"/>
                  </a:lnTo>
                  <a:lnTo>
                    <a:pt x="121603" y="4613933"/>
                  </a:lnTo>
                  <a:lnTo>
                    <a:pt x="81299" y="4588310"/>
                  </a:lnTo>
                  <a:lnTo>
                    <a:pt x="47685" y="4554696"/>
                  </a:lnTo>
                  <a:lnTo>
                    <a:pt x="22061" y="4514394"/>
                  </a:lnTo>
                  <a:lnTo>
                    <a:pt x="5732" y="4468708"/>
                  </a:lnTo>
                  <a:lnTo>
                    <a:pt x="0" y="4418939"/>
                  </a:lnTo>
                  <a:lnTo>
                    <a:pt x="0" y="217042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8058" y="2403093"/>
              <a:ext cx="840105" cy="178435"/>
            </a:xfrm>
            <a:custGeom>
              <a:avLst/>
              <a:gdLst/>
              <a:ahLst/>
              <a:cxnLst/>
              <a:rect l="l" t="t" r="r" b="b"/>
              <a:pathLst>
                <a:path w="840105" h="178435">
                  <a:moveTo>
                    <a:pt x="839724" y="0"/>
                  </a:moveTo>
                  <a:lnTo>
                    <a:pt x="755904" y="0"/>
                  </a:lnTo>
                  <a:lnTo>
                    <a:pt x="0" y="0"/>
                  </a:lnTo>
                  <a:lnTo>
                    <a:pt x="0" y="178308"/>
                  </a:lnTo>
                  <a:lnTo>
                    <a:pt x="755904" y="178308"/>
                  </a:lnTo>
                  <a:lnTo>
                    <a:pt x="839724" y="178308"/>
                  </a:lnTo>
                  <a:lnTo>
                    <a:pt x="8397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8058" y="2585973"/>
              <a:ext cx="923925" cy="178435"/>
            </a:xfrm>
            <a:custGeom>
              <a:avLst/>
              <a:gdLst/>
              <a:ahLst/>
              <a:cxnLst/>
              <a:rect l="l" t="t" r="r" b="b"/>
              <a:pathLst>
                <a:path w="923925" h="178435">
                  <a:moveTo>
                    <a:pt x="923544" y="0"/>
                  </a:moveTo>
                  <a:lnTo>
                    <a:pt x="0" y="0"/>
                  </a:lnTo>
                  <a:lnTo>
                    <a:pt x="0" y="178308"/>
                  </a:lnTo>
                  <a:lnTo>
                    <a:pt x="923544" y="178308"/>
                  </a:lnTo>
                  <a:lnTo>
                    <a:pt x="92354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82902" y="2768853"/>
              <a:ext cx="756285" cy="178435"/>
            </a:xfrm>
            <a:custGeom>
              <a:avLst/>
              <a:gdLst/>
              <a:ahLst/>
              <a:cxnLst/>
              <a:rect l="l" t="t" r="r" b="b"/>
              <a:pathLst>
                <a:path w="756285" h="178435">
                  <a:moveTo>
                    <a:pt x="755904" y="0"/>
                  </a:moveTo>
                  <a:lnTo>
                    <a:pt x="0" y="0"/>
                  </a:lnTo>
                  <a:lnTo>
                    <a:pt x="0" y="178308"/>
                  </a:lnTo>
                  <a:lnTo>
                    <a:pt x="755904" y="178308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345551" y="659638"/>
            <a:ext cx="2316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맑은 고딕"/>
                <a:cs typeface="맑은 고딕"/>
              </a:rPr>
              <a:t>LangChain</a:t>
            </a:r>
            <a:r>
              <a:rPr sz="1800" spc="-5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ToolCalling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618" y="2352789"/>
            <a:ext cx="3649345" cy="1142365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1440" marR="520700">
              <a:lnSpc>
                <a:spcPct val="100000"/>
              </a:lnSpc>
              <a:spcBef>
                <a:spcPts val="290"/>
              </a:spcBef>
            </a:pPr>
            <a:r>
              <a:rPr sz="1200" dirty="0">
                <a:latin typeface="Consolas"/>
                <a:cs typeface="Consolas"/>
              </a:rPr>
              <a:t>tool_call</a:t>
            </a:r>
            <a:r>
              <a:rPr sz="1200" spc="-3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2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ai_msg.tool_calls[</a:t>
            </a:r>
            <a:r>
              <a:rPr sz="1200" spc="-10" dirty="0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sz="1200" spc="-10" dirty="0">
                <a:latin typeface="Consolas"/>
                <a:cs typeface="Consolas"/>
              </a:rPr>
              <a:t>] </a:t>
            </a:r>
            <a:r>
              <a:rPr sz="1200" dirty="0">
                <a:latin typeface="Consolas"/>
                <a:cs typeface="Consolas"/>
              </a:rPr>
              <a:t>tool_output</a:t>
            </a:r>
            <a:r>
              <a:rPr sz="1200" spc="-55" dirty="0">
                <a:latin typeface="Consolas"/>
                <a:cs typeface="Consolas"/>
              </a:rPr>
              <a:t> </a:t>
            </a:r>
            <a:r>
              <a:rPr sz="1200" spc="-50" dirty="0">
                <a:latin typeface="Consolas"/>
                <a:cs typeface="Consolas"/>
              </a:rPr>
              <a:t>= </a:t>
            </a:r>
            <a:r>
              <a:rPr sz="1200" spc="-10" dirty="0">
                <a:latin typeface="Consolas"/>
                <a:cs typeface="Consolas"/>
              </a:rPr>
              <a:t>web_search.invoke(tool_call[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"args"</a:t>
            </a:r>
            <a:r>
              <a:rPr sz="1200" spc="-10" dirty="0">
                <a:latin typeface="Consolas"/>
                <a:cs typeface="Consolas"/>
              </a:rPr>
              <a:t>])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0659" y="1805228"/>
            <a:ext cx="3277235" cy="391160"/>
          </a:xfrm>
          <a:prstGeom prst="rect">
            <a:avLst/>
          </a:prstGeom>
          <a:solidFill>
            <a:srgbClr val="155F82"/>
          </a:solidFill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753745">
              <a:lnSpc>
                <a:spcPct val="100000"/>
              </a:lnSpc>
              <a:spcBef>
                <a:spcPts val="425"/>
              </a:spcBef>
            </a:pP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args</a:t>
            </a:r>
            <a:r>
              <a:rPr sz="1800" b="1" spc="-1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스키마</a:t>
            </a:r>
            <a:r>
              <a:rPr sz="1800" b="1" spc="-3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사용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6618" y="3572560"/>
            <a:ext cx="3649345" cy="2752090"/>
          </a:xfrm>
          <a:prstGeom prst="rect">
            <a:avLst/>
          </a:prstGeom>
          <a:solidFill>
            <a:srgbClr val="D1D1D1"/>
          </a:solidFill>
        </p:spPr>
        <p:txBody>
          <a:bodyPr vert="horz" wrap="square" lIns="0" tIns="40640" rIns="0" bIns="0" rtlCol="0">
            <a:spAutoFit/>
          </a:bodyPr>
          <a:lstStyle/>
          <a:p>
            <a:pPr marL="91440" marR="71120">
              <a:lnSpc>
                <a:spcPct val="100000"/>
              </a:lnSpc>
              <a:spcBef>
                <a:spcPts val="320"/>
              </a:spcBef>
            </a:pPr>
            <a:r>
              <a:rPr sz="900" spc="-10" dirty="0">
                <a:latin typeface="Consolas"/>
                <a:cs typeface="Consolas"/>
              </a:rPr>
              <a:t>{'url': </a:t>
            </a:r>
            <a:r>
              <a:rPr sz="900" spc="-10" dirty="0">
                <a:latin typeface="Consolas"/>
                <a:cs typeface="Consolas"/>
                <a:hlinkClick r:id="rId2"/>
              </a:rPr>
              <a:t>'</a:t>
            </a:r>
            <a:r>
              <a:rPr sz="9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onsolas"/>
                <a:cs typeface="Consolas"/>
                <a:hlinkClick r:id="rId2"/>
              </a:rPr>
              <a:t>https://blog.naver.com/PostView.nhn?blogId=cyahnnn&amp;lo</a:t>
            </a:r>
            <a:r>
              <a:rPr sz="900" u="none" spc="-10" dirty="0">
                <a:solidFill>
                  <a:srgbClr val="467885"/>
                </a:solidFill>
                <a:latin typeface="Consolas"/>
                <a:cs typeface="Consolas"/>
              </a:rPr>
              <a:t> </a:t>
            </a:r>
            <a:r>
              <a:rPr sz="9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onsolas"/>
                <a:cs typeface="Consolas"/>
                <a:hlinkClick r:id="rId2"/>
              </a:rPr>
              <a:t>gNo=222766631086</a:t>
            </a:r>
            <a:r>
              <a:rPr sz="900" u="none" spc="-10" dirty="0">
                <a:latin typeface="Consolas"/>
                <a:cs typeface="Consolas"/>
                <a:hlinkClick r:id="rId2"/>
              </a:rPr>
              <a:t>', </a:t>
            </a:r>
            <a:r>
              <a:rPr sz="900" u="none" dirty="0">
                <a:latin typeface="Consolas"/>
                <a:cs typeface="Consolas"/>
                <a:hlinkClick r:id="rId2"/>
              </a:rPr>
              <a:t>'content':</a:t>
            </a:r>
            <a:r>
              <a:rPr sz="900" u="none" spc="5" dirty="0">
                <a:latin typeface="Consolas"/>
                <a:cs typeface="Consolas"/>
                <a:hlinkClick r:id="rId2"/>
              </a:rPr>
              <a:t> </a:t>
            </a:r>
            <a:r>
              <a:rPr sz="900" u="none" dirty="0">
                <a:latin typeface="Consolas"/>
                <a:cs typeface="Consolas"/>
                <a:hlinkClick r:id="rId2"/>
              </a:rPr>
              <a:t>'</a:t>
            </a:r>
            <a:r>
              <a:rPr sz="900" u="none" dirty="0">
                <a:latin typeface="맑은 고딕"/>
                <a:cs typeface="맑은 고딕"/>
                <a:hlinkClick r:id="rId2"/>
              </a:rPr>
              <a:t>스테이크와</a:t>
            </a:r>
            <a:r>
              <a:rPr sz="900" u="none" spc="150" dirty="0">
                <a:latin typeface="맑은 고딕"/>
                <a:cs typeface="맑은 고딕"/>
                <a:hlinkClick r:id="rId2"/>
              </a:rPr>
              <a:t> </a:t>
            </a:r>
            <a:r>
              <a:rPr sz="900" u="none" dirty="0">
                <a:latin typeface="맑은 고딕"/>
                <a:cs typeface="맑은 고딕"/>
                <a:hlinkClick r:id="rId2"/>
              </a:rPr>
              <a:t>어울리는</a:t>
            </a:r>
            <a:r>
              <a:rPr sz="900" u="none" spc="170" dirty="0">
                <a:latin typeface="맑은 고딕"/>
                <a:cs typeface="맑은 고딕"/>
                <a:hlinkClick r:id="rId2"/>
              </a:rPr>
              <a:t> </a:t>
            </a:r>
            <a:r>
              <a:rPr sz="900" u="none" dirty="0">
                <a:latin typeface="맑은 고딕"/>
                <a:cs typeface="맑은 고딕"/>
                <a:hlinkClick r:id="rId2"/>
              </a:rPr>
              <a:t>와인</a:t>
            </a:r>
            <a:r>
              <a:rPr sz="900" u="none" spc="170" dirty="0">
                <a:latin typeface="맑은 고딕"/>
                <a:cs typeface="맑은 고딕"/>
              </a:rPr>
              <a:t> </a:t>
            </a:r>
            <a:r>
              <a:rPr sz="900" u="none" spc="-50" dirty="0">
                <a:latin typeface="Consolas"/>
                <a:cs typeface="Consolas"/>
              </a:rPr>
              <a:t>: </a:t>
            </a:r>
            <a:r>
              <a:rPr sz="900" u="none" dirty="0">
                <a:latin typeface="맑은 고딕"/>
                <a:cs typeface="맑은 고딕"/>
              </a:rPr>
              <a:t>네이버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블로그</a:t>
            </a:r>
            <a:r>
              <a:rPr sz="900" u="none" spc="16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변경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전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공유된</a:t>
            </a:r>
            <a:r>
              <a:rPr sz="900" u="none" spc="16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블로그</a:t>
            </a:r>
            <a:r>
              <a:rPr sz="900" u="none" dirty="0">
                <a:latin typeface="Consolas"/>
                <a:cs typeface="Consolas"/>
              </a:rPr>
              <a:t>/</a:t>
            </a:r>
            <a:r>
              <a:rPr sz="900" u="none" dirty="0">
                <a:latin typeface="맑은 고딕"/>
                <a:cs typeface="맑은 고딕"/>
              </a:rPr>
              <a:t>글</a:t>
            </a:r>
            <a:r>
              <a:rPr sz="900" u="none" dirty="0">
                <a:latin typeface="Consolas"/>
                <a:cs typeface="Consolas"/>
              </a:rPr>
              <a:t>/</a:t>
            </a:r>
            <a:r>
              <a:rPr sz="900" u="none" dirty="0">
                <a:latin typeface="맑은 고딕"/>
                <a:cs typeface="맑은 고딕"/>
              </a:rPr>
              <a:t>클립</a:t>
            </a:r>
            <a:r>
              <a:rPr sz="900" u="none" spc="18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링크는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spc="-25" dirty="0">
                <a:latin typeface="맑은 고딕"/>
                <a:cs typeface="맑은 고딕"/>
              </a:rPr>
              <a:t>연결이 </a:t>
            </a:r>
            <a:r>
              <a:rPr sz="900" u="none" dirty="0">
                <a:latin typeface="맑은 고딕"/>
                <a:cs typeface="맑은 고딕"/>
              </a:rPr>
              <a:t>끊길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수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있습니다</a:t>
            </a:r>
            <a:r>
              <a:rPr sz="900" u="none" dirty="0">
                <a:latin typeface="Consolas"/>
                <a:cs typeface="Consolas"/>
              </a:rPr>
              <a:t>.</a:t>
            </a:r>
            <a:r>
              <a:rPr sz="900" u="none" spc="10" dirty="0">
                <a:latin typeface="Consolas"/>
                <a:cs typeface="Consolas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블로그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블로그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블로그</a:t>
            </a:r>
            <a:r>
              <a:rPr sz="900" u="none" spc="17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블로그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카베르네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spc="-25" dirty="0">
                <a:latin typeface="맑은 고딕"/>
                <a:cs typeface="맑은 고딕"/>
              </a:rPr>
              <a:t>소비 </a:t>
            </a:r>
            <a:r>
              <a:rPr sz="900" u="none" dirty="0">
                <a:latin typeface="맑은 고딕"/>
                <a:cs typeface="맑은 고딕"/>
              </a:rPr>
              <a:t>뇽</a:t>
            </a:r>
            <a:r>
              <a:rPr sz="900" u="none" dirty="0">
                <a:latin typeface="Consolas"/>
                <a:cs typeface="Consolas"/>
              </a:rPr>
              <a:t>(Cabernet</a:t>
            </a:r>
            <a:r>
              <a:rPr sz="900" u="none" spc="-40" dirty="0">
                <a:latin typeface="Consolas"/>
                <a:cs typeface="Consolas"/>
              </a:rPr>
              <a:t> </a:t>
            </a:r>
            <a:r>
              <a:rPr sz="900" u="none" dirty="0">
                <a:latin typeface="Consolas"/>
                <a:cs typeface="Consolas"/>
              </a:rPr>
              <a:t>Sauvignon)</a:t>
            </a:r>
            <a:r>
              <a:rPr sz="900" u="none" spc="-30" dirty="0">
                <a:latin typeface="Consolas"/>
                <a:cs typeface="Consolas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및</a:t>
            </a:r>
            <a:r>
              <a:rPr sz="900" u="none" spc="9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말벡</a:t>
            </a:r>
            <a:r>
              <a:rPr sz="900" u="none" dirty="0">
                <a:latin typeface="Consolas"/>
                <a:cs typeface="Consolas"/>
              </a:rPr>
              <a:t>(Malbec)</a:t>
            </a:r>
            <a:r>
              <a:rPr sz="900" u="none" spc="-25" dirty="0">
                <a:latin typeface="Consolas"/>
                <a:cs typeface="Consolas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켓</a:t>
            </a:r>
            <a:r>
              <a:rPr sz="900" u="none" dirty="0">
                <a:latin typeface="Consolas"/>
                <a:cs typeface="Consolas"/>
              </a:rPr>
              <a:t>(Fiona</a:t>
            </a:r>
            <a:r>
              <a:rPr sz="900" u="none" spc="-50" dirty="0">
                <a:latin typeface="Consolas"/>
                <a:cs typeface="Consolas"/>
              </a:rPr>
              <a:t> </a:t>
            </a:r>
            <a:r>
              <a:rPr sz="900" u="none" spc="-10" dirty="0">
                <a:latin typeface="Consolas"/>
                <a:cs typeface="Consolas"/>
              </a:rPr>
              <a:t>Becket) </a:t>
            </a:r>
            <a:r>
              <a:rPr sz="900" u="none" dirty="0">
                <a:latin typeface="맑은 고딕"/>
                <a:cs typeface="맑은 고딕"/>
              </a:rPr>
              <a:t>이</a:t>
            </a:r>
            <a:r>
              <a:rPr sz="900" u="none" spc="17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Consolas"/>
                <a:cs typeface="Consolas"/>
              </a:rPr>
              <a:t>2007</a:t>
            </a:r>
            <a:r>
              <a:rPr sz="900" u="none" dirty="0">
                <a:latin typeface="맑은 고딕"/>
                <a:cs typeface="맑은 고딕"/>
              </a:rPr>
              <a:t>년</a:t>
            </a:r>
            <a:r>
              <a:rPr sz="900" u="none" spc="19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디캔터에서</a:t>
            </a:r>
            <a:r>
              <a:rPr sz="900" u="none" spc="17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스테이크와</a:t>
            </a:r>
            <a:r>
              <a:rPr sz="900" u="none" spc="15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함께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스테이크와</a:t>
            </a:r>
            <a:r>
              <a:rPr sz="900" u="none" spc="170" dirty="0">
                <a:latin typeface="맑은 고딕"/>
                <a:cs typeface="맑은 고딕"/>
              </a:rPr>
              <a:t> </a:t>
            </a:r>
            <a:r>
              <a:rPr sz="900" u="none" spc="-10" dirty="0">
                <a:latin typeface="맑은 고딕"/>
                <a:cs typeface="맑은 고딕"/>
              </a:rPr>
              <a:t>궁합이라고 </a:t>
            </a:r>
            <a:r>
              <a:rPr sz="900" u="none" dirty="0">
                <a:latin typeface="맑은 고딕"/>
                <a:cs typeface="맑은 고딕"/>
              </a:rPr>
              <a:t>생각하지</a:t>
            </a:r>
            <a:r>
              <a:rPr sz="900" u="none" spc="15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않지만</a:t>
            </a:r>
            <a:r>
              <a:rPr sz="900" u="none" dirty="0">
                <a:latin typeface="Consolas"/>
                <a:cs typeface="Consolas"/>
              </a:rPr>
              <a:t>,</a:t>
            </a:r>
            <a:r>
              <a:rPr sz="900" u="none" spc="-20" dirty="0">
                <a:latin typeface="Consolas"/>
                <a:cs typeface="Consolas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고기를</a:t>
            </a:r>
            <a:r>
              <a:rPr sz="900" u="none" spc="15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레어</a:t>
            </a:r>
            <a:r>
              <a:rPr sz="900" u="none" dirty="0">
                <a:latin typeface="Consolas"/>
                <a:cs typeface="Consolas"/>
              </a:rPr>
              <a:t>(rare)</a:t>
            </a:r>
            <a:r>
              <a:rPr sz="900" u="none" dirty="0">
                <a:latin typeface="맑은 고딕"/>
                <a:cs typeface="맑은 고딕"/>
              </a:rPr>
              <a:t>로</a:t>
            </a:r>
            <a:r>
              <a:rPr sz="900" u="none" spc="18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요리했을</a:t>
            </a:r>
            <a:r>
              <a:rPr sz="900" u="none" spc="15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때</a:t>
            </a:r>
            <a:r>
              <a:rPr sz="900" u="none" spc="155" dirty="0">
                <a:latin typeface="맑은 고딕"/>
                <a:cs typeface="맑은 고딕"/>
              </a:rPr>
              <a:t> </a:t>
            </a:r>
            <a:r>
              <a:rPr sz="900" u="none" spc="-20" dirty="0">
                <a:latin typeface="맑은 고딕"/>
                <a:cs typeface="맑은 고딕"/>
              </a:rPr>
              <a:t>지금까지 </a:t>
            </a:r>
            <a:r>
              <a:rPr sz="900" u="none" dirty="0">
                <a:latin typeface="맑은 고딕"/>
                <a:cs typeface="맑은 고딕"/>
              </a:rPr>
              <a:t>최고의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궁합은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클래식하게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실크처럼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부드럽고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매혹적인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spc="-25" dirty="0">
                <a:latin typeface="맑은 고딕"/>
                <a:cs typeface="맑은 고딕"/>
              </a:rPr>
              <a:t>다니엘 </a:t>
            </a:r>
            <a:r>
              <a:rPr sz="900" u="none" dirty="0">
                <a:latin typeface="맑은 고딕"/>
                <a:cs typeface="맑은 고딕"/>
              </a:rPr>
              <a:t>리옹의</a:t>
            </a:r>
            <a:r>
              <a:rPr sz="900" u="none" spc="14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본</a:t>
            </a:r>
            <a:r>
              <a:rPr sz="900" u="none" spc="12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로마네</a:t>
            </a:r>
            <a:r>
              <a:rPr sz="900" u="none" dirty="0">
                <a:latin typeface="Consolas"/>
                <a:cs typeface="Consolas"/>
              </a:rPr>
              <a:t>(Daniel</a:t>
            </a:r>
            <a:r>
              <a:rPr sz="900" u="none" spc="20" dirty="0">
                <a:latin typeface="Consolas"/>
                <a:cs typeface="Consolas"/>
              </a:rPr>
              <a:t> </a:t>
            </a:r>
            <a:r>
              <a:rPr sz="900" u="none" dirty="0">
                <a:latin typeface="Consolas"/>
                <a:cs typeface="Consolas"/>
              </a:rPr>
              <a:t>Rion,</a:t>
            </a:r>
            <a:r>
              <a:rPr sz="900" u="none" spc="-5" dirty="0">
                <a:latin typeface="Consolas"/>
                <a:cs typeface="Consolas"/>
              </a:rPr>
              <a:t> </a:t>
            </a:r>
            <a:r>
              <a:rPr sz="900" u="none" spc="-20" dirty="0">
                <a:latin typeface="Consolas"/>
                <a:cs typeface="Consolas"/>
              </a:rPr>
              <a:t>Vosne-</a:t>
            </a:r>
            <a:r>
              <a:rPr sz="900" u="none" dirty="0">
                <a:latin typeface="Consolas"/>
                <a:cs typeface="Consolas"/>
              </a:rPr>
              <a:t>Romanée</a:t>
            </a:r>
            <a:r>
              <a:rPr sz="900" u="none" spc="25" dirty="0">
                <a:latin typeface="Consolas"/>
                <a:cs typeface="Consolas"/>
              </a:rPr>
              <a:t> </a:t>
            </a:r>
            <a:r>
              <a:rPr sz="900" u="none" spc="-10" dirty="0">
                <a:latin typeface="Consolas"/>
                <a:cs typeface="Consolas"/>
              </a:rPr>
              <a:t>2001)</a:t>
            </a:r>
            <a:r>
              <a:rPr sz="900" u="none" spc="-10" dirty="0">
                <a:latin typeface="맑은 고딕"/>
                <a:cs typeface="맑은 고딕"/>
              </a:rPr>
              <a:t>이다’라 </a:t>
            </a:r>
            <a:r>
              <a:rPr sz="900" u="none" dirty="0">
                <a:latin typeface="맑은 고딕"/>
                <a:cs typeface="맑은 고딕"/>
              </a:rPr>
              <a:t>고</a:t>
            </a:r>
            <a:r>
              <a:rPr sz="900" u="none" spc="21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썼다</a:t>
            </a:r>
            <a:r>
              <a:rPr sz="900" u="none" dirty="0">
                <a:latin typeface="Consolas"/>
                <a:cs typeface="Consolas"/>
              </a:rPr>
              <a:t>.'}</a:t>
            </a:r>
            <a:r>
              <a:rPr sz="900" u="none" spc="60" dirty="0">
                <a:latin typeface="Consolas"/>
                <a:cs typeface="Consolas"/>
              </a:rPr>
              <a:t> </a:t>
            </a:r>
            <a:r>
              <a:rPr sz="900" u="none" spc="-15" dirty="0">
                <a:latin typeface="Consolas"/>
                <a:cs typeface="Consolas"/>
              </a:rPr>
              <a:t>------</a:t>
            </a:r>
            <a:r>
              <a:rPr sz="900" u="none" spc="-10" dirty="0">
                <a:latin typeface="Consolas"/>
                <a:cs typeface="Consolas"/>
              </a:rPr>
              <a:t>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15" dirty="0">
                <a:latin typeface="Consolas"/>
                <a:cs typeface="Consolas"/>
              </a:rPr>
              <a:t>-</a:t>
            </a:r>
            <a:r>
              <a:rPr sz="900" u="none" spc="-10" dirty="0">
                <a:latin typeface="Consolas"/>
                <a:cs typeface="Consolas"/>
              </a:rPr>
              <a:t>--</a:t>
            </a:r>
            <a:r>
              <a:rPr sz="900" u="none" spc="-50" dirty="0">
                <a:latin typeface="Consolas"/>
                <a:cs typeface="Consolas"/>
              </a:rPr>
              <a:t>-</a:t>
            </a:r>
            <a:endParaRPr sz="9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--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-</a:t>
            </a:r>
            <a:r>
              <a:rPr sz="900" spc="-50" dirty="0">
                <a:latin typeface="Consolas"/>
                <a:cs typeface="Consolas"/>
              </a:rPr>
              <a:t>-</a:t>
            </a:r>
            <a:endParaRPr sz="900">
              <a:latin typeface="Consolas"/>
              <a:cs typeface="Consolas"/>
            </a:endParaRPr>
          </a:p>
          <a:p>
            <a:pPr marL="91440" marR="120014">
              <a:lnSpc>
                <a:spcPct val="100000"/>
              </a:lnSpc>
            </a:pPr>
            <a:r>
              <a:rPr sz="900" spc="-15" dirty="0">
                <a:latin typeface="Consolas"/>
                <a:cs typeface="Consolas"/>
                <a:hlinkClick r:id="rId3"/>
              </a:rPr>
              <a:t>-</a:t>
            </a:r>
            <a:r>
              <a:rPr sz="900" dirty="0">
                <a:latin typeface="Consolas"/>
                <a:cs typeface="Consolas"/>
                <a:hlinkClick r:id="rId3"/>
              </a:rPr>
              <a:t>-</a:t>
            </a:r>
            <a:r>
              <a:rPr sz="900" spc="10" dirty="0">
                <a:latin typeface="Consolas"/>
                <a:cs typeface="Consolas"/>
                <a:hlinkClick r:id="rId3"/>
              </a:rPr>
              <a:t> </a:t>
            </a:r>
            <a:r>
              <a:rPr sz="900" dirty="0">
                <a:latin typeface="Consolas"/>
                <a:cs typeface="Consolas"/>
                <a:hlinkClick r:id="rId3"/>
              </a:rPr>
              <a:t>{'url':</a:t>
            </a:r>
            <a:r>
              <a:rPr sz="900" spc="15" dirty="0">
                <a:latin typeface="Consolas"/>
                <a:cs typeface="Consolas"/>
                <a:hlinkClick r:id="rId3"/>
              </a:rPr>
              <a:t> </a:t>
            </a:r>
            <a:r>
              <a:rPr sz="900" spc="-10" dirty="0">
                <a:latin typeface="Consolas"/>
                <a:cs typeface="Consolas"/>
                <a:hlinkClick r:id="rId3"/>
              </a:rPr>
              <a:t>'</a:t>
            </a:r>
            <a:r>
              <a:rPr sz="9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onsolas"/>
                <a:cs typeface="Consolas"/>
                <a:hlinkClick r:id="rId3"/>
              </a:rPr>
              <a:t>https://secrettsteaks.com/blog/steak-wine-</a:t>
            </a:r>
            <a:r>
              <a:rPr sz="900" u="none" spc="-10" dirty="0">
                <a:solidFill>
                  <a:srgbClr val="467885"/>
                </a:solidFill>
                <a:latin typeface="Consolas"/>
                <a:cs typeface="Consolas"/>
                <a:hlinkClick r:id="rId3"/>
              </a:rPr>
              <a:t> </a:t>
            </a:r>
            <a:r>
              <a:rPr sz="9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onsolas"/>
                <a:cs typeface="Consolas"/>
                <a:hlinkClick r:id="rId3"/>
              </a:rPr>
              <a:t>pairing.php</a:t>
            </a:r>
            <a:r>
              <a:rPr sz="900" u="none" dirty="0">
                <a:latin typeface="Consolas"/>
                <a:cs typeface="Consolas"/>
                <a:hlinkClick r:id="rId3"/>
              </a:rPr>
              <a:t>',</a:t>
            </a:r>
            <a:r>
              <a:rPr sz="900" u="none" spc="-5" dirty="0">
                <a:latin typeface="Consolas"/>
                <a:cs typeface="Consolas"/>
                <a:hlinkClick r:id="rId3"/>
              </a:rPr>
              <a:t> </a:t>
            </a:r>
            <a:r>
              <a:rPr sz="900" u="none" dirty="0">
                <a:latin typeface="Consolas"/>
                <a:cs typeface="Consolas"/>
                <a:hlinkClick r:id="rId3"/>
              </a:rPr>
              <a:t>'content':</a:t>
            </a:r>
            <a:r>
              <a:rPr sz="900" u="none" spc="15" dirty="0">
                <a:latin typeface="Consolas"/>
                <a:cs typeface="Consolas"/>
                <a:hlinkClick r:id="rId3"/>
              </a:rPr>
              <a:t> </a:t>
            </a:r>
            <a:r>
              <a:rPr sz="900" u="none" dirty="0">
                <a:latin typeface="Consolas"/>
                <a:cs typeface="Consolas"/>
                <a:hlinkClick r:id="rId3"/>
              </a:rPr>
              <a:t>'</a:t>
            </a:r>
            <a:r>
              <a:rPr sz="900" u="none" dirty="0">
                <a:latin typeface="맑은 고딕"/>
                <a:cs typeface="맑은 고딕"/>
                <a:hlinkClick r:id="rId3"/>
              </a:rPr>
              <a:t>스테이크와</a:t>
            </a:r>
            <a:r>
              <a:rPr sz="900" u="none" spc="135" dirty="0">
                <a:latin typeface="맑은 고딕"/>
                <a:cs typeface="맑은 고딕"/>
                <a:hlinkClick r:id="rId3"/>
              </a:rPr>
              <a:t> </a:t>
            </a:r>
            <a:r>
              <a:rPr sz="900" u="none" dirty="0">
                <a:latin typeface="맑은 고딕"/>
                <a:cs typeface="맑은 고딕"/>
                <a:hlinkClick r:id="rId3"/>
              </a:rPr>
              <a:t>가장</a:t>
            </a:r>
            <a:r>
              <a:rPr sz="900" u="none" spc="135" dirty="0">
                <a:latin typeface="맑은 고딕"/>
                <a:cs typeface="맑은 고딕"/>
                <a:hlinkClick r:id="rId3"/>
              </a:rPr>
              <a:t> </a:t>
            </a:r>
            <a:r>
              <a:rPr sz="900" u="none" dirty="0">
                <a:latin typeface="맑은 고딕"/>
                <a:cs typeface="맑은 고딕"/>
                <a:hlinkClick r:id="rId3"/>
              </a:rPr>
              <a:t>잘</a:t>
            </a:r>
            <a:r>
              <a:rPr sz="900" u="none" spc="120" dirty="0">
                <a:latin typeface="맑은 고딕"/>
                <a:cs typeface="맑은 고딕"/>
                <a:hlinkClick r:id="rId3"/>
              </a:rPr>
              <a:t> </a:t>
            </a:r>
            <a:r>
              <a:rPr sz="900" u="none" dirty="0">
                <a:latin typeface="맑은 고딕"/>
                <a:cs typeface="맑은 고딕"/>
                <a:hlinkClick r:id="rId3"/>
              </a:rPr>
              <a:t>어울리는</a:t>
            </a:r>
            <a:r>
              <a:rPr sz="900" u="none" spc="135" dirty="0">
                <a:latin typeface="맑은 고딕"/>
                <a:cs typeface="맑은 고딕"/>
                <a:hlinkClick r:id="rId3"/>
              </a:rPr>
              <a:t> </a:t>
            </a:r>
            <a:r>
              <a:rPr sz="900" u="none" spc="-50" dirty="0">
                <a:latin typeface="맑은 고딕"/>
                <a:cs typeface="맑은 고딕"/>
                <a:hlinkClick r:id="rId3"/>
              </a:rPr>
              <a:t>와</a:t>
            </a:r>
            <a:r>
              <a:rPr sz="900" u="none" spc="-5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인을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추천해드리며</a:t>
            </a:r>
            <a:r>
              <a:rPr sz="900" u="none" dirty="0">
                <a:latin typeface="Consolas"/>
                <a:cs typeface="Consolas"/>
              </a:rPr>
              <a:t>,</a:t>
            </a:r>
            <a:r>
              <a:rPr sz="900" u="none" spc="5" dirty="0">
                <a:latin typeface="Consolas"/>
                <a:cs typeface="Consolas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어떤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와인이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여러분의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식사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경험을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한층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spc="-50" dirty="0">
                <a:latin typeface="맑은 고딕"/>
                <a:cs typeface="맑은 고딕"/>
              </a:rPr>
              <a:t>더 </a:t>
            </a:r>
            <a:r>
              <a:rPr sz="900" u="none" dirty="0">
                <a:latin typeface="맑은 고딕"/>
                <a:cs typeface="맑은 고딕"/>
              </a:rPr>
              <a:t>업그레이드할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수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있을지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알아보겠습니다</a:t>
            </a:r>
            <a:r>
              <a:rPr sz="900" u="none" dirty="0">
                <a:latin typeface="Consolas"/>
                <a:cs typeface="Consolas"/>
              </a:rPr>
              <a:t>. </a:t>
            </a:r>
            <a:r>
              <a:rPr sz="900" u="none" dirty="0">
                <a:latin typeface="맑은 고딕"/>
                <a:cs typeface="맑은 고딕"/>
              </a:rPr>
              <a:t>첫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번째로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spc="-20" dirty="0">
                <a:latin typeface="맑은 고딕"/>
                <a:cs typeface="맑은 고딕"/>
              </a:rPr>
              <a:t>추천하는 </a:t>
            </a:r>
            <a:r>
              <a:rPr sz="900" u="none" dirty="0">
                <a:latin typeface="맑은 고딕"/>
                <a:cs typeface="맑은 고딕"/>
              </a:rPr>
              <a:t>와인은</a:t>
            </a:r>
            <a:r>
              <a:rPr sz="900" u="none" spc="114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카베르네</a:t>
            </a:r>
            <a:r>
              <a:rPr sz="900" u="none" spc="10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소비뇽</a:t>
            </a:r>
            <a:r>
              <a:rPr sz="900" u="none" dirty="0">
                <a:latin typeface="Consolas"/>
                <a:cs typeface="Consolas"/>
              </a:rPr>
              <a:t>(Cabernet</a:t>
            </a:r>
            <a:r>
              <a:rPr sz="900" u="none" spc="-5" dirty="0">
                <a:latin typeface="Consolas"/>
                <a:cs typeface="Consolas"/>
              </a:rPr>
              <a:t> </a:t>
            </a:r>
            <a:r>
              <a:rPr sz="900" u="none" dirty="0">
                <a:latin typeface="Consolas"/>
                <a:cs typeface="Consolas"/>
              </a:rPr>
              <a:t>Sauvignon)</a:t>
            </a:r>
            <a:r>
              <a:rPr sz="900" u="none" dirty="0">
                <a:latin typeface="맑은 고딕"/>
                <a:cs typeface="맑은 고딕"/>
              </a:rPr>
              <a:t>입니다</a:t>
            </a:r>
            <a:r>
              <a:rPr sz="900" u="none" dirty="0">
                <a:latin typeface="Consolas"/>
                <a:cs typeface="Consolas"/>
              </a:rPr>
              <a:t>.'}</a:t>
            </a:r>
            <a:r>
              <a:rPr sz="900" u="none" spc="-15" dirty="0">
                <a:latin typeface="Consolas"/>
                <a:cs typeface="Consolas"/>
              </a:rPr>
              <a:t> ---</a:t>
            </a:r>
            <a:r>
              <a:rPr sz="900" u="none" spc="-50" dirty="0">
                <a:latin typeface="Consolas"/>
                <a:cs typeface="Consolas"/>
              </a:rPr>
              <a:t>-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08894" y="1969198"/>
            <a:ext cx="3955415" cy="4645660"/>
            <a:chOff x="4108894" y="1969198"/>
            <a:chExt cx="3955415" cy="4645660"/>
          </a:xfrm>
        </p:grpSpPr>
        <p:sp>
          <p:nvSpPr>
            <p:cNvPr id="13" name="object 13"/>
            <p:cNvSpPr/>
            <p:nvPr/>
          </p:nvSpPr>
          <p:spPr>
            <a:xfrm>
              <a:off x="4113657" y="1973960"/>
              <a:ext cx="3945890" cy="4636135"/>
            </a:xfrm>
            <a:custGeom>
              <a:avLst/>
              <a:gdLst/>
              <a:ahLst/>
              <a:cxnLst/>
              <a:rect l="l" t="t" r="r" b="b"/>
              <a:pathLst>
                <a:path w="3945890" h="4636134">
                  <a:moveTo>
                    <a:pt x="0" y="217042"/>
                  </a:moveTo>
                  <a:lnTo>
                    <a:pt x="5731" y="167271"/>
                  </a:lnTo>
                  <a:lnTo>
                    <a:pt x="22057" y="121584"/>
                  </a:lnTo>
                  <a:lnTo>
                    <a:pt x="47676" y="81285"/>
                  </a:lnTo>
                  <a:lnTo>
                    <a:pt x="81285" y="47676"/>
                  </a:lnTo>
                  <a:lnTo>
                    <a:pt x="121584" y="22057"/>
                  </a:lnTo>
                  <a:lnTo>
                    <a:pt x="167271" y="5731"/>
                  </a:lnTo>
                  <a:lnTo>
                    <a:pt x="217042" y="0"/>
                  </a:lnTo>
                  <a:lnTo>
                    <a:pt x="3728719" y="0"/>
                  </a:lnTo>
                  <a:lnTo>
                    <a:pt x="3778498" y="5731"/>
                  </a:lnTo>
                  <a:lnTo>
                    <a:pt x="3824203" y="22057"/>
                  </a:lnTo>
                  <a:lnTo>
                    <a:pt x="3864527" y="47676"/>
                  </a:lnTo>
                  <a:lnTo>
                    <a:pt x="3898163" y="81285"/>
                  </a:lnTo>
                  <a:lnTo>
                    <a:pt x="3923807" y="121584"/>
                  </a:lnTo>
                  <a:lnTo>
                    <a:pt x="3940151" y="167271"/>
                  </a:lnTo>
                  <a:lnTo>
                    <a:pt x="3945890" y="217042"/>
                  </a:lnTo>
                  <a:lnTo>
                    <a:pt x="3945890" y="4418939"/>
                  </a:lnTo>
                  <a:lnTo>
                    <a:pt x="3940151" y="4468708"/>
                  </a:lnTo>
                  <a:lnTo>
                    <a:pt x="3923807" y="4514394"/>
                  </a:lnTo>
                  <a:lnTo>
                    <a:pt x="3898163" y="4554696"/>
                  </a:lnTo>
                  <a:lnTo>
                    <a:pt x="3864527" y="4588310"/>
                  </a:lnTo>
                  <a:lnTo>
                    <a:pt x="3824203" y="4613933"/>
                  </a:lnTo>
                  <a:lnTo>
                    <a:pt x="3778498" y="4630262"/>
                  </a:lnTo>
                  <a:lnTo>
                    <a:pt x="3728719" y="4635995"/>
                  </a:lnTo>
                  <a:lnTo>
                    <a:pt x="217042" y="4635995"/>
                  </a:lnTo>
                  <a:lnTo>
                    <a:pt x="167271" y="4630262"/>
                  </a:lnTo>
                  <a:lnTo>
                    <a:pt x="121584" y="4613933"/>
                  </a:lnTo>
                  <a:lnTo>
                    <a:pt x="81285" y="4588310"/>
                  </a:lnTo>
                  <a:lnTo>
                    <a:pt x="47676" y="4554696"/>
                  </a:lnTo>
                  <a:lnTo>
                    <a:pt x="22057" y="4514394"/>
                  </a:lnTo>
                  <a:lnTo>
                    <a:pt x="5731" y="4468708"/>
                  </a:lnTo>
                  <a:lnTo>
                    <a:pt x="0" y="4418939"/>
                  </a:lnTo>
                  <a:lnTo>
                    <a:pt x="0" y="217042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30392" y="2585973"/>
              <a:ext cx="756285" cy="178435"/>
            </a:xfrm>
            <a:custGeom>
              <a:avLst/>
              <a:gdLst/>
              <a:ahLst/>
              <a:cxnLst/>
              <a:rect l="l" t="t" r="r" b="b"/>
              <a:pathLst>
                <a:path w="756284" h="178435">
                  <a:moveTo>
                    <a:pt x="755904" y="0"/>
                  </a:moveTo>
                  <a:lnTo>
                    <a:pt x="0" y="0"/>
                  </a:lnTo>
                  <a:lnTo>
                    <a:pt x="0" y="178308"/>
                  </a:lnTo>
                  <a:lnTo>
                    <a:pt x="755904" y="178308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324096" y="2352789"/>
            <a:ext cx="3649345" cy="1142365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1440" marR="1194435">
              <a:lnSpc>
                <a:spcPct val="100000"/>
              </a:lnSpc>
              <a:spcBef>
                <a:spcPts val="290"/>
              </a:spcBef>
            </a:pPr>
            <a:r>
              <a:rPr sz="1200" dirty="0">
                <a:latin typeface="Consolas"/>
                <a:cs typeface="Consolas"/>
              </a:rPr>
              <a:t>tool_message</a:t>
            </a:r>
            <a:r>
              <a:rPr sz="1200" spc="-75" dirty="0">
                <a:latin typeface="Consolas"/>
                <a:cs typeface="Consolas"/>
              </a:rPr>
              <a:t> </a:t>
            </a:r>
            <a:r>
              <a:rPr sz="1200" spc="-50" dirty="0">
                <a:latin typeface="Consolas"/>
                <a:cs typeface="Consolas"/>
              </a:rPr>
              <a:t>= </a:t>
            </a:r>
            <a:r>
              <a:rPr sz="1200" spc="-10" dirty="0">
                <a:latin typeface="Consolas"/>
                <a:cs typeface="Consolas"/>
              </a:rPr>
              <a:t>web_search.invoke(tool_call)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48175" y="1805228"/>
            <a:ext cx="3277235" cy="391160"/>
          </a:xfrm>
          <a:custGeom>
            <a:avLst/>
            <a:gdLst/>
            <a:ahLst/>
            <a:cxnLst/>
            <a:rect l="l" t="t" r="r" b="b"/>
            <a:pathLst>
              <a:path w="3277234" h="391160">
                <a:moveTo>
                  <a:pt x="3276854" y="0"/>
                </a:moveTo>
                <a:lnTo>
                  <a:pt x="0" y="0"/>
                </a:lnTo>
                <a:lnTo>
                  <a:pt x="0" y="390982"/>
                </a:lnTo>
                <a:lnTo>
                  <a:pt x="3276854" y="390982"/>
                </a:lnTo>
                <a:lnTo>
                  <a:pt x="3276854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448175" y="1805228"/>
            <a:ext cx="3277235" cy="3911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922655">
              <a:lnSpc>
                <a:spcPct val="100000"/>
              </a:lnSpc>
              <a:spcBef>
                <a:spcPts val="425"/>
              </a:spcBef>
            </a:pP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tool_call</a:t>
            </a:r>
            <a:r>
              <a:rPr sz="1800" b="1" spc="-4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사용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324096" y="3572560"/>
            <a:ext cx="3649345" cy="2752090"/>
          </a:xfrm>
          <a:custGeom>
            <a:avLst/>
            <a:gdLst/>
            <a:ahLst/>
            <a:cxnLst/>
            <a:rect l="l" t="t" r="r" b="b"/>
            <a:pathLst>
              <a:path w="3649345" h="2752090">
                <a:moveTo>
                  <a:pt x="3648963" y="0"/>
                </a:moveTo>
                <a:lnTo>
                  <a:pt x="0" y="0"/>
                </a:lnTo>
                <a:lnTo>
                  <a:pt x="0" y="2751582"/>
                </a:lnTo>
                <a:lnTo>
                  <a:pt x="3648963" y="2751582"/>
                </a:lnTo>
                <a:lnTo>
                  <a:pt x="3648963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403216" y="3600450"/>
            <a:ext cx="3504565" cy="2632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onsolas"/>
                <a:cs typeface="Consolas"/>
              </a:rPr>
              <a:t>ToolMessage(content='[{"url": "https://secrettsteaks.com/blog/steak-</a:t>
            </a:r>
            <a:r>
              <a:rPr sz="900" spc="-20" dirty="0">
                <a:latin typeface="Consolas"/>
                <a:cs typeface="Consolas"/>
              </a:rPr>
              <a:t>wine- </a:t>
            </a:r>
            <a:r>
              <a:rPr sz="900" dirty="0">
                <a:latin typeface="Consolas"/>
                <a:cs typeface="Consolas"/>
              </a:rPr>
              <a:t>pairing.php",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"content":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"</a:t>
            </a:r>
            <a:r>
              <a:rPr sz="900" dirty="0">
                <a:latin typeface="맑은 고딕"/>
                <a:cs typeface="맑은 고딕"/>
              </a:rPr>
              <a:t>풍미를</a:t>
            </a:r>
            <a:r>
              <a:rPr sz="900" spc="105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보기</a:t>
            </a:r>
            <a:r>
              <a:rPr sz="900" dirty="0">
                <a:latin typeface="Consolas"/>
                <a:cs typeface="Consolas"/>
              </a:rPr>
              <a:t>"},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{"url": "https://blog.naver.com/PostView.nhn?blogId=cyahnnn&amp;lo gNo=222766631086", </a:t>
            </a:r>
            <a:r>
              <a:rPr sz="900" dirty="0">
                <a:latin typeface="Consolas"/>
                <a:cs typeface="Consolas"/>
              </a:rPr>
              <a:t>"content":</a:t>
            </a:r>
            <a:r>
              <a:rPr sz="900" spc="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"</a:t>
            </a:r>
            <a:r>
              <a:rPr sz="900" dirty="0">
                <a:latin typeface="맑은 고딕"/>
                <a:cs typeface="맑은 고딕"/>
              </a:rPr>
              <a:t>스테이크와</a:t>
            </a:r>
            <a:r>
              <a:rPr sz="900" spc="155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어울리는</a:t>
            </a:r>
            <a:r>
              <a:rPr sz="900" spc="165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와인</a:t>
            </a:r>
            <a:r>
              <a:rPr sz="900" spc="170" dirty="0">
                <a:latin typeface="맑은 고딕"/>
                <a:cs typeface="맑은 고딕"/>
              </a:rPr>
              <a:t> </a:t>
            </a:r>
            <a:r>
              <a:rPr sz="900" spc="-50" dirty="0">
                <a:latin typeface="Consolas"/>
                <a:cs typeface="Consolas"/>
              </a:rPr>
              <a:t>: </a:t>
            </a:r>
            <a:r>
              <a:rPr sz="900" dirty="0">
                <a:latin typeface="맑은 고딕"/>
                <a:cs typeface="맑은 고딕"/>
              </a:rPr>
              <a:t>블로그</a:t>
            </a:r>
            <a:r>
              <a:rPr sz="900" spc="130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썼다</a:t>
            </a:r>
            <a:r>
              <a:rPr sz="900" dirty="0">
                <a:latin typeface="Consolas"/>
                <a:cs typeface="Consolas"/>
              </a:rPr>
              <a:t>."}]', </a:t>
            </a:r>
            <a:r>
              <a:rPr sz="900" spc="-10" dirty="0">
                <a:latin typeface="Consolas"/>
                <a:cs typeface="Consolas"/>
              </a:rPr>
              <a:t>name='tavily_search_results_json', tool_call_id='call_5lPOU0gWyOJXqVR5PZsY6uPa', </a:t>
            </a:r>
            <a:r>
              <a:rPr sz="900" dirty="0">
                <a:latin typeface="Consolas"/>
                <a:cs typeface="Consolas"/>
              </a:rPr>
              <a:t>artifact={'query':</a:t>
            </a:r>
            <a:r>
              <a:rPr sz="900" spc="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</a:t>
            </a:r>
            <a:r>
              <a:rPr sz="900" dirty="0">
                <a:latin typeface="맑은 고딕"/>
                <a:cs typeface="맑은 고딕"/>
              </a:rPr>
              <a:t>스테이크에</a:t>
            </a:r>
            <a:r>
              <a:rPr sz="900" spc="140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어울리는</a:t>
            </a:r>
            <a:r>
              <a:rPr sz="900" spc="140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와인</a:t>
            </a:r>
            <a:r>
              <a:rPr sz="900" spc="135" dirty="0">
                <a:latin typeface="맑은 고딕"/>
                <a:cs typeface="맑은 고딕"/>
              </a:rPr>
              <a:t> </a:t>
            </a:r>
            <a:r>
              <a:rPr sz="900" spc="-20" dirty="0">
                <a:latin typeface="맑은 고딕"/>
                <a:cs typeface="맑은 고딕"/>
              </a:rPr>
              <a:t>추천</a:t>
            </a:r>
            <a:r>
              <a:rPr sz="900" spc="-20" dirty="0">
                <a:latin typeface="Consolas"/>
                <a:cs typeface="Consolas"/>
              </a:rPr>
              <a:t>', </a:t>
            </a:r>
            <a:r>
              <a:rPr sz="900" spc="-10" dirty="0">
                <a:latin typeface="Consolas"/>
                <a:cs typeface="Consolas"/>
              </a:rPr>
              <a:t>'follow_up_questions':</a:t>
            </a:r>
            <a:r>
              <a:rPr sz="900" spc="-2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None,</a:t>
            </a:r>
            <a:r>
              <a:rPr sz="900" spc="-2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'answer':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None,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'images': </a:t>
            </a:r>
            <a:r>
              <a:rPr sz="900" dirty="0">
                <a:latin typeface="Consolas"/>
                <a:cs typeface="Consolas"/>
              </a:rPr>
              <a:t>[],</a:t>
            </a:r>
            <a:r>
              <a:rPr sz="900" spc="-2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'results':</a:t>
            </a:r>
            <a:r>
              <a:rPr sz="900" spc="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[{'title':</a:t>
            </a:r>
            <a:r>
              <a:rPr sz="900" spc="-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</a:t>
            </a:r>
            <a:r>
              <a:rPr sz="900" dirty="0">
                <a:latin typeface="맑은 고딕"/>
                <a:cs typeface="맑은 고딕"/>
              </a:rPr>
              <a:t>스테이크와</a:t>
            </a:r>
            <a:r>
              <a:rPr sz="900" spc="140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어울리는</a:t>
            </a:r>
            <a:r>
              <a:rPr sz="900" spc="120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와인</a:t>
            </a:r>
            <a:r>
              <a:rPr sz="900" spc="135" dirty="0">
                <a:latin typeface="맑은 고딕"/>
                <a:cs typeface="맑은 고딕"/>
              </a:rPr>
              <a:t> </a:t>
            </a:r>
            <a:r>
              <a:rPr sz="900" spc="-25" dirty="0">
                <a:latin typeface="맑은 고딕"/>
                <a:cs typeface="맑은 고딕"/>
              </a:rPr>
              <a:t>추천</a:t>
            </a:r>
            <a:endParaRPr sz="900">
              <a:latin typeface="맑은 고딕"/>
              <a:cs typeface="맑은 고딕"/>
            </a:endParaRPr>
          </a:p>
          <a:p>
            <a:pPr marL="12700" marR="5080">
              <a:lnSpc>
                <a:spcPct val="100000"/>
              </a:lnSpc>
            </a:pPr>
            <a:r>
              <a:rPr sz="900" dirty="0">
                <a:latin typeface="Consolas"/>
                <a:cs typeface="Consolas"/>
              </a:rPr>
              <a:t>-</a:t>
            </a:r>
            <a:r>
              <a:rPr sz="900" spc="1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secrettsteaks.com',</a:t>
            </a:r>
            <a:r>
              <a:rPr sz="900" spc="1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'url': 'https://secrettsteaks.com/blog/steak-</a:t>
            </a:r>
            <a:r>
              <a:rPr sz="900" spc="-20" dirty="0">
                <a:latin typeface="Consolas"/>
                <a:cs typeface="Consolas"/>
              </a:rPr>
              <a:t>wine- </a:t>
            </a:r>
            <a:r>
              <a:rPr sz="900" dirty="0">
                <a:latin typeface="Consolas"/>
                <a:cs typeface="Consolas"/>
              </a:rPr>
              <a:t>pairing.php',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'content':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</a:t>
            </a:r>
            <a:r>
              <a:rPr sz="900" dirty="0">
                <a:latin typeface="맑은 고딕"/>
                <a:cs typeface="맑은 고딕"/>
              </a:rPr>
              <a:t>스테이크와</a:t>
            </a:r>
            <a:r>
              <a:rPr sz="900" spc="110" dirty="0">
                <a:latin typeface="맑은 고딕"/>
                <a:cs typeface="맑은 고딕"/>
              </a:rPr>
              <a:t> </a:t>
            </a:r>
            <a:r>
              <a:rPr sz="900" dirty="0">
                <a:latin typeface="Consolas"/>
                <a:cs typeface="Consolas"/>
              </a:rPr>
              <a:t>',</a:t>
            </a:r>
            <a:r>
              <a:rPr sz="900" spc="-6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'score': </a:t>
            </a:r>
            <a:r>
              <a:rPr sz="900" dirty="0">
                <a:latin typeface="Consolas"/>
                <a:cs typeface="Consolas"/>
              </a:rPr>
              <a:t>0.9998074,</a:t>
            </a:r>
            <a:r>
              <a:rPr sz="900" spc="-8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'raw_content':</a:t>
            </a:r>
            <a:r>
              <a:rPr sz="900" spc="-7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None},</a:t>
            </a:r>
            <a:r>
              <a:rPr sz="900" spc="-7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{'title':</a:t>
            </a:r>
            <a:r>
              <a:rPr sz="900" spc="-5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'</a:t>
            </a:r>
            <a:r>
              <a:rPr sz="900" spc="-10" dirty="0">
                <a:latin typeface="맑은 고딕"/>
                <a:cs typeface="맑은 고딕"/>
              </a:rPr>
              <a:t>스테이크와 </a:t>
            </a:r>
            <a:r>
              <a:rPr sz="900" dirty="0">
                <a:latin typeface="맑은 고딕"/>
                <a:cs typeface="맑은 고딕"/>
              </a:rPr>
              <a:t>어울리는</a:t>
            </a:r>
            <a:r>
              <a:rPr sz="900" spc="160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와인</a:t>
            </a:r>
            <a:r>
              <a:rPr sz="900" spc="155" dirty="0">
                <a:latin typeface="맑은 고딕"/>
                <a:cs typeface="맑은 고딕"/>
              </a:rPr>
              <a:t> </a:t>
            </a:r>
            <a:r>
              <a:rPr sz="900" dirty="0">
                <a:latin typeface="Consolas"/>
                <a:cs typeface="Consolas"/>
              </a:rPr>
              <a:t>:</a:t>
            </a:r>
            <a:r>
              <a:rPr sz="900" spc="5" dirty="0">
                <a:latin typeface="Consolas"/>
                <a:cs typeface="Consolas"/>
              </a:rPr>
              <a:t> </a:t>
            </a:r>
            <a:r>
              <a:rPr sz="900" dirty="0">
                <a:latin typeface="맑은 고딕"/>
                <a:cs typeface="맑은 고딕"/>
              </a:rPr>
              <a:t>네이버</a:t>
            </a:r>
            <a:r>
              <a:rPr sz="900" spc="155" dirty="0">
                <a:latin typeface="맑은 고딕"/>
                <a:cs typeface="맑은 고딕"/>
              </a:rPr>
              <a:t> </a:t>
            </a:r>
            <a:r>
              <a:rPr sz="900" dirty="0">
                <a:latin typeface="Consolas"/>
                <a:cs typeface="Consolas"/>
              </a:rPr>
              <a:t>...</a:t>
            </a:r>
            <a:r>
              <a:rPr sz="900" spc="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-</a:t>
            </a:r>
            <a:r>
              <a:rPr sz="900" spc="-5" dirty="0">
                <a:latin typeface="Consolas"/>
                <a:cs typeface="Consolas"/>
              </a:rPr>
              <a:t> </a:t>
            </a:r>
            <a:r>
              <a:rPr sz="900" dirty="0">
                <a:latin typeface="맑은 고딕"/>
                <a:cs typeface="맑은 고딕"/>
              </a:rPr>
              <a:t>네이버</a:t>
            </a:r>
            <a:r>
              <a:rPr sz="900" spc="170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블로그</a:t>
            </a:r>
            <a:r>
              <a:rPr sz="900" dirty="0">
                <a:latin typeface="Consolas"/>
                <a:cs typeface="Consolas"/>
              </a:rPr>
              <a:t>',</a:t>
            </a:r>
            <a:r>
              <a:rPr sz="900" spc="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'url': 'https://blog.naver.com/PostView.nhn?blogId=cyahnnn&amp;lo gNo=222766631086', </a:t>
            </a:r>
            <a:r>
              <a:rPr sz="900" dirty="0">
                <a:latin typeface="Consolas"/>
                <a:cs typeface="Consolas"/>
              </a:rPr>
              <a:t>'content':</a:t>
            </a:r>
            <a:r>
              <a:rPr sz="900" spc="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</a:t>
            </a:r>
            <a:r>
              <a:rPr sz="900" dirty="0">
                <a:latin typeface="맑은 고딕"/>
                <a:cs typeface="맑은 고딕"/>
              </a:rPr>
              <a:t>스테이크와</a:t>
            </a:r>
            <a:r>
              <a:rPr sz="900" spc="155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어울리는</a:t>
            </a:r>
            <a:r>
              <a:rPr sz="900" spc="165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와인</a:t>
            </a:r>
            <a:r>
              <a:rPr sz="900" spc="170" dirty="0">
                <a:latin typeface="맑은 고딕"/>
                <a:cs typeface="맑은 고딕"/>
              </a:rPr>
              <a:t> </a:t>
            </a:r>
            <a:r>
              <a:rPr sz="900" spc="-50" dirty="0">
                <a:latin typeface="Consolas"/>
                <a:cs typeface="Consolas"/>
              </a:rPr>
              <a:t>: </a:t>
            </a:r>
            <a:r>
              <a:rPr sz="900" dirty="0">
                <a:latin typeface="맑은 고딕"/>
                <a:cs typeface="맑은 고딕"/>
              </a:rPr>
              <a:t>스테이크와</a:t>
            </a:r>
            <a:r>
              <a:rPr sz="900" spc="135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궁합이라고</a:t>
            </a:r>
            <a:r>
              <a:rPr sz="900" spc="135" dirty="0">
                <a:latin typeface="맑은 고딕"/>
                <a:cs typeface="맑은 고딕"/>
              </a:rPr>
              <a:t> </a:t>
            </a:r>
            <a:r>
              <a:rPr sz="900" dirty="0">
                <a:latin typeface="맑은 고딕"/>
                <a:cs typeface="맑은 고딕"/>
              </a:rPr>
              <a:t>썼다</a:t>
            </a:r>
            <a:r>
              <a:rPr sz="900" dirty="0">
                <a:latin typeface="Consolas"/>
                <a:cs typeface="Consolas"/>
              </a:rPr>
              <a:t>.',</a:t>
            </a:r>
            <a:r>
              <a:rPr sz="900" spc="-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'score':</a:t>
            </a:r>
            <a:r>
              <a:rPr sz="900" spc="2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0.99961853, </a:t>
            </a:r>
            <a:r>
              <a:rPr sz="900" dirty="0">
                <a:latin typeface="Consolas"/>
                <a:cs typeface="Consolas"/>
              </a:rPr>
              <a:t>'raw_content':</a:t>
            </a:r>
            <a:r>
              <a:rPr sz="900" spc="-10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None}],</a:t>
            </a:r>
            <a:r>
              <a:rPr sz="900" spc="-9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'response_time':</a:t>
            </a:r>
            <a:r>
              <a:rPr sz="900" spc="-9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1.84})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170481" y="1969198"/>
            <a:ext cx="3955415" cy="4645660"/>
            <a:chOff x="8170481" y="1969198"/>
            <a:chExt cx="3955415" cy="4645660"/>
          </a:xfrm>
        </p:grpSpPr>
        <p:sp>
          <p:nvSpPr>
            <p:cNvPr id="21" name="object 21"/>
            <p:cNvSpPr/>
            <p:nvPr/>
          </p:nvSpPr>
          <p:spPr>
            <a:xfrm>
              <a:off x="8175243" y="1973960"/>
              <a:ext cx="3945890" cy="4636135"/>
            </a:xfrm>
            <a:custGeom>
              <a:avLst/>
              <a:gdLst/>
              <a:ahLst/>
              <a:cxnLst/>
              <a:rect l="l" t="t" r="r" b="b"/>
              <a:pathLst>
                <a:path w="3945890" h="4636134">
                  <a:moveTo>
                    <a:pt x="0" y="217042"/>
                  </a:moveTo>
                  <a:lnTo>
                    <a:pt x="5731" y="167271"/>
                  </a:lnTo>
                  <a:lnTo>
                    <a:pt x="22057" y="121584"/>
                  </a:lnTo>
                  <a:lnTo>
                    <a:pt x="47676" y="81285"/>
                  </a:lnTo>
                  <a:lnTo>
                    <a:pt x="81285" y="47676"/>
                  </a:lnTo>
                  <a:lnTo>
                    <a:pt x="121584" y="22057"/>
                  </a:lnTo>
                  <a:lnTo>
                    <a:pt x="167271" y="5731"/>
                  </a:lnTo>
                  <a:lnTo>
                    <a:pt x="217042" y="0"/>
                  </a:lnTo>
                  <a:lnTo>
                    <a:pt x="3728847" y="0"/>
                  </a:lnTo>
                  <a:lnTo>
                    <a:pt x="3778618" y="5731"/>
                  </a:lnTo>
                  <a:lnTo>
                    <a:pt x="3824305" y="22057"/>
                  </a:lnTo>
                  <a:lnTo>
                    <a:pt x="3864604" y="47676"/>
                  </a:lnTo>
                  <a:lnTo>
                    <a:pt x="3898213" y="81285"/>
                  </a:lnTo>
                  <a:lnTo>
                    <a:pt x="3923832" y="121584"/>
                  </a:lnTo>
                  <a:lnTo>
                    <a:pt x="3940158" y="167271"/>
                  </a:lnTo>
                  <a:lnTo>
                    <a:pt x="3945889" y="217042"/>
                  </a:lnTo>
                  <a:lnTo>
                    <a:pt x="3945889" y="4418939"/>
                  </a:lnTo>
                  <a:lnTo>
                    <a:pt x="3940158" y="4468708"/>
                  </a:lnTo>
                  <a:lnTo>
                    <a:pt x="3923832" y="4514394"/>
                  </a:lnTo>
                  <a:lnTo>
                    <a:pt x="3898213" y="4554696"/>
                  </a:lnTo>
                  <a:lnTo>
                    <a:pt x="3864604" y="4588310"/>
                  </a:lnTo>
                  <a:lnTo>
                    <a:pt x="3824305" y="4613933"/>
                  </a:lnTo>
                  <a:lnTo>
                    <a:pt x="3778618" y="4630262"/>
                  </a:lnTo>
                  <a:lnTo>
                    <a:pt x="3728847" y="4635995"/>
                  </a:lnTo>
                  <a:lnTo>
                    <a:pt x="217042" y="4635995"/>
                  </a:lnTo>
                  <a:lnTo>
                    <a:pt x="167271" y="4630262"/>
                  </a:lnTo>
                  <a:lnTo>
                    <a:pt x="121584" y="4613933"/>
                  </a:lnTo>
                  <a:lnTo>
                    <a:pt x="81285" y="4588310"/>
                  </a:lnTo>
                  <a:lnTo>
                    <a:pt x="47676" y="4554696"/>
                  </a:lnTo>
                  <a:lnTo>
                    <a:pt x="22057" y="4514394"/>
                  </a:lnTo>
                  <a:lnTo>
                    <a:pt x="5731" y="4468708"/>
                  </a:lnTo>
                  <a:lnTo>
                    <a:pt x="0" y="4418939"/>
                  </a:lnTo>
                  <a:lnTo>
                    <a:pt x="0" y="217042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86010" y="2585973"/>
              <a:ext cx="925194" cy="178435"/>
            </a:xfrm>
            <a:custGeom>
              <a:avLst/>
              <a:gdLst/>
              <a:ahLst/>
              <a:cxnLst/>
              <a:rect l="l" t="t" r="r" b="b"/>
              <a:pathLst>
                <a:path w="925195" h="178435">
                  <a:moveTo>
                    <a:pt x="925068" y="0"/>
                  </a:moveTo>
                  <a:lnTo>
                    <a:pt x="0" y="0"/>
                  </a:lnTo>
                  <a:lnTo>
                    <a:pt x="0" y="178308"/>
                  </a:lnTo>
                  <a:lnTo>
                    <a:pt x="925068" y="178308"/>
                  </a:lnTo>
                  <a:lnTo>
                    <a:pt x="9250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233027" y="2768853"/>
              <a:ext cx="1431290" cy="361315"/>
            </a:xfrm>
            <a:custGeom>
              <a:avLst/>
              <a:gdLst/>
              <a:ahLst/>
              <a:cxnLst/>
              <a:rect l="l" t="t" r="r" b="b"/>
              <a:pathLst>
                <a:path w="1431290" h="361314">
                  <a:moveTo>
                    <a:pt x="758952" y="182880"/>
                  </a:moveTo>
                  <a:lnTo>
                    <a:pt x="0" y="182880"/>
                  </a:lnTo>
                  <a:lnTo>
                    <a:pt x="0" y="361188"/>
                  </a:lnTo>
                  <a:lnTo>
                    <a:pt x="758952" y="361188"/>
                  </a:lnTo>
                  <a:lnTo>
                    <a:pt x="758952" y="182880"/>
                  </a:lnTo>
                  <a:close/>
                </a:path>
                <a:path w="1431290" h="361314">
                  <a:moveTo>
                    <a:pt x="1431023" y="0"/>
                  </a:moveTo>
                  <a:lnTo>
                    <a:pt x="673608" y="0"/>
                  </a:lnTo>
                  <a:lnTo>
                    <a:pt x="673608" y="178308"/>
                  </a:lnTo>
                  <a:lnTo>
                    <a:pt x="1431023" y="178308"/>
                  </a:lnTo>
                  <a:lnTo>
                    <a:pt x="143102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385682" y="2352789"/>
            <a:ext cx="3649345" cy="1142365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427355" marR="772795" indent="-335280">
              <a:lnSpc>
                <a:spcPct val="100000"/>
              </a:lnSpc>
              <a:spcBef>
                <a:spcPts val="290"/>
              </a:spcBef>
            </a:pPr>
            <a:r>
              <a:rPr sz="1200" dirty="0">
                <a:latin typeface="Consolas"/>
                <a:cs typeface="Consolas"/>
              </a:rPr>
              <a:t>tool_message</a:t>
            </a:r>
            <a:r>
              <a:rPr sz="1200" spc="-3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4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ToolMessage( content=tool_output, tool_call_id=tool_call[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"id"</a:t>
            </a:r>
            <a:r>
              <a:rPr sz="1200" spc="-10" dirty="0">
                <a:latin typeface="Consolas"/>
                <a:cs typeface="Consolas"/>
              </a:rPr>
              <a:t>], name=tool_call[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"name"</a:t>
            </a:r>
            <a:r>
              <a:rPr sz="1200" spc="-10" dirty="0">
                <a:latin typeface="Consolas"/>
                <a:cs typeface="Consolas"/>
              </a:rPr>
              <a:t>]</a:t>
            </a:r>
            <a:endParaRPr sz="12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200" spc="-50" dirty="0"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09761" y="1805228"/>
            <a:ext cx="3277235" cy="391160"/>
          </a:xfrm>
          <a:prstGeom prst="rect">
            <a:avLst/>
          </a:prstGeom>
          <a:solidFill>
            <a:srgbClr val="155F82"/>
          </a:solidFill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666115">
              <a:lnSpc>
                <a:spcPct val="100000"/>
              </a:lnSpc>
              <a:spcBef>
                <a:spcPts val="425"/>
              </a:spcBef>
            </a:pPr>
            <a:r>
              <a:rPr sz="1800" b="1" spc="-10" dirty="0">
                <a:solidFill>
                  <a:srgbClr val="FFFFFF"/>
                </a:solidFill>
                <a:latin typeface="맑은 고딕"/>
                <a:cs typeface="맑은 고딕"/>
              </a:rPr>
              <a:t>ToolMessage</a:t>
            </a:r>
            <a:r>
              <a:rPr sz="1800" b="1" spc="-15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정의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85682" y="3572560"/>
            <a:ext cx="3649345" cy="2752090"/>
          </a:xfrm>
          <a:prstGeom prst="rect">
            <a:avLst/>
          </a:prstGeom>
          <a:solidFill>
            <a:srgbClr val="D1D1D1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 marR="69850">
              <a:lnSpc>
                <a:spcPct val="100000"/>
              </a:lnSpc>
              <a:spcBef>
                <a:spcPts val="320"/>
              </a:spcBef>
            </a:pPr>
            <a:r>
              <a:rPr sz="900" spc="-10" dirty="0">
                <a:latin typeface="Consolas"/>
                <a:cs typeface="Consolas"/>
              </a:rPr>
              <a:t>ToolMessage(content=[{'url': </a:t>
            </a:r>
            <a:r>
              <a:rPr sz="900" spc="-10" dirty="0">
                <a:latin typeface="Consolas"/>
                <a:cs typeface="Consolas"/>
                <a:hlinkClick r:id="rId3"/>
              </a:rPr>
              <a:t>'</a:t>
            </a:r>
            <a:r>
              <a:rPr sz="9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onsolas"/>
                <a:cs typeface="Consolas"/>
                <a:hlinkClick r:id="rId3"/>
              </a:rPr>
              <a:t>https://secrettsteaks.com/blog/steak-</a:t>
            </a:r>
            <a:r>
              <a:rPr sz="900" u="sng" spc="-2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onsolas"/>
                <a:cs typeface="Consolas"/>
                <a:hlinkClick r:id="rId3"/>
              </a:rPr>
              <a:t>wine-</a:t>
            </a:r>
            <a:r>
              <a:rPr sz="900" u="none" spc="-20" dirty="0">
                <a:solidFill>
                  <a:srgbClr val="467885"/>
                </a:solidFill>
                <a:latin typeface="Consolas"/>
                <a:cs typeface="Consolas"/>
                <a:hlinkClick r:id="rId3"/>
              </a:rPr>
              <a:t> </a:t>
            </a:r>
            <a:r>
              <a:rPr sz="9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onsolas"/>
                <a:cs typeface="Consolas"/>
                <a:hlinkClick r:id="rId3"/>
              </a:rPr>
              <a:t>pairing.php</a:t>
            </a:r>
            <a:r>
              <a:rPr sz="900" u="none" dirty="0">
                <a:latin typeface="Consolas"/>
                <a:cs typeface="Consolas"/>
                <a:hlinkClick r:id="rId3"/>
              </a:rPr>
              <a:t>',</a:t>
            </a:r>
            <a:r>
              <a:rPr sz="900" u="none" spc="-5" dirty="0">
                <a:latin typeface="Consolas"/>
                <a:cs typeface="Consolas"/>
                <a:hlinkClick r:id="rId3"/>
              </a:rPr>
              <a:t> </a:t>
            </a:r>
            <a:r>
              <a:rPr sz="900" u="none" dirty="0">
                <a:latin typeface="Consolas"/>
                <a:cs typeface="Consolas"/>
                <a:hlinkClick r:id="rId3"/>
              </a:rPr>
              <a:t>'content':</a:t>
            </a:r>
            <a:r>
              <a:rPr sz="900" u="none" spc="15" dirty="0">
                <a:latin typeface="Consolas"/>
                <a:cs typeface="Consolas"/>
                <a:hlinkClick r:id="rId3"/>
              </a:rPr>
              <a:t> </a:t>
            </a:r>
            <a:r>
              <a:rPr sz="900" u="none" dirty="0">
                <a:latin typeface="Consolas"/>
                <a:cs typeface="Consolas"/>
                <a:hlinkClick r:id="rId3"/>
              </a:rPr>
              <a:t>'</a:t>
            </a:r>
            <a:r>
              <a:rPr sz="900" u="none" dirty="0">
                <a:latin typeface="맑은 고딕"/>
                <a:cs typeface="맑은 고딕"/>
                <a:hlinkClick r:id="rId3"/>
              </a:rPr>
              <a:t>스테이크와</a:t>
            </a:r>
            <a:r>
              <a:rPr sz="900" u="none" spc="135" dirty="0">
                <a:latin typeface="맑은 고딕"/>
                <a:cs typeface="맑은 고딕"/>
                <a:hlinkClick r:id="rId3"/>
              </a:rPr>
              <a:t> </a:t>
            </a:r>
            <a:r>
              <a:rPr sz="900" u="none" dirty="0">
                <a:latin typeface="맑은 고딕"/>
                <a:cs typeface="맑은 고딕"/>
                <a:hlinkClick r:id="rId3"/>
              </a:rPr>
              <a:t>가장</a:t>
            </a:r>
            <a:r>
              <a:rPr sz="900" u="none" spc="135" dirty="0">
                <a:latin typeface="맑은 고딕"/>
                <a:cs typeface="맑은 고딕"/>
                <a:hlinkClick r:id="rId3"/>
              </a:rPr>
              <a:t> </a:t>
            </a:r>
            <a:r>
              <a:rPr sz="900" u="none" dirty="0">
                <a:latin typeface="맑은 고딕"/>
                <a:cs typeface="맑은 고딕"/>
                <a:hlinkClick r:id="rId3"/>
              </a:rPr>
              <a:t>잘</a:t>
            </a:r>
            <a:r>
              <a:rPr sz="900" u="none" spc="12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어울리는</a:t>
            </a:r>
            <a:r>
              <a:rPr sz="900" u="none" spc="135" dirty="0">
                <a:latin typeface="맑은 고딕"/>
                <a:cs typeface="맑은 고딕"/>
              </a:rPr>
              <a:t> </a:t>
            </a:r>
            <a:r>
              <a:rPr sz="900" u="none" spc="-50" dirty="0">
                <a:latin typeface="맑은 고딕"/>
                <a:cs typeface="맑은 고딕"/>
              </a:rPr>
              <a:t>와 </a:t>
            </a:r>
            <a:r>
              <a:rPr sz="900" u="none" dirty="0">
                <a:latin typeface="맑은 고딕"/>
                <a:cs typeface="맑은 고딕"/>
              </a:rPr>
              <a:t>인의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부드러운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맛은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스테이크의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풍미를</a:t>
            </a:r>
            <a:r>
              <a:rPr sz="900" u="none" spc="17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덮지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않고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spc="-10" dirty="0">
                <a:latin typeface="맑은 고딕"/>
                <a:cs typeface="맑은 고딕"/>
              </a:rPr>
              <a:t>자연스럽게 </a:t>
            </a:r>
            <a:r>
              <a:rPr sz="900" u="none" dirty="0">
                <a:latin typeface="맑은 고딕"/>
                <a:cs typeface="맑은 고딕"/>
              </a:rPr>
              <a:t>어우러져</a:t>
            </a:r>
            <a:r>
              <a:rPr sz="900" u="none" dirty="0">
                <a:latin typeface="Consolas"/>
                <a:cs typeface="Consolas"/>
              </a:rPr>
              <a:t>, </a:t>
            </a:r>
            <a:r>
              <a:rPr sz="900" u="none" dirty="0">
                <a:latin typeface="맑은 고딕"/>
                <a:cs typeface="맑은 고딕"/>
              </a:rPr>
              <a:t>부담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없이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즐길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수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있는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조합을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만들어줍니다</a:t>
            </a:r>
            <a:r>
              <a:rPr sz="900" u="none" dirty="0">
                <a:latin typeface="Consolas"/>
                <a:cs typeface="Consolas"/>
              </a:rPr>
              <a:t>.</a:t>
            </a:r>
            <a:r>
              <a:rPr sz="900" u="none" spc="15" dirty="0">
                <a:latin typeface="Consolas"/>
                <a:cs typeface="Consolas"/>
              </a:rPr>
              <a:t> </a:t>
            </a:r>
            <a:r>
              <a:rPr sz="900" u="none" spc="-25" dirty="0">
                <a:latin typeface="맑은 고딕"/>
                <a:cs typeface="맑은 고딕"/>
              </a:rPr>
              <a:t>개인 </a:t>
            </a:r>
            <a:r>
              <a:rPr sz="900" u="none" dirty="0">
                <a:latin typeface="맑은 고딕"/>
                <a:cs typeface="맑은 고딕"/>
              </a:rPr>
              <a:t>정보</a:t>
            </a:r>
            <a:r>
              <a:rPr sz="900" u="none" spc="17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처리</a:t>
            </a:r>
            <a:r>
              <a:rPr sz="900" u="none" spc="16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방침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개인정보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처리</a:t>
            </a:r>
            <a:r>
              <a:rPr sz="900" u="none" spc="16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방침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보기</a:t>
            </a:r>
            <a:r>
              <a:rPr sz="900" u="none" dirty="0">
                <a:latin typeface="Consolas"/>
                <a:cs typeface="Consolas"/>
              </a:rPr>
              <a:t>'},</a:t>
            </a:r>
            <a:r>
              <a:rPr sz="900" u="none" spc="25" dirty="0">
                <a:latin typeface="Consolas"/>
                <a:cs typeface="Consolas"/>
              </a:rPr>
              <a:t> </a:t>
            </a:r>
            <a:r>
              <a:rPr sz="900" u="none" spc="-10" dirty="0">
                <a:latin typeface="Consolas"/>
                <a:cs typeface="Consolas"/>
              </a:rPr>
              <a:t>{'url': </a:t>
            </a:r>
            <a:r>
              <a:rPr sz="900" u="none" spc="-10" dirty="0">
                <a:latin typeface="Consolas"/>
                <a:cs typeface="Consolas"/>
                <a:hlinkClick r:id="rId2"/>
              </a:rPr>
              <a:t>'</a:t>
            </a:r>
            <a:r>
              <a:rPr sz="9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onsolas"/>
                <a:cs typeface="Consolas"/>
                <a:hlinkClick r:id="rId2"/>
              </a:rPr>
              <a:t>https://blog.naver.com/PostView.nhn?blogId=cyahnnn&amp;lo</a:t>
            </a:r>
            <a:r>
              <a:rPr sz="900" u="none" spc="-10" dirty="0">
                <a:solidFill>
                  <a:srgbClr val="467885"/>
                </a:solidFill>
                <a:latin typeface="Consolas"/>
                <a:cs typeface="Consolas"/>
              </a:rPr>
              <a:t> </a:t>
            </a:r>
            <a:r>
              <a:rPr sz="9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onsolas"/>
                <a:cs typeface="Consolas"/>
                <a:hlinkClick r:id="rId2"/>
              </a:rPr>
              <a:t>gNo=222766631086</a:t>
            </a:r>
            <a:r>
              <a:rPr sz="900" u="none" dirty="0">
                <a:latin typeface="Consolas"/>
                <a:cs typeface="Consolas"/>
                <a:hlinkClick r:id="rId2"/>
              </a:rPr>
              <a:t>',</a:t>
            </a:r>
            <a:r>
              <a:rPr sz="900" u="none" spc="-35" dirty="0">
                <a:latin typeface="Consolas"/>
                <a:cs typeface="Consolas"/>
                <a:hlinkClick r:id="rId2"/>
              </a:rPr>
              <a:t> </a:t>
            </a:r>
            <a:r>
              <a:rPr sz="900" u="none" dirty="0">
                <a:latin typeface="Consolas"/>
                <a:cs typeface="Consolas"/>
                <a:hlinkClick r:id="rId2"/>
              </a:rPr>
              <a:t>'content':</a:t>
            </a:r>
            <a:r>
              <a:rPr sz="900" u="none" spc="-10" dirty="0">
                <a:latin typeface="Consolas"/>
                <a:cs typeface="Consolas"/>
                <a:hlinkClick r:id="rId2"/>
              </a:rPr>
              <a:t> </a:t>
            </a:r>
            <a:r>
              <a:rPr sz="900" u="none" dirty="0">
                <a:latin typeface="Consolas"/>
                <a:cs typeface="Consolas"/>
                <a:hlinkClick r:id="rId2"/>
              </a:rPr>
              <a:t>'</a:t>
            </a:r>
            <a:r>
              <a:rPr sz="900" u="none" dirty="0">
                <a:latin typeface="맑은 고딕"/>
                <a:cs typeface="맑은 고딕"/>
                <a:hlinkClick r:id="rId2"/>
              </a:rPr>
              <a:t>스테이크와</a:t>
            </a:r>
            <a:r>
              <a:rPr sz="900" u="none" spc="135" dirty="0">
                <a:latin typeface="맑은 고딕"/>
                <a:cs typeface="맑은 고딕"/>
                <a:hlinkClick r:id="rId2"/>
              </a:rPr>
              <a:t> </a:t>
            </a:r>
            <a:r>
              <a:rPr sz="900" u="none" dirty="0">
                <a:latin typeface="맑은 고딕"/>
                <a:cs typeface="맑은 고딕"/>
                <a:hlinkClick r:id="rId2"/>
              </a:rPr>
              <a:t>어울리는</a:t>
            </a:r>
            <a:r>
              <a:rPr sz="900" u="none" spc="150" dirty="0">
                <a:latin typeface="맑은 고딕"/>
                <a:cs typeface="맑은 고딕"/>
                <a:hlinkClick r:id="rId2"/>
              </a:rPr>
              <a:t> </a:t>
            </a:r>
            <a:r>
              <a:rPr sz="900" u="none" dirty="0">
                <a:latin typeface="맑은 고딕"/>
                <a:cs typeface="맑은 고딕"/>
                <a:hlinkClick r:id="rId2"/>
              </a:rPr>
              <a:t>와인</a:t>
            </a:r>
            <a:r>
              <a:rPr sz="900" u="none" spc="155" dirty="0">
                <a:latin typeface="맑은 고딕"/>
                <a:cs typeface="맑은 고딕"/>
              </a:rPr>
              <a:t> </a:t>
            </a:r>
            <a:r>
              <a:rPr sz="900" u="none" spc="-50" dirty="0">
                <a:latin typeface="Consolas"/>
                <a:cs typeface="Consolas"/>
              </a:rPr>
              <a:t>: </a:t>
            </a:r>
            <a:r>
              <a:rPr sz="900" u="none" dirty="0">
                <a:latin typeface="맑은 고딕"/>
                <a:cs typeface="맑은 고딕"/>
              </a:rPr>
              <a:t>네이버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블로그</a:t>
            </a:r>
            <a:r>
              <a:rPr sz="900" u="none" spc="16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변경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전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공유된</a:t>
            </a:r>
            <a:r>
              <a:rPr sz="900" u="none" spc="16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블로그</a:t>
            </a:r>
            <a:r>
              <a:rPr sz="900" u="none" dirty="0">
                <a:latin typeface="Consolas"/>
                <a:cs typeface="Consolas"/>
              </a:rPr>
              <a:t>/</a:t>
            </a:r>
            <a:r>
              <a:rPr sz="900" u="none" dirty="0">
                <a:latin typeface="맑은 고딕"/>
                <a:cs typeface="맑은 고딕"/>
              </a:rPr>
              <a:t>글</a:t>
            </a:r>
            <a:r>
              <a:rPr sz="900" u="none" dirty="0">
                <a:latin typeface="Consolas"/>
                <a:cs typeface="Consolas"/>
              </a:rPr>
              <a:t>/</a:t>
            </a:r>
            <a:r>
              <a:rPr sz="900" u="none" dirty="0">
                <a:latin typeface="맑은 고딕"/>
                <a:cs typeface="맑은 고딕"/>
              </a:rPr>
              <a:t>클립</a:t>
            </a:r>
            <a:r>
              <a:rPr sz="900" u="none" spc="18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링크는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spc="-25" dirty="0">
                <a:latin typeface="맑은 고딕"/>
                <a:cs typeface="맑은 고딕"/>
              </a:rPr>
              <a:t>연결이 </a:t>
            </a:r>
            <a:r>
              <a:rPr sz="900" u="none" dirty="0">
                <a:latin typeface="맑은 고딕"/>
                <a:cs typeface="맑은 고딕"/>
              </a:rPr>
              <a:t>끊길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수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있습니다</a:t>
            </a:r>
            <a:r>
              <a:rPr sz="900" u="none" dirty="0">
                <a:latin typeface="Consolas"/>
                <a:cs typeface="Consolas"/>
              </a:rPr>
              <a:t>.</a:t>
            </a:r>
            <a:r>
              <a:rPr sz="900" u="none" spc="15" dirty="0">
                <a:latin typeface="Consolas"/>
                <a:cs typeface="Consolas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블로그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블로그</a:t>
            </a:r>
            <a:r>
              <a:rPr sz="900" u="none" spc="17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블로그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블로그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카베르네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spc="-25" dirty="0">
                <a:latin typeface="맑은 고딕"/>
                <a:cs typeface="맑은 고딕"/>
              </a:rPr>
              <a:t>소비 </a:t>
            </a:r>
            <a:r>
              <a:rPr sz="900" u="none" dirty="0">
                <a:latin typeface="맑은 고딕"/>
                <a:cs typeface="맑은 고딕"/>
              </a:rPr>
              <a:t>뇽지금까지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최고의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궁합은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클래식하게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실크처럼</a:t>
            </a:r>
            <a:r>
              <a:rPr sz="900" u="none" spc="16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부드럽고</a:t>
            </a:r>
            <a:r>
              <a:rPr sz="900" u="none" spc="180" dirty="0">
                <a:latin typeface="맑은 고딕"/>
                <a:cs typeface="맑은 고딕"/>
              </a:rPr>
              <a:t> </a:t>
            </a:r>
            <a:r>
              <a:rPr sz="900" u="none" spc="-25" dirty="0">
                <a:latin typeface="맑은 고딕"/>
                <a:cs typeface="맑은 고딕"/>
              </a:rPr>
              <a:t>매혹 </a:t>
            </a:r>
            <a:r>
              <a:rPr sz="900" u="none" dirty="0">
                <a:latin typeface="맑은 고딕"/>
                <a:cs typeface="맑은 고딕"/>
              </a:rPr>
              <a:t>적인</a:t>
            </a:r>
            <a:r>
              <a:rPr sz="900" u="none" spc="15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다니엘</a:t>
            </a:r>
            <a:r>
              <a:rPr sz="900" u="none" spc="14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리옹의</a:t>
            </a:r>
            <a:r>
              <a:rPr sz="900" u="none" spc="150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본</a:t>
            </a:r>
            <a:r>
              <a:rPr sz="900" u="none" spc="155" dirty="0">
                <a:latin typeface="맑은 고딕"/>
                <a:cs typeface="맑은 고딕"/>
              </a:rPr>
              <a:t> </a:t>
            </a:r>
            <a:r>
              <a:rPr sz="900" u="none" dirty="0">
                <a:latin typeface="맑은 고딕"/>
                <a:cs typeface="맑은 고딕"/>
              </a:rPr>
              <a:t>로마네</a:t>
            </a:r>
            <a:r>
              <a:rPr sz="900" u="none" dirty="0">
                <a:latin typeface="Consolas"/>
                <a:cs typeface="Consolas"/>
              </a:rPr>
              <a:t>(Daniel</a:t>
            </a:r>
            <a:r>
              <a:rPr sz="900" u="none" spc="20" dirty="0">
                <a:latin typeface="Consolas"/>
                <a:cs typeface="Consolas"/>
              </a:rPr>
              <a:t> </a:t>
            </a:r>
            <a:r>
              <a:rPr sz="900" u="none" dirty="0">
                <a:latin typeface="Consolas"/>
                <a:cs typeface="Consolas"/>
              </a:rPr>
              <a:t>Rion,</a:t>
            </a:r>
            <a:r>
              <a:rPr sz="900" u="none" spc="15" dirty="0">
                <a:latin typeface="Consolas"/>
                <a:cs typeface="Consolas"/>
              </a:rPr>
              <a:t> </a:t>
            </a:r>
            <a:r>
              <a:rPr sz="900" u="none" spc="-15" dirty="0">
                <a:latin typeface="Consolas"/>
                <a:cs typeface="Consolas"/>
              </a:rPr>
              <a:t>Vosne-</a:t>
            </a:r>
            <a:r>
              <a:rPr sz="900" u="none" spc="-10" dirty="0">
                <a:latin typeface="Consolas"/>
                <a:cs typeface="Consolas"/>
              </a:rPr>
              <a:t>Romanée </a:t>
            </a:r>
            <a:r>
              <a:rPr sz="900" u="none" dirty="0">
                <a:latin typeface="Consolas"/>
                <a:cs typeface="Consolas"/>
              </a:rPr>
              <a:t>2001)</a:t>
            </a:r>
            <a:r>
              <a:rPr sz="900" u="none" dirty="0">
                <a:latin typeface="맑은 고딕"/>
                <a:cs typeface="맑은 고딕"/>
              </a:rPr>
              <a:t>이다’라고</a:t>
            </a:r>
            <a:r>
              <a:rPr sz="900" u="none" spc="120" dirty="0">
                <a:latin typeface="맑은 고딕"/>
                <a:cs typeface="맑은 고딕"/>
              </a:rPr>
              <a:t> </a:t>
            </a:r>
            <a:r>
              <a:rPr sz="900" u="none" spc="-10" dirty="0">
                <a:latin typeface="맑은 고딕"/>
                <a:cs typeface="맑은 고딕"/>
              </a:rPr>
              <a:t>썼다</a:t>
            </a:r>
            <a:r>
              <a:rPr sz="900" u="none" spc="-10" dirty="0">
                <a:latin typeface="Consolas"/>
                <a:cs typeface="Consolas"/>
              </a:rPr>
              <a:t>.'}], name='tavily_search_results_json', tool_call_id='call_5lPOU0gWyOJXqVR5PZsY6uPa')</a:t>
            </a:r>
            <a:endParaRPr sz="9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0"/>
              </a:spcBef>
            </a:pPr>
            <a:r>
              <a:rPr spc="-20" dirty="0"/>
              <a:t>ToolMessage를</a:t>
            </a:r>
            <a:r>
              <a:rPr spc="-130" dirty="0"/>
              <a:t> </a:t>
            </a:r>
            <a:r>
              <a:rPr dirty="0"/>
              <a:t>LLM에</a:t>
            </a:r>
            <a:r>
              <a:rPr spc="-85" dirty="0"/>
              <a:t> </a:t>
            </a:r>
            <a:r>
              <a:rPr spc="-20" dirty="0"/>
              <a:t>전달하여</a:t>
            </a:r>
          </a:p>
          <a:p>
            <a:pPr marL="12700">
              <a:lnSpc>
                <a:spcPts val="3650"/>
              </a:lnSpc>
            </a:pPr>
            <a:r>
              <a:rPr dirty="0"/>
              <a:t>AI</a:t>
            </a:r>
            <a:r>
              <a:rPr spc="-10" dirty="0"/>
              <a:t> </a:t>
            </a:r>
            <a:r>
              <a:rPr dirty="0"/>
              <a:t>답변을</a:t>
            </a:r>
            <a:r>
              <a:rPr spc="-25" dirty="0"/>
              <a:t> </a:t>
            </a:r>
            <a:r>
              <a:rPr spc="-20" dirty="0"/>
              <a:t>생성하기</a:t>
            </a:r>
          </a:p>
        </p:txBody>
      </p:sp>
      <p:sp>
        <p:nvSpPr>
          <p:cNvPr id="3" name="object 3"/>
          <p:cNvSpPr/>
          <p:nvPr/>
        </p:nvSpPr>
        <p:spPr>
          <a:xfrm>
            <a:off x="406400" y="1973960"/>
            <a:ext cx="5595620" cy="4636135"/>
          </a:xfrm>
          <a:custGeom>
            <a:avLst/>
            <a:gdLst/>
            <a:ahLst/>
            <a:cxnLst/>
            <a:rect l="l" t="t" r="r" b="b"/>
            <a:pathLst>
              <a:path w="5595620" h="4636134">
                <a:moveTo>
                  <a:pt x="0" y="255015"/>
                </a:moveTo>
                <a:lnTo>
                  <a:pt x="4109" y="209176"/>
                </a:lnTo>
                <a:lnTo>
                  <a:pt x="15955" y="166032"/>
                </a:lnTo>
                <a:lnTo>
                  <a:pt x="34820" y="126303"/>
                </a:lnTo>
                <a:lnTo>
                  <a:pt x="59981" y="90711"/>
                </a:lnTo>
                <a:lnTo>
                  <a:pt x="90719" y="59976"/>
                </a:lnTo>
                <a:lnTo>
                  <a:pt x="126313" y="34816"/>
                </a:lnTo>
                <a:lnTo>
                  <a:pt x="166043" y="15954"/>
                </a:lnTo>
                <a:lnTo>
                  <a:pt x="209188" y="4108"/>
                </a:lnTo>
                <a:lnTo>
                  <a:pt x="255028" y="0"/>
                </a:lnTo>
                <a:lnTo>
                  <a:pt x="5340223" y="0"/>
                </a:lnTo>
                <a:lnTo>
                  <a:pt x="5386062" y="4108"/>
                </a:lnTo>
                <a:lnTo>
                  <a:pt x="5429206" y="15954"/>
                </a:lnTo>
                <a:lnTo>
                  <a:pt x="5468935" y="34816"/>
                </a:lnTo>
                <a:lnTo>
                  <a:pt x="5504527" y="59976"/>
                </a:lnTo>
                <a:lnTo>
                  <a:pt x="5535262" y="90711"/>
                </a:lnTo>
                <a:lnTo>
                  <a:pt x="5560422" y="126303"/>
                </a:lnTo>
                <a:lnTo>
                  <a:pt x="5579284" y="166032"/>
                </a:lnTo>
                <a:lnTo>
                  <a:pt x="5591130" y="209176"/>
                </a:lnTo>
                <a:lnTo>
                  <a:pt x="5595239" y="255015"/>
                </a:lnTo>
                <a:lnTo>
                  <a:pt x="5595239" y="4380966"/>
                </a:lnTo>
                <a:lnTo>
                  <a:pt x="5591130" y="4426810"/>
                </a:lnTo>
                <a:lnTo>
                  <a:pt x="5579284" y="4469957"/>
                </a:lnTo>
                <a:lnTo>
                  <a:pt x="5560422" y="4509687"/>
                </a:lnTo>
                <a:lnTo>
                  <a:pt x="5535262" y="4545281"/>
                </a:lnTo>
                <a:lnTo>
                  <a:pt x="5504527" y="4576018"/>
                </a:lnTo>
                <a:lnTo>
                  <a:pt x="5468935" y="4601178"/>
                </a:lnTo>
                <a:lnTo>
                  <a:pt x="5429206" y="4620040"/>
                </a:lnTo>
                <a:lnTo>
                  <a:pt x="5386062" y="4631886"/>
                </a:lnTo>
                <a:lnTo>
                  <a:pt x="5340223" y="4635995"/>
                </a:lnTo>
                <a:lnTo>
                  <a:pt x="255028" y="4635995"/>
                </a:lnTo>
                <a:lnTo>
                  <a:pt x="209188" y="4631886"/>
                </a:lnTo>
                <a:lnTo>
                  <a:pt x="166043" y="4620040"/>
                </a:lnTo>
                <a:lnTo>
                  <a:pt x="126313" y="4601178"/>
                </a:lnTo>
                <a:lnTo>
                  <a:pt x="90719" y="4576018"/>
                </a:lnTo>
                <a:lnTo>
                  <a:pt x="59981" y="4545281"/>
                </a:lnTo>
                <a:lnTo>
                  <a:pt x="34820" y="4509687"/>
                </a:lnTo>
                <a:lnTo>
                  <a:pt x="15955" y="4469957"/>
                </a:lnTo>
                <a:lnTo>
                  <a:pt x="4109" y="4426810"/>
                </a:lnTo>
                <a:lnTo>
                  <a:pt x="0" y="4380966"/>
                </a:lnTo>
                <a:lnTo>
                  <a:pt x="0" y="255015"/>
                </a:lnTo>
                <a:close/>
              </a:path>
            </a:pathLst>
          </a:custGeom>
          <a:ln w="9524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45551" y="659638"/>
            <a:ext cx="2316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맑은 고딕"/>
                <a:cs typeface="맑은 고딕"/>
              </a:rPr>
              <a:t>LangChain</a:t>
            </a:r>
            <a:r>
              <a:rPr sz="1800" spc="-5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ToolCalling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74283" y="1973960"/>
            <a:ext cx="5595620" cy="4636135"/>
          </a:xfrm>
          <a:custGeom>
            <a:avLst/>
            <a:gdLst/>
            <a:ahLst/>
            <a:cxnLst/>
            <a:rect l="l" t="t" r="r" b="b"/>
            <a:pathLst>
              <a:path w="5595620" h="4636134">
                <a:moveTo>
                  <a:pt x="0" y="255015"/>
                </a:moveTo>
                <a:lnTo>
                  <a:pt x="4108" y="209176"/>
                </a:lnTo>
                <a:lnTo>
                  <a:pt x="15954" y="166032"/>
                </a:lnTo>
                <a:lnTo>
                  <a:pt x="34816" y="126303"/>
                </a:lnTo>
                <a:lnTo>
                  <a:pt x="59976" y="90711"/>
                </a:lnTo>
                <a:lnTo>
                  <a:pt x="90711" y="59976"/>
                </a:lnTo>
                <a:lnTo>
                  <a:pt x="126303" y="34816"/>
                </a:lnTo>
                <a:lnTo>
                  <a:pt x="166032" y="15954"/>
                </a:lnTo>
                <a:lnTo>
                  <a:pt x="209176" y="4108"/>
                </a:lnTo>
                <a:lnTo>
                  <a:pt x="255015" y="0"/>
                </a:lnTo>
                <a:lnTo>
                  <a:pt x="5340222" y="0"/>
                </a:lnTo>
                <a:lnTo>
                  <a:pt x="5386062" y="4108"/>
                </a:lnTo>
                <a:lnTo>
                  <a:pt x="5429206" y="15954"/>
                </a:lnTo>
                <a:lnTo>
                  <a:pt x="5468935" y="34816"/>
                </a:lnTo>
                <a:lnTo>
                  <a:pt x="5504527" y="59976"/>
                </a:lnTo>
                <a:lnTo>
                  <a:pt x="5535262" y="90711"/>
                </a:lnTo>
                <a:lnTo>
                  <a:pt x="5560422" y="126303"/>
                </a:lnTo>
                <a:lnTo>
                  <a:pt x="5579284" y="166032"/>
                </a:lnTo>
                <a:lnTo>
                  <a:pt x="5591130" y="209176"/>
                </a:lnTo>
                <a:lnTo>
                  <a:pt x="5595239" y="255015"/>
                </a:lnTo>
                <a:lnTo>
                  <a:pt x="5595239" y="4380966"/>
                </a:lnTo>
                <a:lnTo>
                  <a:pt x="5591130" y="4426810"/>
                </a:lnTo>
                <a:lnTo>
                  <a:pt x="5579284" y="4469957"/>
                </a:lnTo>
                <a:lnTo>
                  <a:pt x="5560422" y="4509687"/>
                </a:lnTo>
                <a:lnTo>
                  <a:pt x="5535262" y="4545281"/>
                </a:lnTo>
                <a:lnTo>
                  <a:pt x="5504527" y="4576018"/>
                </a:lnTo>
                <a:lnTo>
                  <a:pt x="5468935" y="4601178"/>
                </a:lnTo>
                <a:lnTo>
                  <a:pt x="5429206" y="4620040"/>
                </a:lnTo>
                <a:lnTo>
                  <a:pt x="5386062" y="4631886"/>
                </a:lnTo>
                <a:lnTo>
                  <a:pt x="5340222" y="4635995"/>
                </a:lnTo>
                <a:lnTo>
                  <a:pt x="255015" y="4635995"/>
                </a:lnTo>
                <a:lnTo>
                  <a:pt x="209176" y="4631886"/>
                </a:lnTo>
                <a:lnTo>
                  <a:pt x="166032" y="4620040"/>
                </a:lnTo>
                <a:lnTo>
                  <a:pt x="126303" y="4601178"/>
                </a:lnTo>
                <a:lnTo>
                  <a:pt x="90711" y="4576018"/>
                </a:lnTo>
                <a:lnTo>
                  <a:pt x="59976" y="4545281"/>
                </a:lnTo>
                <a:lnTo>
                  <a:pt x="34816" y="4509687"/>
                </a:lnTo>
                <a:lnTo>
                  <a:pt x="15954" y="4469957"/>
                </a:lnTo>
                <a:lnTo>
                  <a:pt x="4108" y="4426810"/>
                </a:lnTo>
                <a:lnTo>
                  <a:pt x="0" y="4380966"/>
                </a:lnTo>
                <a:lnTo>
                  <a:pt x="0" y="255015"/>
                </a:lnTo>
                <a:close/>
              </a:path>
              <a:path w="5595620" h="4636134">
                <a:moveTo>
                  <a:pt x="232155" y="3241166"/>
                </a:moveTo>
                <a:lnTo>
                  <a:pt x="5380482" y="3241166"/>
                </a:lnTo>
                <a:lnTo>
                  <a:pt x="5380482" y="378840"/>
                </a:lnTo>
                <a:lnTo>
                  <a:pt x="232155" y="378840"/>
                </a:lnTo>
                <a:lnTo>
                  <a:pt x="232155" y="3241166"/>
                </a:lnTo>
                <a:close/>
              </a:path>
            </a:pathLst>
          </a:custGeom>
          <a:ln w="95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43429" y="5146294"/>
            <a:ext cx="3295650" cy="17843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40"/>
              </a:lnSpc>
            </a:pPr>
            <a:r>
              <a:rPr sz="1200" spc="-10" dirty="0">
                <a:latin typeface="Consolas"/>
                <a:cs typeface="Consolas"/>
              </a:rPr>
              <a:t>llm.bind_tools(tools=[web_search_tool])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2516" y="2352852"/>
            <a:ext cx="5410835" cy="3601085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ts val="1435"/>
              </a:lnSpc>
              <a:spcBef>
                <a:spcPts val="300"/>
              </a:spcBef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오늘</a:t>
            </a:r>
            <a:r>
              <a:rPr sz="1200" spc="25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날짜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설정</a:t>
            </a:r>
            <a:endParaRPr sz="1200">
              <a:latin typeface="맑은 고딕"/>
              <a:cs typeface="맑은 고딕"/>
            </a:endParaRPr>
          </a:p>
          <a:p>
            <a:pPr marL="91440">
              <a:lnSpc>
                <a:spcPts val="1435"/>
              </a:lnSpc>
            </a:pPr>
            <a:r>
              <a:rPr sz="1200" dirty="0">
                <a:latin typeface="Consolas"/>
                <a:cs typeface="Consolas"/>
              </a:rPr>
              <a:t>today</a:t>
            </a:r>
            <a:r>
              <a:rPr sz="1200" spc="7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8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datetime.today().strftime(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"%Y-%m-</a:t>
            </a:r>
            <a:r>
              <a:rPr sz="1200" spc="-20" dirty="0">
                <a:solidFill>
                  <a:srgbClr val="A21515"/>
                </a:solidFill>
                <a:latin typeface="Consolas"/>
                <a:cs typeface="Consolas"/>
              </a:rPr>
              <a:t>%d"</a:t>
            </a:r>
            <a:r>
              <a:rPr sz="1200" spc="-20" dirty="0"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Consolas"/>
              <a:cs typeface="Consolas"/>
            </a:endParaRPr>
          </a:p>
          <a:p>
            <a:pPr marL="91440">
              <a:lnSpc>
                <a:spcPts val="1435"/>
              </a:lnSpc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프롬프트</a:t>
            </a:r>
            <a:r>
              <a:rPr sz="1200" spc="24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템플릿</a:t>
            </a:r>
            <a:endParaRPr sz="1200">
              <a:latin typeface="맑은 고딕"/>
              <a:cs typeface="맑은 고딕"/>
            </a:endParaRPr>
          </a:p>
          <a:p>
            <a:pPr marL="91440">
              <a:lnSpc>
                <a:spcPts val="1435"/>
              </a:lnSpc>
            </a:pPr>
            <a:r>
              <a:rPr sz="1200" dirty="0">
                <a:latin typeface="Consolas"/>
                <a:cs typeface="Consolas"/>
              </a:rPr>
              <a:t>prompt</a:t>
            </a:r>
            <a:r>
              <a:rPr sz="1200" spc="-1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25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ChatPromptTemplate([</a:t>
            </a:r>
            <a:endParaRPr sz="1200">
              <a:latin typeface="Consolas"/>
              <a:cs typeface="Consolas"/>
            </a:endParaRPr>
          </a:p>
          <a:p>
            <a:pPr marL="426720" marR="1104265">
              <a:lnSpc>
                <a:spcPct val="100000"/>
              </a:lnSpc>
            </a:pPr>
            <a:r>
              <a:rPr sz="1200" dirty="0">
                <a:latin typeface="Consolas"/>
                <a:cs typeface="Consolas"/>
              </a:rPr>
              <a:t>(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"system"</a:t>
            </a:r>
            <a:r>
              <a:rPr sz="1200" dirty="0">
                <a:latin typeface="Consolas"/>
                <a:cs typeface="Consolas"/>
              </a:rPr>
              <a:t>,</a:t>
            </a:r>
            <a:r>
              <a:rPr sz="1200" spc="-2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f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"You</a:t>
            </a:r>
            <a:r>
              <a:rPr sz="12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are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sz="12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helpful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AI</a:t>
            </a:r>
            <a:r>
              <a:rPr sz="120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assistant"</a:t>
            </a:r>
            <a:r>
              <a:rPr sz="1200" spc="-10" dirty="0">
                <a:latin typeface="Consolas"/>
                <a:cs typeface="Consolas"/>
              </a:rPr>
              <a:t>), </a:t>
            </a:r>
            <a:r>
              <a:rPr sz="1200" dirty="0">
                <a:latin typeface="Consolas"/>
                <a:cs typeface="Consolas"/>
              </a:rPr>
              <a:t>(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"system"</a:t>
            </a:r>
            <a:r>
              <a:rPr sz="1200" dirty="0">
                <a:latin typeface="Consolas"/>
                <a:cs typeface="Consolas"/>
              </a:rPr>
              <a:t>,</a:t>
            </a:r>
            <a:r>
              <a:rPr sz="1200" spc="-3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f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"Today's</a:t>
            </a:r>
            <a:r>
              <a:rPr sz="12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date</a:t>
            </a:r>
            <a:r>
              <a:rPr sz="1200" spc="-2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is</a:t>
            </a:r>
            <a:r>
              <a:rPr sz="120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{today}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."</a:t>
            </a:r>
            <a:r>
              <a:rPr sz="1200" spc="-10" dirty="0">
                <a:latin typeface="Consolas"/>
                <a:cs typeface="Consolas"/>
              </a:rPr>
              <a:t>),</a:t>
            </a:r>
            <a:endParaRPr sz="1200">
              <a:latin typeface="Consolas"/>
              <a:cs typeface="Consolas"/>
            </a:endParaRPr>
          </a:p>
          <a:p>
            <a:pPr marL="426720">
              <a:lnSpc>
                <a:spcPct val="100000"/>
              </a:lnSpc>
            </a:pPr>
            <a:r>
              <a:rPr sz="1200" dirty="0">
                <a:latin typeface="Consolas"/>
                <a:cs typeface="Consolas"/>
              </a:rPr>
              <a:t>(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"human"</a:t>
            </a:r>
            <a:r>
              <a:rPr sz="1200" dirty="0">
                <a:latin typeface="Consolas"/>
                <a:cs typeface="Consolas"/>
              </a:rPr>
              <a:t>,</a:t>
            </a:r>
            <a:r>
              <a:rPr sz="1200" spc="-40" dirty="0"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"{user_input}"</a:t>
            </a:r>
            <a:r>
              <a:rPr sz="1200" spc="-10" dirty="0">
                <a:latin typeface="Consolas"/>
                <a:cs typeface="Consolas"/>
              </a:rPr>
              <a:t>),</a:t>
            </a:r>
            <a:endParaRPr sz="1200">
              <a:latin typeface="Consolas"/>
              <a:cs typeface="Consolas"/>
            </a:endParaRPr>
          </a:p>
          <a:p>
            <a:pPr marL="426720">
              <a:lnSpc>
                <a:spcPct val="100000"/>
              </a:lnSpc>
            </a:pPr>
            <a:r>
              <a:rPr sz="1200" dirty="0">
                <a:latin typeface="Consolas"/>
                <a:cs typeface="Consolas"/>
              </a:rPr>
              <a:t>(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"placeholder"</a:t>
            </a:r>
            <a:r>
              <a:rPr sz="1200" dirty="0">
                <a:latin typeface="Consolas"/>
                <a:cs typeface="Consolas"/>
              </a:rPr>
              <a:t>,</a:t>
            </a:r>
            <a:r>
              <a:rPr sz="1200" spc="-55" dirty="0"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"{messages}"</a:t>
            </a:r>
            <a:r>
              <a:rPr sz="1200" spc="-10" dirty="0">
                <a:latin typeface="Consolas"/>
                <a:cs typeface="Consolas"/>
              </a:rPr>
              <a:t>),</a:t>
            </a:r>
            <a:endParaRPr sz="12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200" spc="-25" dirty="0">
                <a:latin typeface="Consolas"/>
                <a:cs typeface="Consolas"/>
              </a:rPr>
              <a:t>])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Consolas"/>
              <a:cs typeface="Consolas"/>
            </a:endParaRPr>
          </a:p>
          <a:p>
            <a:pPr marL="91440">
              <a:lnSpc>
                <a:spcPts val="1435"/>
              </a:lnSpc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ChatOpenAI</a:t>
            </a:r>
            <a:r>
              <a:rPr sz="1200" spc="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모델</a:t>
            </a:r>
            <a:r>
              <a:rPr sz="1200" spc="21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초기화</a:t>
            </a:r>
            <a:endParaRPr sz="1200">
              <a:latin typeface="맑은 고딕"/>
              <a:cs typeface="맑은 고딕"/>
            </a:endParaRPr>
          </a:p>
          <a:p>
            <a:pPr marL="91440">
              <a:lnSpc>
                <a:spcPts val="1435"/>
              </a:lnSpc>
            </a:pPr>
            <a:r>
              <a:rPr sz="1200" dirty="0">
                <a:latin typeface="Consolas"/>
                <a:cs typeface="Consolas"/>
              </a:rPr>
              <a:t>llm</a:t>
            </a:r>
            <a:r>
              <a:rPr sz="1200" spc="5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6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ChatOpenAI(model=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"gpt-4o-mini"</a:t>
            </a:r>
            <a:r>
              <a:rPr sz="1200" spc="-10" dirty="0"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onsolas"/>
              <a:cs typeface="Consolas"/>
            </a:endParaRPr>
          </a:p>
          <a:p>
            <a:pPr marL="91440">
              <a:lnSpc>
                <a:spcPts val="1435"/>
              </a:lnSpc>
              <a:spcBef>
                <a:spcPts val="5"/>
              </a:spcBef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LLM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에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도구를</a:t>
            </a:r>
            <a:r>
              <a:rPr sz="1200" spc="229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바인딩</a:t>
            </a:r>
            <a:endParaRPr sz="1200">
              <a:latin typeface="맑은 고딕"/>
              <a:cs typeface="맑은 고딕"/>
            </a:endParaRPr>
          </a:p>
          <a:p>
            <a:pPr marL="91440">
              <a:lnSpc>
                <a:spcPts val="1435"/>
              </a:lnSpc>
            </a:pPr>
            <a:r>
              <a:rPr sz="1200" dirty="0">
                <a:latin typeface="Consolas"/>
                <a:cs typeface="Consolas"/>
              </a:rPr>
              <a:t>llm_with_tools</a:t>
            </a:r>
            <a:r>
              <a:rPr sz="1200" spc="-75" dirty="0">
                <a:latin typeface="Consolas"/>
                <a:cs typeface="Consolas"/>
              </a:rPr>
              <a:t> </a:t>
            </a:r>
            <a:r>
              <a:rPr sz="1200" spc="-50" dirty="0">
                <a:latin typeface="Consolas"/>
                <a:cs typeface="Consolas"/>
              </a:rPr>
              <a:t>=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onsolas"/>
              <a:cs typeface="Consolas"/>
            </a:endParaRPr>
          </a:p>
          <a:p>
            <a:pPr marL="91440">
              <a:lnSpc>
                <a:spcPts val="1435"/>
              </a:lnSpc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LLM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체인</a:t>
            </a:r>
            <a:r>
              <a:rPr sz="1200" spc="22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생성</a:t>
            </a:r>
            <a:endParaRPr sz="1200">
              <a:latin typeface="맑은 고딕"/>
              <a:cs typeface="맑은 고딕"/>
            </a:endParaRPr>
          </a:p>
          <a:p>
            <a:pPr marL="91440">
              <a:lnSpc>
                <a:spcPts val="1435"/>
              </a:lnSpc>
            </a:pPr>
            <a:r>
              <a:rPr sz="1200" dirty="0">
                <a:latin typeface="Consolas"/>
                <a:cs typeface="Consolas"/>
              </a:rPr>
              <a:t>llm_chain</a:t>
            </a:r>
            <a:r>
              <a:rPr sz="1200" spc="-2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1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prompt</a:t>
            </a:r>
            <a:r>
              <a:rPr sz="1200" spc="-1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|</a:t>
            </a:r>
            <a:r>
              <a:rPr sz="1200" spc="-25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llm_with_tools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98640" y="2377185"/>
            <a:ext cx="3798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onsolas"/>
                <a:cs typeface="Consolas"/>
              </a:rPr>
              <a:t>@chain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def</a:t>
            </a:r>
            <a:r>
              <a:rPr sz="12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web_search_chain(user_input:</a:t>
            </a:r>
            <a:r>
              <a:rPr sz="1200" spc="-5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str,</a:t>
            </a:r>
            <a:r>
              <a:rPr sz="1200" spc="-5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config: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98640" y="2742641"/>
            <a:ext cx="3294379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onsolas"/>
                <a:cs typeface="Consolas"/>
              </a:rPr>
              <a:t>RunnableConfig):</a:t>
            </a:r>
            <a:endParaRPr sz="1200">
              <a:latin typeface="Consolas"/>
              <a:cs typeface="Consolas"/>
            </a:endParaRPr>
          </a:p>
          <a:p>
            <a:pPr marL="33528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Consolas"/>
                <a:cs typeface="Consolas"/>
              </a:rPr>
              <a:t>input_</a:t>
            </a:r>
            <a:r>
              <a:rPr sz="1200" spc="-3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{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"user_input"</a:t>
            </a:r>
            <a:r>
              <a:rPr sz="1200" dirty="0">
                <a:latin typeface="Consolas"/>
                <a:cs typeface="Consolas"/>
              </a:rPr>
              <a:t>:</a:t>
            </a:r>
            <a:r>
              <a:rPr sz="1200" spc="-3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user_input}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33920" y="3109086"/>
            <a:ext cx="4051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onsolas"/>
                <a:cs typeface="Consolas"/>
              </a:rPr>
              <a:t>ai_msg</a:t>
            </a:r>
            <a:r>
              <a:rPr sz="1200" spc="-4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3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llm_chain.invoke(input_,</a:t>
            </a:r>
            <a:r>
              <a:rPr sz="1200" spc="-45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config=config) </a:t>
            </a:r>
            <a:r>
              <a:rPr sz="1200" dirty="0">
                <a:latin typeface="Consolas"/>
                <a:cs typeface="Consolas"/>
              </a:rPr>
              <a:t>tool_msgs</a:t>
            </a:r>
            <a:r>
              <a:rPr sz="1200" spc="-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15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web_search_tool.batch(</a:t>
            </a:r>
            <a:endParaRPr sz="1200">
              <a:latin typeface="Consolas"/>
              <a:cs typeface="Consolas"/>
            </a:endParaRPr>
          </a:p>
          <a:p>
            <a:pPr marL="336550">
              <a:lnSpc>
                <a:spcPct val="100000"/>
              </a:lnSpc>
            </a:pPr>
            <a:r>
              <a:rPr sz="1200" dirty="0">
                <a:latin typeface="Consolas"/>
                <a:cs typeface="Consolas"/>
              </a:rPr>
              <a:t>ai_msg.tool_calls,</a:t>
            </a:r>
            <a:r>
              <a:rPr sz="1200" spc="-75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config=config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70725" y="3657727"/>
            <a:ext cx="838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33920" y="3840607"/>
            <a:ext cx="2019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2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llm_chain.invoke(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70725" y="4389501"/>
            <a:ext cx="96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06551" y="1822373"/>
            <a:ext cx="4437380" cy="391160"/>
          </a:xfrm>
          <a:custGeom>
            <a:avLst/>
            <a:gdLst/>
            <a:ahLst/>
            <a:cxnLst/>
            <a:rect l="l" t="t" r="r" b="b"/>
            <a:pathLst>
              <a:path w="4437380" h="391160">
                <a:moveTo>
                  <a:pt x="4437380" y="0"/>
                </a:moveTo>
                <a:lnTo>
                  <a:pt x="0" y="0"/>
                </a:lnTo>
                <a:lnTo>
                  <a:pt x="0" y="390982"/>
                </a:lnTo>
                <a:lnTo>
                  <a:pt x="4437380" y="390982"/>
                </a:lnTo>
                <a:lnTo>
                  <a:pt x="4437380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06551" y="1822373"/>
            <a:ext cx="4437380" cy="3911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25"/>
              </a:spcBef>
            </a:pP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LLM</a:t>
            </a:r>
            <a:r>
              <a:rPr sz="1800" b="1" spc="-1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체인을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 정의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95009" y="1822373"/>
            <a:ext cx="5160010" cy="4502150"/>
            <a:chOff x="6295009" y="1822373"/>
            <a:chExt cx="5160010" cy="4502150"/>
          </a:xfrm>
        </p:grpSpPr>
        <p:sp>
          <p:nvSpPr>
            <p:cNvPr id="17" name="object 17"/>
            <p:cNvSpPr/>
            <p:nvPr/>
          </p:nvSpPr>
          <p:spPr>
            <a:xfrm>
              <a:off x="6295009" y="5354637"/>
              <a:ext cx="5160010" cy="969644"/>
            </a:xfrm>
            <a:custGeom>
              <a:avLst/>
              <a:gdLst/>
              <a:ahLst/>
              <a:cxnLst/>
              <a:rect l="l" t="t" r="r" b="b"/>
              <a:pathLst>
                <a:path w="5160009" h="969645">
                  <a:moveTo>
                    <a:pt x="5159883" y="0"/>
                  </a:moveTo>
                  <a:lnTo>
                    <a:pt x="0" y="0"/>
                  </a:lnTo>
                  <a:lnTo>
                    <a:pt x="0" y="969492"/>
                  </a:lnTo>
                  <a:lnTo>
                    <a:pt x="5159883" y="969492"/>
                  </a:lnTo>
                  <a:lnTo>
                    <a:pt x="5159883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61912" y="1822373"/>
              <a:ext cx="4437380" cy="391160"/>
            </a:xfrm>
            <a:custGeom>
              <a:avLst/>
              <a:gdLst/>
              <a:ahLst/>
              <a:cxnLst/>
              <a:rect l="l" t="t" r="r" b="b"/>
              <a:pathLst>
                <a:path w="4437380" h="391160">
                  <a:moveTo>
                    <a:pt x="4437380" y="0"/>
                  </a:moveTo>
                  <a:lnTo>
                    <a:pt x="0" y="0"/>
                  </a:lnTo>
                  <a:lnTo>
                    <a:pt x="0" y="390982"/>
                  </a:lnTo>
                  <a:lnTo>
                    <a:pt x="4437380" y="390982"/>
                  </a:lnTo>
                  <a:lnTo>
                    <a:pt x="443738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661911" y="1822373"/>
            <a:ext cx="4437380" cy="3911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425"/>
              </a:spcBef>
            </a:pP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LLM</a:t>
            </a:r>
            <a:r>
              <a:rPr sz="1800" b="1" spc="-6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체인에</a:t>
            </a:r>
            <a:r>
              <a:rPr sz="1800" b="1" spc="-7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맑은 고딕"/>
                <a:cs typeface="맑은 고딕"/>
              </a:rPr>
              <a:t>ToolMessage</a:t>
            </a:r>
            <a:r>
              <a:rPr sz="1800" b="1" spc="-4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전달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181463" y="3650488"/>
            <a:ext cx="1273810" cy="364490"/>
          </a:xfrm>
          <a:custGeom>
            <a:avLst/>
            <a:gdLst/>
            <a:ahLst/>
            <a:cxnLst/>
            <a:rect l="l" t="t" r="r" b="b"/>
            <a:pathLst>
              <a:path w="1273809" h="364489">
                <a:moveTo>
                  <a:pt x="1215389" y="0"/>
                </a:moveTo>
                <a:lnTo>
                  <a:pt x="184150" y="0"/>
                </a:lnTo>
                <a:lnTo>
                  <a:pt x="161599" y="4548"/>
                </a:lnTo>
                <a:lnTo>
                  <a:pt x="143192" y="16954"/>
                </a:lnTo>
                <a:lnTo>
                  <a:pt x="130786" y="35361"/>
                </a:lnTo>
                <a:lnTo>
                  <a:pt x="126237" y="57912"/>
                </a:lnTo>
                <a:lnTo>
                  <a:pt x="126237" y="202692"/>
                </a:lnTo>
                <a:lnTo>
                  <a:pt x="0" y="364489"/>
                </a:lnTo>
                <a:lnTo>
                  <a:pt x="126237" y="289560"/>
                </a:lnTo>
                <a:lnTo>
                  <a:pt x="1273302" y="289560"/>
                </a:lnTo>
                <a:lnTo>
                  <a:pt x="1273302" y="57912"/>
                </a:lnTo>
                <a:lnTo>
                  <a:pt x="1268753" y="35361"/>
                </a:lnTo>
                <a:lnTo>
                  <a:pt x="1256347" y="16954"/>
                </a:lnTo>
                <a:lnTo>
                  <a:pt x="1237940" y="4548"/>
                </a:lnTo>
                <a:lnTo>
                  <a:pt x="1215389" y="0"/>
                </a:lnTo>
                <a:close/>
              </a:path>
              <a:path w="1273809" h="364489">
                <a:moveTo>
                  <a:pt x="1273302" y="289560"/>
                </a:moveTo>
                <a:lnTo>
                  <a:pt x="126237" y="289560"/>
                </a:lnTo>
                <a:lnTo>
                  <a:pt x="130786" y="312110"/>
                </a:lnTo>
                <a:lnTo>
                  <a:pt x="143192" y="330517"/>
                </a:lnTo>
                <a:lnTo>
                  <a:pt x="161599" y="342923"/>
                </a:lnTo>
                <a:lnTo>
                  <a:pt x="184150" y="347472"/>
                </a:lnTo>
                <a:lnTo>
                  <a:pt x="1215389" y="347472"/>
                </a:lnTo>
                <a:lnTo>
                  <a:pt x="1237940" y="342923"/>
                </a:lnTo>
                <a:lnTo>
                  <a:pt x="1256347" y="330517"/>
                </a:lnTo>
                <a:lnTo>
                  <a:pt x="1268753" y="312110"/>
                </a:lnTo>
                <a:lnTo>
                  <a:pt x="1273302" y="289560"/>
                </a:lnTo>
                <a:close/>
              </a:path>
            </a:pathLst>
          </a:custGeom>
          <a:solidFill>
            <a:srgbClr val="E9703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550017" y="3718052"/>
            <a:ext cx="675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80350D"/>
                </a:solidFill>
                <a:latin typeface="맑은 고딕"/>
                <a:cs typeface="맑은 고딕"/>
              </a:rPr>
              <a:t>검색</a:t>
            </a:r>
            <a:r>
              <a:rPr sz="1200" b="1" spc="-5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200" b="1" spc="-25" dirty="0">
                <a:solidFill>
                  <a:srgbClr val="80350D"/>
                </a:solidFill>
                <a:latin typeface="맑은 고딕"/>
                <a:cs typeface="맑은 고딕"/>
              </a:rPr>
              <a:t>결과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249409" y="4280661"/>
            <a:ext cx="1330325" cy="358775"/>
          </a:xfrm>
          <a:custGeom>
            <a:avLst/>
            <a:gdLst/>
            <a:ahLst/>
            <a:cxnLst/>
            <a:rect l="l" t="t" r="r" b="b"/>
            <a:pathLst>
              <a:path w="1330325" h="358775">
                <a:moveTo>
                  <a:pt x="0" y="0"/>
                </a:moveTo>
                <a:lnTo>
                  <a:pt x="182880" y="156082"/>
                </a:lnTo>
                <a:lnTo>
                  <a:pt x="182880" y="300863"/>
                </a:lnTo>
                <a:lnTo>
                  <a:pt x="187428" y="323359"/>
                </a:lnTo>
                <a:lnTo>
                  <a:pt x="199834" y="341772"/>
                </a:lnTo>
                <a:lnTo>
                  <a:pt x="218241" y="354208"/>
                </a:lnTo>
                <a:lnTo>
                  <a:pt x="240792" y="358775"/>
                </a:lnTo>
                <a:lnTo>
                  <a:pt x="1272032" y="358775"/>
                </a:lnTo>
                <a:lnTo>
                  <a:pt x="1294582" y="354208"/>
                </a:lnTo>
                <a:lnTo>
                  <a:pt x="1312989" y="341772"/>
                </a:lnTo>
                <a:lnTo>
                  <a:pt x="1325395" y="323359"/>
                </a:lnTo>
                <a:lnTo>
                  <a:pt x="1329944" y="300863"/>
                </a:lnTo>
                <a:lnTo>
                  <a:pt x="1329944" y="69214"/>
                </a:lnTo>
                <a:lnTo>
                  <a:pt x="182880" y="69214"/>
                </a:lnTo>
                <a:lnTo>
                  <a:pt x="0" y="0"/>
                </a:lnTo>
                <a:close/>
              </a:path>
              <a:path w="1330325" h="358775">
                <a:moveTo>
                  <a:pt x="1272032" y="11302"/>
                </a:moveTo>
                <a:lnTo>
                  <a:pt x="240792" y="11302"/>
                </a:lnTo>
                <a:lnTo>
                  <a:pt x="218241" y="15851"/>
                </a:lnTo>
                <a:lnTo>
                  <a:pt x="199834" y="28257"/>
                </a:lnTo>
                <a:lnTo>
                  <a:pt x="187428" y="46664"/>
                </a:lnTo>
                <a:lnTo>
                  <a:pt x="182880" y="69214"/>
                </a:lnTo>
                <a:lnTo>
                  <a:pt x="1329944" y="69214"/>
                </a:lnTo>
                <a:lnTo>
                  <a:pt x="1325395" y="46664"/>
                </a:lnTo>
                <a:lnTo>
                  <a:pt x="1312989" y="28257"/>
                </a:lnTo>
                <a:lnTo>
                  <a:pt x="1294582" y="15851"/>
                </a:lnTo>
                <a:lnTo>
                  <a:pt x="1272032" y="11302"/>
                </a:lnTo>
                <a:close/>
              </a:path>
            </a:pathLst>
          </a:custGeom>
          <a:solidFill>
            <a:srgbClr val="E9703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374384" y="4023182"/>
            <a:ext cx="4961255" cy="1842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596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onsolas"/>
                <a:cs typeface="Consolas"/>
              </a:rPr>
              <a:t>{**input_,</a:t>
            </a:r>
            <a:r>
              <a:rPr sz="1200" spc="-6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"messages"</a:t>
            </a:r>
            <a:r>
              <a:rPr sz="1200" dirty="0">
                <a:latin typeface="Consolas"/>
                <a:cs typeface="Consolas"/>
              </a:rPr>
              <a:t>:</a:t>
            </a:r>
            <a:r>
              <a:rPr sz="1200" spc="-6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[ai_msg,</a:t>
            </a:r>
            <a:r>
              <a:rPr sz="1200" spc="-7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*tool_msgs]},</a:t>
            </a:r>
            <a:endParaRPr sz="1200">
              <a:latin typeface="Consolas"/>
              <a:cs typeface="Consolas"/>
            </a:endParaRPr>
          </a:p>
          <a:p>
            <a:pPr marL="695960">
              <a:lnSpc>
                <a:spcPts val="1325"/>
              </a:lnSpc>
              <a:spcBef>
                <a:spcPts val="5"/>
              </a:spcBef>
            </a:pPr>
            <a:r>
              <a:rPr sz="1200" spc="-10" dirty="0">
                <a:latin typeface="Consolas"/>
                <a:cs typeface="Consolas"/>
              </a:rPr>
              <a:t>config=config</a:t>
            </a:r>
            <a:endParaRPr sz="1200">
              <a:latin typeface="Consolas"/>
              <a:cs typeface="Consolas"/>
            </a:endParaRPr>
          </a:p>
          <a:p>
            <a:pPr marL="3299460">
              <a:lnSpc>
                <a:spcPts val="1325"/>
              </a:lnSpc>
            </a:pPr>
            <a:r>
              <a:rPr sz="1200" b="1" dirty="0">
                <a:solidFill>
                  <a:srgbClr val="80350D"/>
                </a:solidFill>
                <a:latin typeface="맑은 고딕"/>
                <a:cs typeface="맑은 고딕"/>
              </a:rPr>
              <a:t>검색</a:t>
            </a:r>
            <a:r>
              <a:rPr sz="1200" b="1" spc="-5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200" b="1" spc="-25" dirty="0">
                <a:solidFill>
                  <a:srgbClr val="80350D"/>
                </a:solidFill>
                <a:latin typeface="맑은 고딕"/>
                <a:cs typeface="맑은 고딕"/>
              </a:rPr>
              <a:t>요청</a:t>
            </a:r>
            <a:endParaRPr sz="1200">
              <a:latin typeface="맑은 고딕"/>
              <a:cs typeface="맑은 고딕"/>
            </a:endParaRPr>
          </a:p>
          <a:p>
            <a:pPr marL="24130" algn="just">
              <a:lnSpc>
                <a:spcPct val="100000"/>
              </a:lnSpc>
              <a:spcBef>
                <a:spcPts val="1685"/>
              </a:spcBef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체인</a:t>
            </a:r>
            <a:r>
              <a:rPr sz="1200" spc="24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실행</a:t>
            </a:r>
            <a:endParaRPr sz="1200">
              <a:latin typeface="맑은 고딕"/>
              <a:cs typeface="맑은 고딕"/>
            </a:endParaRPr>
          </a:p>
          <a:p>
            <a:pPr marL="24130" algn="just">
              <a:lnSpc>
                <a:spcPct val="100000"/>
              </a:lnSpc>
            </a:pPr>
            <a:r>
              <a:rPr sz="1200" dirty="0">
                <a:latin typeface="Consolas"/>
                <a:cs typeface="Consolas"/>
              </a:rPr>
              <a:t>web_search_chain.invoke(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오늘</a:t>
            </a:r>
            <a:r>
              <a:rPr sz="1200" spc="24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모엣샹동의</a:t>
            </a:r>
            <a:r>
              <a:rPr sz="1200" spc="19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가격은</a:t>
            </a:r>
            <a:r>
              <a:rPr sz="1200" spc="18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맑은 고딕"/>
                <a:cs typeface="맑은 고딕"/>
              </a:rPr>
              <a:t>얼마인가요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?"</a:t>
            </a:r>
            <a:r>
              <a:rPr sz="1200" spc="-10" dirty="0"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200">
              <a:latin typeface="Consolas"/>
              <a:cs typeface="Consolas"/>
            </a:endParaRPr>
          </a:p>
          <a:p>
            <a:pPr marL="12700" marR="5080" algn="just">
              <a:lnSpc>
                <a:spcPct val="100000"/>
              </a:lnSpc>
            </a:pPr>
            <a:r>
              <a:rPr sz="1000" dirty="0">
                <a:latin typeface="맑은 고딕"/>
                <a:cs typeface="맑은 고딕"/>
              </a:rPr>
              <a:t>현재</a:t>
            </a:r>
            <a:r>
              <a:rPr sz="1000" spc="17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모엣</a:t>
            </a:r>
            <a:r>
              <a:rPr sz="1000" spc="18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샹동</a:t>
            </a:r>
            <a:r>
              <a:rPr sz="1000" dirty="0">
                <a:latin typeface="Consolas"/>
                <a:cs typeface="Consolas"/>
              </a:rPr>
              <a:t>(Moët</a:t>
            </a:r>
            <a:r>
              <a:rPr sz="1000" spc="-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&amp;</a:t>
            </a:r>
            <a:r>
              <a:rPr sz="1000" spc="-4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Chandon)</a:t>
            </a:r>
            <a:r>
              <a:rPr sz="1000" dirty="0">
                <a:latin typeface="맑은 고딕"/>
                <a:cs typeface="맑은 고딕"/>
              </a:rPr>
              <a:t>의</a:t>
            </a:r>
            <a:r>
              <a:rPr sz="1000" spc="16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가격은</a:t>
            </a:r>
            <a:r>
              <a:rPr sz="1000" spc="18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대부분의</a:t>
            </a:r>
            <a:r>
              <a:rPr sz="1000" spc="17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병에</a:t>
            </a:r>
            <a:r>
              <a:rPr sz="1000" spc="18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대해</a:t>
            </a:r>
            <a:r>
              <a:rPr sz="1000" spc="17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평균적으로</a:t>
            </a:r>
            <a:r>
              <a:rPr sz="1000" spc="19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약</a:t>
            </a:r>
            <a:r>
              <a:rPr sz="1000" spc="165" dirty="0">
                <a:latin typeface="맑은 고딕"/>
                <a:cs typeface="맑은 고딕"/>
              </a:rPr>
              <a:t> </a:t>
            </a:r>
            <a:r>
              <a:rPr sz="1000" spc="-25" dirty="0">
                <a:latin typeface="Consolas"/>
                <a:cs typeface="Consolas"/>
              </a:rPr>
              <a:t>51 </a:t>
            </a:r>
            <a:r>
              <a:rPr sz="1000" dirty="0">
                <a:latin typeface="맑은 고딕"/>
                <a:cs typeface="맑은 고딕"/>
              </a:rPr>
              <a:t>달러에서</a:t>
            </a:r>
            <a:r>
              <a:rPr sz="1000" spc="170" dirty="0">
                <a:latin typeface="맑은 고딕"/>
                <a:cs typeface="맑은 고딕"/>
              </a:rPr>
              <a:t> </a:t>
            </a:r>
            <a:r>
              <a:rPr sz="1000" dirty="0">
                <a:latin typeface="Consolas"/>
                <a:cs typeface="Consolas"/>
              </a:rPr>
              <a:t>65</a:t>
            </a:r>
            <a:r>
              <a:rPr sz="1000" dirty="0">
                <a:latin typeface="맑은 고딕"/>
                <a:cs typeface="맑은 고딕"/>
              </a:rPr>
              <a:t>달러</a:t>
            </a:r>
            <a:r>
              <a:rPr sz="1000" spc="16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사이입니다</a:t>
            </a:r>
            <a:r>
              <a:rPr sz="1000" dirty="0">
                <a:latin typeface="Consolas"/>
                <a:cs typeface="Consolas"/>
              </a:rPr>
              <a:t>.</a:t>
            </a:r>
            <a:r>
              <a:rPr sz="1000" spc="-5" dirty="0">
                <a:latin typeface="Consolas"/>
                <a:cs typeface="Consolas"/>
              </a:rPr>
              <a:t> </a:t>
            </a:r>
            <a:r>
              <a:rPr sz="1000" dirty="0">
                <a:latin typeface="맑은 고딕"/>
                <a:cs typeface="맑은 고딕"/>
              </a:rPr>
              <a:t>구체적인</a:t>
            </a:r>
            <a:r>
              <a:rPr sz="1000" spc="17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가격은</a:t>
            </a:r>
            <a:r>
              <a:rPr sz="1000" spc="17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구매하는</a:t>
            </a:r>
            <a:r>
              <a:rPr sz="1000" spc="17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매장이나</a:t>
            </a:r>
            <a:r>
              <a:rPr sz="1000" spc="17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지역에</a:t>
            </a:r>
            <a:r>
              <a:rPr sz="1000" spc="17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따라</a:t>
            </a:r>
            <a:r>
              <a:rPr sz="1000" spc="160" dirty="0">
                <a:latin typeface="맑은 고딕"/>
                <a:cs typeface="맑은 고딕"/>
              </a:rPr>
              <a:t> </a:t>
            </a:r>
            <a:r>
              <a:rPr sz="1000" spc="-50" dirty="0">
                <a:latin typeface="맑은 고딕"/>
                <a:cs typeface="맑은 고딕"/>
              </a:rPr>
              <a:t>다 </a:t>
            </a:r>
            <a:r>
              <a:rPr sz="1000" dirty="0">
                <a:latin typeface="맑은 고딕"/>
                <a:cs typeface="맑은 고딕"/>
              </a:rPr>
              <a:t>를</a:t>
            </a:r>
            <a:r>
              <a:rPr sz="1000" spc="18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수</a:t>
            </a:r>
            <a:r>
              <a:rPr sz="1000" spc="190" dirty="0">
                <a:latin typeface="맑은 고딕"/>
                <a:cs typeface="맑은 고딕"/>
              </a:rPr>
              <a:t> </a:t>
            </a:r>
            <a:r>
              <a:rPr sz="1000" spc="-20" dirty="0">
                <a:latin typeface="맑은 고딕"/>
                <a:cs typeface="맑은 고딕"/>
              </a:rPr>
              <a:t>있습니다</a:t>
            </a:r>
            <a:r>
              <a:rPr sz="1000" spc="-20" dirty="0">
                <a:latin typeface="Consolas"/>
                <a:cs typeface="Consolas"/>
              </a:rPr>
              <a:t>.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607931" y="2736342"/>
            <a:ext cx="1273810" cy="364490"/>
          </a:xfrm>
          <a:custGeom>
            <a:avLst/>
            <a:gdLst/>
            <a:ahLst/>
            <a:cxnLst/>
            <a:rect l="l" t="t" r="r" b="b"/>
            <a:pathLst>
              <a:path w="1273809" h="364489">
                <a:moveTo>
                  <a:pt x="1215390" y="0"/>
                </a:moveTo>
                <a:lnTo>
                  <a:pt x="184023" y="0"/>
                </a:lnTo>
                <a:lnTo>
                  <a:pt x="161472" y="4548"/>
                </a:lnTo>
                <a:lnTo>
                  <a:pt x="143065" y="16954"/>
                </a:lnTo>
                <a:lnTo>
                  <a:pt x="130659" y="35361"/>
                </a:lnTo>
                <a:lnTo>
                  <a:pt x="126111" y="57912"/>
                </a:lnTo>
                <a:lnTo>
                  <a:pt x="126111" y="202692"/>
                </a:lnTo>
                <a:lnTo>
                  <a:pt x="0" y="364490"/>
                </a:lnTo>
                <a:lnTo>
                  <a:pt x="126111" y="289560"/>
                </a:lnTo>
                <a:lnTo>
                  <a:pt x="1273302" y="289560"/>
                </a:lnTo>
                <a:lnTo>
                  <a:pt x="1273302" y="57912"/>
                </a:lnTo>
                <a:lnTo>
                  <a:pt x="1268753" y="35361"/>
                </a:lnTo>
                <a:lnTo>
                  <a:pt x="1256347" y="16954"/>
                </a:lnTo>
                <a:lnTo>
                  <a:pt x="1237940" y="4548"/>
                </a:lnTo>
                <a:lnTo>
                  <a:pt x="1215390" y="0"/>
                </a:lnTo>
                <a:close/>
              </a:path>
              <a:path w="1273809" h="364489">
                <a:moveTo>
                  <a:pt x="1273302" y="289560"/>
                </a:moveTo>
                <a:lnTo>
                  <a:pt x="126111" y="289560"/>
                </a:lnTo>
                <a:lnTo>
                  <a:pt x="130659" y="312110"/>
                </a:lnTo>
                <a:lnTo>
                  <a:pt x="143065" y="330517"/>
                </a:lnTo>
                <a:lnTo>
                  <a:pt x="161472" y="342923"/>
                </a:lnTo>
                <a:lnTo>
                  <a:pt x="184023" y="347472"/>
                </a:lnTo>
                <a:lnTo>
                  <a:pt x="1215390" y="347472"/>
                </a:lnTo>
                <a:lnTo>
                  <a:pt x="1237940" y="342923"/>
                </a:lnTo>
                <a:lnTo>
                  <a:pt x="1256347" y="330517"/>
                </a:lnTo>
                <a:lnTo>
                  <a:pt x="1268753" y="312110"/>
                </a:lnTo>
                <a:lnTo>
                  <a:pt x="1273302" y="289560"/>
                </a:lnTo>
                <a:close/>
              </a:path>
            </a:pathLst>
          </a:custGeom>
          <a:solidFill>
            <a:srgbClr val="E9703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900157" y="2803652"/>
            <a:ext cx="828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80350D"/>
                </a:solidFill>
                <a:latin typeface="맑은 고딕"/>
                <a:cs typeface="맑은 고딕"/>
              </a:rPr>
              <a:t>사용자</a:t>
            </a:r>
            <a:r>
              <a:rPr sz="1200" b="1" spc="-5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200" b="1" spc="-25" dirty="0">
                <a:solidFill>
                  <a:srgbClr val="80350D"/>
                </a:solidFill>
                <a:latin typeface="맑은 고딕"/>
                <a:cs typeface="맑은 고딕"/>
              </a:rPr>
              <a:t>질문</a:t>
            </a:r>
            <a:endParaRPr sz="1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사용자</a:t>
            </a:r>
            <a:r>
              <a:rPr spc="-10" dirty="0"/>
              <a:t> </a:t>
            </a:r>
            <a:r>
              <a:rPr dirty="0"/>
              <a:t>정의</a:t>
            </a:r>
            <a:r>
              <a:rPr spc="-10" dirty="0"/>
              <a:t> </a:t>
            </a:r>
            <a:r>
              <a:rPr spc="-40" dirty="0"/>
              <a:t>도구(Tool)</a:t>
            </a:r>
          </a:p>
        </p:txBody>
      </p:sp>
      <p:sp>
        <p:nvSpPr>
          <p:cNvPr id="3" name="object 3"/>
          <p:cNvSpPr/>
          <p:nvPr/>
        </p:nvSpPr>
        <p:spPr>
          <a:xfrm>
            <a:off x="500748" y="1756282"/>
            <a:ext cx="5716270" cy="4789805"/>
          </a:xfrm>
          <a:custGeom>
            <a:avLst/>
            <a:gdLst/>
            <a:ahLst/>
            <a:cxnLst/>
            <a:rect l="l" t="t" r="r" b="b"/>
            <a:pathLst>
              <a:path w="5716270" h="4789805">
                <a:moveTo>
                  <a:pt x="5483491" y="0"/>
                </a:moveTo>
                <a:lnTo>
                  <a:pt x="232244" y="0"/>
                </a:lnTo>
                <a:lnTo>
                  <a:pt x="185438" y="4714"/>
                </a:lnTo>
                <a:lnTo>
                  <a:pt x="141842" y="18236"/>
                </a:lnTo>
                <a:lnTo>
                  <a:pt x="102392" y="39634"/>
                </a:lnTo>
                <a:lnTo>
                  <a:pt x="68021" y="67976"/>
                </a:lnTo>
                <a:lnTo>
                  <a:pt x="39662" y="102331"/>
                </a:lnTo>
                <a:lnTo>
                  <a:pt x="18250" y="141767"/>
                </a:lnTo>
                <a:lnTo>
                  <a:pt x="4718" y="185353"/>
                </a:lnTo>
                <a:lnTo>
                  <a:pt x="0" y="232155"/>
                </a:lnTo>
                <a:lnTo>
                  <a:pt x="0" y="4557407"/>
                </a:lnTo>
                <a:lnTo>
                  <a:pt x="4718" y="4604214"/>
                </a:lnTo>
                <a:lnTo>
                  <a:pt x="18250" y="4647809"/>
                </a:lnTo>
                <a:lnTo>
                  <a:pt x="39662" y="4687260"/>
                </a:lnTo>
                <a:lnTo>
                  <a:pt x="68021" y="4721631"/>
                </a:lnTo>
                <a:lnTo>
                  <a:pt x="102392" y="4749990"/>
                </a:lnTo>
                <a:lnTo>
                  <a:pt x="141842" y="4771402"/>
                </a:lnTo>
                <a:lnTo>
                  <a:pt x="185438" y="4784934"/>
                </a:lnTo>
                <a:lnTo>
                  <a:pt x="232244" y="4789652"/>
                </a:lnTo>
                <a:lnTo>
                  <a:pt x="5483491" y="4789652"/>
                </a:lnTo>
                <a:lnTo>
                  <a:pt x="5530300" y="4784934"/>
                </a:lnTo>
                <a:lnTo>
                  <a:pt x="5573899" y="4771402"/>
                </a:lnTo>
                <a:lnTo>
                  <a:pt x="5613356" y="4749990"/>
                </a:lnTo>
                <a:lnTo>
                  <a:pt x="5647734" y="4721631"/>
                </a:lnTo>
                <a:lnTo>
                  <a:pt x="5676100" y="4687260"/>
                </a:lnTo>
                <a:lnTo>
                  <a:pt x="5697518" y="4647809"/>
                </a:lnTo>
                <a:lnTo>
                  <a:pt x="5711054" y="4604214"/>
                </a:lnTo>
                <a:lnTo>
                  <a:pt x="5715774" y="4557407"/>
                </a:lnTo>
                <a:lnTo>
                  <a:pt x="5715774" y="232155"/>
                </a:lnTo>
                <a:lnTo>
                  <a:pt x="5711054" y="185353"/>
                </a:lnTo>
                <a:lnTo>
                  <a:pt x="5697518" y="141767"/>
                </a:lnTo>
                <a:lnTo>
                  <a:pt x="5676100" y="102331"/>
                </a:lnTo>
                <a:lnTo>
                  <a:pt x="5647734" y="67976"/>
                </a:lnTo>
                <a:lnTo>
                  <a:pt x="5613356" y="39634"/>
                </a:lnTo>
                <a:lnTo>
                  <a:pt x="5573899" y="18236"/>
                </a:lnTo>
                <a:lnTo>
                  <a:pt x="5530300" y="4714"/>
                </a:lnTo>
                <a:lnTo>
                  <a:pt x="5483491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7496" y="2127630"/>
            <a:ext cx="5392420" cy="2618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marR="5080" indent="-159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3990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랭체인은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사용자가 직접</a:t>
            </a:r>
            <a:r>
              <a:rPr sz="1800" spc="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도구를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정의하여 </a:t>
            </a:r>
            <a:r>
              <a:rPr sz="1800" spc="-20" dirty="0">
                <a:solidFill>
                  <a:srgbClr val="0D0D0D"/>
                </a:solidFill>
                <a:latin typeface="맑은 고딕"/>
                <a:cs typeface="맑은 고딕"/>
              </a:rPr>
              <a:t>사용하는 	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방법을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제공</a:t>
            </a:r>
            <a:endParaRPr sz="1800">
              <a:latin typeface="맑은 고딕"/>
              <a:cs typeface="맑은 고딕"/>
            </a:endParaRPr>
          </a:p>
          <a:p>
            <a:pPr marL="172085" indent="-159385">
              <a:lnSpc>
                <a:spcPct val="100000"/>
              </a:lnSpc>
              <a:spcBef>
                <a:spcPts val="2160"/>
              </a:spcBef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가장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대표적인</a:t>
            </a:r>
            <a:r>
              <a:rPr sz="1800" spc="-2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방법: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FF0000"/>
                </a:solidFill>
                <a:latin typeface="맑은 고딕"/>
                <a:cs typeface="맑은 고딕"/>
              </a:rPr>
              <a:t>@tool데코레이터</a:t>
            </a:r>
            <a:r>
              <a:rPr sz="1800" b="1" spc="-20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사용</a:t>
            </a:r>
            <a:endParaRPr sz="1800">
              <a:latin typeface="맑은 고딕"/>
              <a:cs typeface="맑은 고딕"/>
            </a:endParaRPr>
          </a:p>
          <a:p>
            <a:pPr marL="612775" lvl="1" indent="-142875">
              <a:lnSpc>
                <a:spcPct val="100000"/>
              </a:lnSpc>
              <a:spcBef>
                <a:spcPts val="2170"/>
              </a:spcBef>
              <a:buFont typeface="Arial"/>
              <a:buChar char="•"/>
              <a:tabLst>
                <a:tab pos="612775" algn="l"/>
              </a:tabLst>
            </a:pP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함수를</a:t>
            </a:r>
            <a:r>
              <a:rPr sz="1600" spc="-5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LangChain</a:t>
            </a:r>
            <a:r>
              <a:rPr sz="1600" spc="-4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도구로</a:t>
            </a:r>
            <a:r>
              <a:rPr sz="1600" spc="-4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변환하는</a:t>
            </a:r>
            <a:r>
              <a:rPr sz="1600" spc="-5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spc="-35" dirty="0">
                <a:solidFill>
                  <a:srgbClr val="0D0D0D"/>
                </a:solidFill>
                <a:latin typeface="맑은 고딕"/>
                <a:cs typeface="맑은 고딕"/>
              </a:rPr>
              <a:t>방법</a:t>
            </a:r>
            <a:endParaRPr sz="1600">
              <a:latin typeface="맑은 고딕"/>
              <a:cs typeface="맑은 고딕"/>
            </a:endParaRPr>
          </a:p>
          <a:p>
            <a:pPr marL="469900" marR="117475" lvl="1" indent="142875">
              <a:lnSpc>
                <a:spcPct val="100000"/>
              </a:lnSpc>
              <a:buFont typeface="Arial"/>
              <a:buChar char="•"/>
              <a:tabLst>
                <a:tab pos="612775" algn="l"/>
              </a:tabLst>
            </a:pP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도구</a:t>
            </a:r>
            <a:r>
              <a:rPr sz="1600" spc="-4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함수</a:t>
            </a:r>
            <a:r>
              <a:rPr sz="1600" spc="-3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작성</a:t>
            </a:r>
            <a:r>
              <a:rPr sz="1600" spc="-4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가이드라인:</a:t>
            </a:r>
            <a:r>
              <a:rPr sz="1600" spc="-2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명확한</a:t>
            </a:r>
            <a:r>
              <a:rPr sz="1600" spc="-3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입출력</a:t>
            </a:r>
            <a:r>
              <a:rPr sz="1600" spc="-3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정의,</a:t>
            </a:r>
            <a:r>
              <a:rPr sz="1600" spc="-3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spc="-50" dirty="0">
                <a:solidFill>
                  <a:srgbClr val="0D0D0D"/>
                </a:solidFill>
                <a:latin typeface="맑은 고딕"/>
                <a:cs typeface="맑은 고딕"/>
              </a:rPr>
              <a:t>단 </a:t>
            </a: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일</a:t>
            </a:r>
            <a:r>
              <a:rPr sz="1600" spc="-4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책임</a:t>
            </a:r>
            <a:r>
              <a:rPr sz="16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원칙</a:t>
            </a:r>
            <a:r>
              <a:rPr sz="1600" spc="-25" dirty="0">
                <a:solidFill>
                  <a:srgbClr val="0D0D0D"/>
                </a:solidFill>
                <a:latin typeface="맑은 고딕"/>
                <a:cs typeface="맑은 고딕"/>
              </a:rPr>
              <a:t> 준수</a:t>
            </a:r>
            <a:endParaRPr sz="1600">
              <a:latin typeface="맑은 고딕"/>
              <a:cs typeface="맑은 고딕"/>
            </a:endParaRPr>
          </a:p>
          <a:p>
            <a:pPr marL="612775" lvl="1" indent="-142875">
              <a:lnSpc>
                <a:spcPct val="100000"/>
              </a:lnSpc>
              <a:buFont typeface="Arial"/>
              <a:buChar char="•"/>
              <a:tabLst>
                <a:tab pos="612775" algn="l"/>
              </a:tabLst>
            </a:pP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도구</a:t>
            </a:r>
            <a:r>
              <a:rPr sz="1600" spc="-4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spc="-10" dirty="0">
                <a:solidFill>
                  <a:srgbClr val="0D0D0D"/>
                </a:solidFill>
                <a:latin typeface="맑은 고딕"/>
                <a:cs typeface="맑은 고딕"/>
              </a:rPr>
              <a:t>설명(description)</a:t>
            </a: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 작성:</a:t>
            </a:r>
            <a:r>
              <a:rPr sz="1600" spc="-3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LLM이</a:t>
            </a:r>
            <a:r>
              <a:rPr sz="1600" spc="-5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도구의</a:t>
            </a:r>
            <a:r>
              <a:rPr sz="1600" spc="-25" dirty="0">
                <a:solidFill>
                  <a:srgbClr val="0D0D0D"/>
                </a:solidFill>
                <a:latin typeface="맑은 고딕"/>
                <a:cs typeface="맑은 고딕"/>
              </a:rPr>
              <a:t> 기능을</a:t>
            </a:r>
            <a:endParaRPr sz="1600">
              <a:latin typeface="맑은 고딕"/>
              <a:cs typeface="맑은 고딕"/>
            </a:endParaRPr>
          </a:p>
          <a:p>
            <a:pPr marL="469900">
              <a:lnSpc>
                <a:spcPct val="100000"/>
              </a:lnSpc>
            </a:pP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정확히</a:t>
            </a:r>
            <a:r>
              <a:rPr sz="1600" spc="-5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이해하고</a:t>
            </a:r>
            <a:r>
              <a:rPr sz="1600" spc="-5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dirty="0">
                <a:solidFill>
                  <a:srgbClr val="0D0D0D"/>
                </a:solidFill>
                <a:latin typeface="맑은 고딕"/>
                <a:cs typeface="맑은 고딕"/>
              </a:rPr>
              <a:t>사용하도록</a:t>
            </a:r>
            <a:r>
              <a:rPr sz="1600" spc="-4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600" spc="-25" dirty="0">
                <a:solidFill>
                  <a:srgbClr val="0D0D0D"/>
                </a:solidFill>
                <a:latin typeface="맑은 고딕"/>
                <a:cs typeface="맑은 고딕"/>
              </a:rPr>
              <a:t>작성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5551" y="659638"/>
            <a:ext cx="2316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맑은 고딕"/>
                <a:cs typeface="맑은 고딕"/>
              </a:rPr>
              <a:t>LangChain</a:t>
            </a:r>
            <a:r>
              <a:rPr sz="1800" spc="-5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ToolCalling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63232" y="2163317"/>
            <a:ext cx="421005" cy="178435"/>
          </a:xfrm>
          <a:custGeom>
            <a:avLst/>
            <a:gdLst/>
            <a:ahLst/>
            <a:cxnLst/>
            <a:rect l="l" t="t" r="r" b="b"/>
            <a:pathLst>
              <a:path w="421004" h="178435">
                <a:moveTo>
                  <a:pt x="420624" y="0"/>
                </a:moveTo>
                <a:lnTo>
                  <a:pt x="0" y="0"/>
                </a:lnTo>
                <a:lnTo>
                  <a:pt x="0" y="178308"/>
                </a:lnTo>
                <a:lnTo>
                  <a:pt x="420624" y="178308"/>
                </a:lnTo>
                <a:lnTo>
                  <a:pt x="42062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900036" y="2500122"/>
            <a:ext cx="3711575" cy="20891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7145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"""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네이버</a:t>
            </a:r>
            <a:r>
              <a:rPr sz="1200" spc="229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블로그</a:t>
            </a:r>
            <a:r>
              <a:rPr sz="1200" spc="21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API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에</a:t>
            </a:r>
            <a:r>
              <a:rPr sz="1200" spc="229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검색</a:t>
            </a:r>
            <a:r>
              <a:rPr sz="1200" spc="21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요청을</a:t>
            </a:r>
            <a:r>
              <a:rPr sz="1200" spc="22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맑은 고딕"/>
                <a:cs typeface="맑은 고딕"/>
              </a:rPr>
              <a:t>보냅니다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."""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71792" y="1747266"/>
            <a:ext cx="5148580" cy="3824604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2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langchain_core.tools</a:t>
            </a:r>
            <a:r>
              <a:rPr sz="1200" spc="-3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2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latin typeface="Consolas"/>
                <a:cs typeface="Consolas"/>
              </a:rPr>
              <a:t>tool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200" spc="-10" dirty="0">
                <a:latin typeface="Consolas"/>
                <a:cs typeface="Consolas"/>
              </a:rPr>
              <a:t>@tool</a:t>
            </a:r>
            <a:endParaRPr sz="12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def</a:t>
            </a:r>
            <a:r>
              <a:rPr sz="12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blog_search(query:</a:t>
            </a:r>
            <a:r>
              <a:rPr sz="1200" spc="-3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str)</a:t>
            </a:r>
            <a:r>
              <a:rPr sz="1200" spc="-25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-</a:t>
            </a:r>
            <a:r>
              <a:rPr sz="1200" dirty="0">
                <a:latin typeface="Consolas"/>
                <a:cs typeface="Consolas"/>
              </a:rPr>
              <a:t>&gt;</a:t>
            </a:r>
            <a:r>
              <a:rPr sz="1200" spc="-2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List[Dict]: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Consolas"/>
              <a:cs typeface="Consolas"/>
            </a:endParaRPr>
          </a:p>
          <a:p>
            <a:pPr marL="427355" marR="251460">
              <a:lnSpc>
                <a:spcPct val="100000"/>
              </a:lnSpc>
            </a:pPr>
            <a:r>
              <a:rPr sz="1200" dirty="0">
                <a:latin typeface="Consolas"/>
                <a:cs typeface="Consolas"/>
              </a:rPr>
              <a:t>url</a:t>
            </a:r>
            <a:r>
              <a:rPr sz="1200" spc="-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15" dirty="0"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"https://openapi.naver.com/v1/search/blog.json" </a:t>
            </a:r>
            <a:r>
              <a:rPr sz="1200" dirty="0">
                <a:latin typeface="Consolas"/>
                <a:cs typeface="Consolas"/>
              </a:rPr>
              <a:t>headers</a:t>
            </a:r>
            <a:r>
              <a:rPr sz="1200" spc="-1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20" dirty="0">
                <a:latin typeface="Consolas"/>
                <a:cs typeface="Consolas"/>
              </a:rPr>
              <a:t> </a:t>
            </a:r>
            <a:r>
              <a:rPr sz="1200" spc="-50" dirty="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"X-Naver-Client-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Id"</a:t>
            </a:r>
            <a:r>
              <a:rPr sz="1200" dirty="0">
                <a:latin typeface="Consolas"/>
                <a:cs typeface="Consolas"/>
              </a:rPr>
              <a:t>:</a:t>
            </a:r>
            <a:r>
              <a:rPr sz="1200" spc="65" dirty="0"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NAVER_CLIENT_ID</a:t>
            </a:r>
            <a:r>
              <a:rPr sz="1200" spc="-10" dirty="0">
                <a:latin typeface="Consolas"/>
                <a:cs typeface="Consolas"/>
              </a:rPr>
              <a:t>,</a:t>
            </a:r>
            <a:endParaRPr sz="12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"X-Naver-Client-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Secret"</a:t>
            </a:r>
            <a:r>
              <a:rPr sz="1200" dirty="0">
                <a:latin typeface="Consolas"/>
                <a:cs typeface="Consolas"/>
              </a:rPr>
              <a:t>:</a:t>
            </a:r>
            <a:r>
              <a:rPr sz="1200" spc="50" dirty="0"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NAVER_CLIENT_SECRET</a:t>
            </a:r>
            <a:endParaRPr sz="1200">
              <a:latin typeface="Consolas"/>
              <a:cs typeface="Consolas"/>
            </a:endParaRPr>
          </a:p>
          <a:p>
            <a:pPr marL="427355">
              <a:lnSpc>
                <a:spcPct val="100000"/>
              </a:lnSpc>
            </a:pPr>
            <a:r>
              <a:rPr sz="1200" spc="-50" dirty="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  <a:p>
            <a:pPr marL="427355">
              <a:lnSpc>
                <a:spcPct val="100000"/>
              </a:lnSpc>
            </a:pPr>
            <a:r>
              <a:rPr sz="1200" dirty="0">
                <a:latin typeface="Consolas"/>
                <a:cs typeface="Consolas"/>
              </a:rPr>
              <a:t>params</a:t>
            </a:r>
            <a:r>
              <a:rPr sz="1200" spc="-3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1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{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"query"</a:t>
            </a:r>
            <a:r>
              <a:rPr sz="1200" dirty="0">
                <a:latin typeface="Consolas"/>
                <a:cs typeface="Consolas"/>
              </a:rPr>
              <a:t>:</a:t>
            </a:r>
            <a:r>
              <a:rPr sz="1200" spc="-2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query,</a:t>
            </a:r>
            <a:r>
              <a:rPr sz="1200" spc="-3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"display"</a:t>
            </a:r>
            <a:r>
              <a:rPr sz="1200" dirty="0">
                <a:latin typeface="Consolas"/>
                <a:cs typeface="Consolas"/>
              </a:rPr>
              <a:t>:</a:t>
            </a:r>
            <a:r>
              <a:rPr sz="1200" spc="-2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98557"/>
                </a:solidFill>
                <a:latin typeface="Consolas"/>
                <a:cs typeface="Consolas"/>
              </a:rPr>
              <a:t>10</a:t>
            </a:r>
            <a:r>
              <a:rPr sz="1200" dirty="0">
                <a:latin typeface="Consolas"/>
                <a:cs typeface="Consolas"/>
              </a:rPr>
              <a:t>,</a:t>
            </a:r>
            <a:r>
              <a:rPr sz="1200" spc="-2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"start"</a:t>
            </a:r>
            <a:r>
              <a:rPr sz="1200" dirty="0">
                <a:latin typeface="Consolas"/>
                <a:cs typeface="Consolas"/>
              </a:rPr>
              <a:t>:</a:t>
            </a:r>
            <a:r>
              <a:rPr sz="1200" spc="-15" dirty="0"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sz="1200" spc="-25" dirty="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  <a:p>
            <a:pPr marL="427355">
              <a:lnSpc>
                <a:spcPct val="100000"/>
              </a:lnSpc>
            </a:pPr>
            <a:r>
              <a:rPr sz="1200" dirty="0">
                <a:latin typeface="Consolas"/>
                <a:cs typeface="Consolas"/>
              </a:rPr>
              <a:t>response</a:t>
            </a:r>
            <a:r>
              <a:rPr sz="1200" spc="-5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6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requests.get(url,</a:t>
            </a:r>
            <a:r>
              <a:rPr sz="1200" spc="-6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headers=headers,</a:t>
            </a:r>
            <a:endParaRPr sz="1200">
              <a:latin typeface="Consolas"/>
              <a:cs typeface="Consolas"/>
            </a:endParaRPr>
          </a:p>
          <a:p>
            <a:pPr marL="427355" marR="1536700" indent="1996439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Consolas"/>
                <a:cs typeface="Consolas"/>
              </a:rPr>
              <a:t>params=params)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12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response.status_code</a:t>
            </a:r>
            <a:r>
              <a:rPr sz="1200" spc="-3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==</a:t>
            </a:r>
            <a:r>
              <a:rPr sz="1200" spc="-30" dirty="0"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098557"/>
                </a:solidFill>
                <a:latin typeface="Consolas"/>
                <a:cs typeface="Consolas"/>
              </a:rPr>
              <a:t>200</a:t>
            </a:r>
            <a:r>
              <a:rPr sz="1200" spc="-20" dirty="0">
                <a:latin typeface="Consolas"/>
                <a:cs typeface="Consolas"/>
              </a:rPr>
              <a:t>:</a:t>
            </a:r>
            <a:endParaRPr sz="1200">
              <a:latin typeface="Consolas"/>
              <a:cs typeface="Consolas"/>
            </a:endParaRPr>
          </a:p>
          <a:p>
            <a:pPr marL="427355" marR="1766570" indent="336550">
              <a:lnSpc>
                <a:spcPct val="100000"/>
              </a:lnSpc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2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response.json()[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'items'</a:t>
            </a:r>
            <a:r>
              <a:rPr sz="1200" spc="-10" dirty="0">
                <a:latin typeface="Consolas"/>
                <a:cs typeface="Consolas"/>
              </a:rPr>
              <a:t>] </a:t>
            </a:r>
            <a:r>
              <a:rPr sz="1200" spc="-1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sz="1200" spc="-10" dirty="0">
                <a:latin typeface="Consolas"/>
                <a:cs typeface="Consolas"/>
              </a:rPr>
              <a:t>:</a:t>
            </a:r>
            <a:endParaRPr sz="12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2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latin typeface="Consolas"/>
                <a:cs typeface="Consolas"/>
              </a:rPr>
              <a:t>[]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onsolas"/>
              <a:cs typeface="Consolas"/>
            </a:endParaRPr>
          </a:p>
          <a:p>
            <a:pPr marL="92075">
              <a:lnSpc>
                <a:spcPts val="1435"/>
              </a:lnSpc>
            </a:pPr>
            <a:r>
              <a:rPr sz="1200" dirty="0">
                <a:latin typeface="Consolas"/>
                <a:cs typeface="Consolas"/>
              </a:rPr>
              <a:t>query = 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스테이크와</a:t>
            </a:r>
            <a:r>
              <a:rPr sz="1200" spc="229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어울리는</a:t>
            </a:r>
            <a:r>
              <a:rPr sz="1200" spc="229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와인을</a:t>
            </a:r>
            <a:r>
              <a:rPr sz="1200" spc="24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맑은 고딕"/>
                <a:cs typeface="맑은 고딕"/>
              </a:rPr>
              <a:t>추천해주세요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."</a:t>
            </a:r>
            <a:endParaRPr sz="1200">
              <a:latin typeface="Consolas"/>
              <a:cs typeface="Consolas"/>
            </a:endParaRPr>
          </a:p>
          <a:p>
            <a:pPr marL="92075">
              <a:lnSpc>
                <a:spcPts val="1435"/>
              </a:lnSpc>
            </a:pPr>
            <a:r>
              <a:rPr sz="1200" dirty="0">
                <a:latin typeface="Consolas"/>
                <a:cs typeface="Consolas"/>
              </a:rPr>
              <a:t>search_results</a:t>
            </a:r>
            <a:r>
              <a:rPr sz="1200" spc="-6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4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blog_search.invoke(query)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60363" y="5656567"/>
            <a:ext cx="5160010" cy="889635"/>
          </a:xfrm>
          <a:prstGeom prst="rect">
            <a:avLst/>
          </a:prstGeom>
          <a:solidFill>
            <a:srgbClr val="D1D1D1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 marR="334645">
              <a:lnSpc>
                <a:spcPct val="100000"/>
              </a:lnSpc>
              <a:spcBef>
                <a:spcPts val="320"/>
              </a:spcBef>
            </a:pPr>
            <a:r>
              <a:rPr sz="1000" dirty="0">
                <a:latin typeface="Consolas"/>
                <a:cs typeface="Consolas"/>
              </a:rPr>
              <a:t>[{'title':</a:t>
            </a:r>
            <a:r>
              <a:rPr sz="1000" spc="-8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'&lt;b&gt;</a:t>
            </a:r>
            <a:r>
              <a:rPr sz="1000" dirty="0">
                <a:latin typeface="맑은 고딕"/>
                <a:cs typeface="맑은 고딕"/>
              </a:rPr>
              <a:t>스테이크와</a:t>
            </a:r>
            <a:r>
              <a:rPr sz="1000" dirty="0">
                <a:latin typeface="Consolas"/>
                <a:cs typeface="Consolas"/>
              </a:rPr>
              <a:t>&lt;/b&gt;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dirty="0">
                <a:latin typeface="맑은 고딕"/>
                <a:cs typeface="맑은 고딕"/>
              </a:rPr>
              <a:t>잘</a:t>
            </a:r>
            <a:r>
              <a:rPr sz="1000" spc="150" dirty="0">
                <a:latin typeface="맑은 고딕"/>
                <a:cs typeface="맑은 고딕"/>
              </a:rPr>
              <a:t> </a:t>
            </a:r>
            <a:r>
              <a:rPr sz="1000" dirty="0">
                <a:latin typeface="Consolas"/>
                <a:cs typeface="Consolas"/>
              </a:rPr>
              <a:t>&lt;b&gt;</a:t>
            </a:r>
            <a:r>
              <a:rPr sz="1000" dirty="0">
                <a:latin typeface="맑은 고딕"/>
                <a:cs typeface="맑은 고딕"/>
              </a:rPr>
              <a:t>어울리는</a:t>
            </a:r>
            <a:r>
              <a:rPr sz="1000" dirty="0">
                <a:latin typeface="Consolas"/>
                <a:cs typeface="Consolas"/>
              </a:rPr>
              <a:t>&lt;/b&gt;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dirty="0">
                <a:latin typeface="맑은 고딕"/>
                <a:cs typeface="맑은 고딕"/>
              </a:rPr>
              <a:t>추천</a:t>
            </a:r>
            <a:r>
              <a:rPr sz="1000" dirty="0">
                <a:latin typeface="Consolas"/>
                <a:cs typeface="Consolas"/>
              </a:rPr>
              <a:t>&lt;/b&gt;',</a:t>
            </a:r>
            <a:r>
              <a:rPr sz="1000" spc="-7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'link': '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onsolas"/>
                <a:cs typeface="Consolas"/>
                <a:hlinkClick r:id="rId2"/>
              </a:rPr>
              <a:t>https://blog.naver.com/dolmory9/223556006280</a:t>
            </a:r>
            <a:r>
              <a:rPr sz="1000" u="none" spc="-10" dirty="0">
                <a:latin typeface="Consolas"/>
                <a:cs typeface="Consolas"/>
              </a:rPr>
              <a:t>',</a:t>
            </a:r>
            <a:r>
              <a:rPr sz="1000" u="none" spc="5" dirty="0">
                <a:latin typeface="Consolas"/>
                <a:cs typeface="Consolas"/>
              </a:rPr>
              <a:t> </a:t>
            </a:r>
            <a:r>
              <a:rPr sz="1000" u="none" dirty="0">
                <a:latin typeface="Consolas"/>
                <a:cs typeface="Consolas"/>
              </a:rPr>
              <a:t>'description':</a:t>
            </a:r>
            <a:r>
              <a:rPr sz="1000" u="none" spc="25" dirty="0">
                <a:latin typeface="Consolas"/>
                <a:cs typeface="Consolas"/>
              </a:rPr>
              <a:t> </a:t>
            </a:r>
            <a:r>
              <a:rPr sz="1000" u="none" spc="-25" dirty="0">
                <a:latin typeface="Consolas"/>
                <a:cs typeface="Consolas"/>
              </a:rPr>
              <a:t>'</a:t>
            </a:r>
            <a:r>
              <a:rPr sz="1000" u="none" spc="-25" dirty="0">
                <a:latin typeface="맑은 고딕"/>
                <a:cs typeface="맑은 고딕"/>
              </a:rPr>
              <a:t>레드</a:t>
            </a:r>
            <a:endParaRPr sz="1000">
              <a:latin typeface="맑은 고딕"/>
              <a:cs typeface="맑은 고딕"/>
            </a:endParaRPr>
          </a:p>
          <a:p>
            <a:pPr marL="92075">
              <a:lnSpc>
                <a:spcPct val="100000"/>
              </a:lnSpc>
            </a:pPr>
            <a:r>
              <a:rPr sz="1000" dirty="0">
                <a:latin typeface="Consolas"/>
                <a:cs typeface="Consolas"/>
              </a:rPr>
              <a:t>&lt;b&gt;</a:t>
            </a:r>
            <a:r>
              <a:rPr sz="1000" dirty="0">
                <a:latin typeface="맑은 고딕"/>
                <a:cs typeface="맑은 고딕"/>
              </a:rPr>
              <a:t>와인</a:t>
            </a:r>
            <a:r>
              <a:rPr sz="1000" dirty="0">
                <a:latin typeface="Consolas"/>
                <a:cs typeface="Consolas"/>
              </a:rPr>
              <a:t>&lt;/b&gt;</a:t>
            </a:r>
            <a:r>
              <a:rPr sz="1000" spc="-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</a:t>
            </a:r>
            <a:r>
              <a:rPr sz="1000" spc="-1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Body</a:t>
            </a:r>
            <a:r>
              <a:rPr sz="1000" spc="-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:</a:t>
            </a:r>
            <a:r>
              <a:rPr sz="1000" spc="-1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Medium-</a:t>
            </a:r>
            <a:r>
              <a:rPr sz="1000" dirty="0">
                <a:latin typeface="Consolas"/>
                <a:cs typeface="Consolas"/>
              </a:rPr>
              <a:t>Full</a:t>
            </a:r>
            <a:r>
              <a:rPr sz="1000" spc="-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~</a:t>
            </a:r>
            <a:r>
              <a:rPr sz="1000" spc="-1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Full</a:t>
            </a:r>
            <a:r>
              <a:rPr sz="1000" spc="-1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</a:t>
            </a:r>
            <a:r>
              <a:rPr sz="1000" spc="-2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Sweetness</a:t>
            </a:r>
            <a:r>
              <a:rPr sz="1000" spc="-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:</a:t>
            </a:r>
            <a:r>
              <a:rPr sz="1000" spc="-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Dry</a:t>
            </a:r>
            <a:r>
              <a:rPr sz="1000" spc="-1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</a:t>
            </a:r>
            <a:r>
              <a:rPr sz="1000" spc="-2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&lt;b&gt;</a:t>
            </a:r>
            <a:r>
              <a:rPr sz="1000" spc="-10" dirty="0">
                <a:latin typeface="맑은 고딕"/>
                <a:cs typeface="맑은 고딕"/>
              </a:rPr>
              <a:t>와인</a:t>
            </a:r>
            <a:endParaRPr sz="1000">
              <a:latin typeface="맑은 고딕"/>
              <a:cs typeface="맑은 고딕"/>
            </a:endParaRPr>
          </a:p>
          <a:p>
            <a:pPr marL="92075" marR="248285">
              <a:lnSpc>
                <a:spcPct val="100000"/>
              </a:lnSpc>
            </a:pPr>
            <a:r>
              <a:rPr sz="1000" dirty="0">
                <a:latin typeface="Consolas"/>
                <a:cs typeface="Consolas"/>
              </a:rPr>
              <a:t>&lt;/b&gt;&lt;b&gt;</a:t>
            </a:r>
            <a:r>
              <a:rPr sz="1000" dirty="0">
                <a:latin typeface="맑은 고딕"/>
                <a:cs typeface="맑은 고딕"/>
              </a:rPr>
              <a:t>추천</a:t>
            </a:r>
            <a:r>
              <a:rPr sz="1000" dirty="0">
                <a:latin typeface="Consolas"/>
                <a:cs typeface="Consolas"/>
              </a:rPr>
              <a:t>&lt;/b&gt;...</a:t>
            </a:r>
            <a:r>
              <a:rPr sz="1000" spc="-7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',</a:t>
            </a:r>
            <a:r>
              <a:rPr sz="1000" spc="-4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'bloggername':</a:t>
            </a:r>
            <a:r>
              <a:rPr sz="1000" spc="-8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'</a:t>
            </a:r>
            <a:r>
              <a:rPr sz="1000" dirty="0">
                <a:latin typeface="맑은 고딕"/>
                <a:cs typeface="맑은 고딕"/>
              </a:rPr>
              <a:t>와인과</a:t>
            </a:r>
            <a:r>
              <a:rPr sz="1000" spc="16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커피</a:t>
            </a:r>
            <a:r>
              <a:rPr sz="1000" spc="145" dirty="0">
                <a:latin typeface="맑은 고딕"/>
                <a:cs typeface="맑은 고딕"/>
              </a:rPr>
              <a:t> </a:t>
            </a:r>
            <a:r>
              <a:rPr sz="1000" spc="-10" dirty="0">
                <a:latin typeface="맑은 고딕"/>
                <a:cs typeface="맑은 고딕"/>
              </a:rPr>
              <a:t>엔지니어</a:t>
            </a:r>
            <a:r>
              <a:rPr sz="1000" spc="-10" dirty="0">
                <a:latin typeface="Consolas"/>
                <a:cs typeface="Consolas"/>
              </a:rPr>
              <a:t>', </a:t>
            </a:r>
            <a:r>
              <a:rPr sz="1000" dirty="0">
                <a:latin typeface="Consolas"/>
                <a:cs typeface="Consolas"/>
              </a:rPr>
              <a:t>'bloggerlink':</a:t>
            </a:r>
            <a:r>
              <a:rPr sz="1000" spc="-5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'blog.naver.com/dolmory9',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'postdate':</a:t>
            </a:r>
            <a:r>
              <a:rPr sz="1000" spc="-4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'20240821’},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spc="-25" dirty="0">
                <a:latin typeface="Consolas"/>
                <a:cs typeface="Consolas"/>
              </a:rPr>
              <a:t>…]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413255" y="4883200"/>
            <a:ext cx="3890645" cy="1477645"/>
          </a:xfrm>
          <a:custGeom>
            <a:avLst/>
            <a:gdLst/>
            <a:ahLst/>
            <a:cxnLst/>
            <a:rect l="l" t="t" r="r" b="b"/>
            <a:pathLst>
              <a:path w="3890645" h="1477645">
                <a:moveTo>
                  <a:pt x="3890645" y="0"/>
                </a:moveTo>
                <a:lnTo>
                  <a:pt x="0" y="0"/>
                </a:lnTo>
                <a:lnTo>
                  <a:pt x="0" y="1477390"/>
                </a:lnTo>
                <a:lnTo>
                  <a:pt x="3890645" y="1477390"/>
                </a:lnTo>
                <a:lnTo>
                  <a:pt x="3890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92122" y="4915915"/>
            <a:ext cx="3106420" cy="139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맑은 고딕"/>
                <a:cs typeface="맑은 고딕"/>
              </a:rPr>
              <a:t>name</a:t>
            </a:r>
            <a:r>
              <a:rPr sz="1000" spc="-10" dirty="0">
                <a:latin typeface="맑은 고딕"/>
                <a:cs typeface="맑은 고딕"/>
              </a:rPr>
              <a:t>: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latin typeface="맑은 고딕"/>
                <a:cs typeface="맑은 고딕"/>
              </a:rPr>
              <a:t>blog_search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latin typeface="맑은 고딕"/>
                <a:cs typeface="맑은 고딕"/>
              </a:rPr>
              <a:t>-------------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</a:t>
            </a:r>
            <a:r>
              <a:rPr sz="1000" spc="-50" dirty="0">
                <a:latin typeface="맑은 고딕"/>
                <a:cs typeface="맑은 고딕"/>
              </a:rPr>
              <a:t>-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000" b="1" spc="-10" dirty="0">
                <a:latin typeface="맑은 고딕"/>
                <a:cs typeface="맑은 고딕"/>
              </a:rPr>
              <a:t>description</a:t>
            </a:r>
            <a:r>
              <a:rPr sz="1000" spc="-10" dirty="0">
                <a:latin typeface="맑은 고딕"/>
                <a:cs typeface="맑은 고딕"/>
              </a:rPr>
              <a:t>: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맑은 고딕"/>
                <a:cs typeface="맑은 고딕"/>
              </a:rPr>
              <a:t>네이버</a:t>
            </a:r>
            <a:r>
              <a:rPr sz="1000" spc="-3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블로그</a:t>
            </a:r>
            <a:r>
              <a:rPr sz="1000" spc="-3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API에</a:t>
            </a:r>
            <a:r>
              <a:rPr sz="1000" spc="-1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검색</a:t>
            </a:r>
            <a:r>
              <a:rPr sz="1000" spc="-3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요청을</a:t>
            </a:r>
            <a:r>
              <a:rPr sz="1000" spc="-30" dirty="0">
                <a:latin typeface="맑은 고딕"/>
                <a:cs typeface="맑은 고딕"/>
              </a:rPr>
              <a:t> </a:t>
            </a:r>
            <a:r>
              <a:rPr sz="1000" spc="-10" dirty="0">
                <a:latin typeface="맑은 고딕"/>
                <a:cs typeface="맑은 고딕"/>
              </a:rPr>
              <a:t>보냅니다.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latin typeface="맑은 고딕"/>
                <a:cs typeface="맑은 고딕"/>
              </a:rPr>
              <a:t>-------------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</a:t>
            </a:r>
            <a:r>
              <a:rPr sz="1000" spc="-50" dirty="0">
                <a:latin typeface="맑은 고딕"/>
                <a:cs typeface="맑은 고딕"/>
              </a:rPr>
              <a:t>-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000" b="1" spc="-10" dirty="0">
                <a:latin typeface="맑은 고딕"/>
                <a:cs typeface="맑은 고딕"/>
              </a:rPr>
              <a:t>args</a:t>
            </a:r>
            <a:r>
              <a:rPr sz="1000" spc="-10" dirty="0">
                <a:latin typeface="맑은 고딕"/>
                <a:cs typeface="맑은 고딕"/>
              </a:rPr>
              <a:t>: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맑은 고딕"/>
                <a:cs typeface="맑은 고딕"/>
              </a:rPr>
              <a:t>{'query':</a:t>
            </a:r>
            <a:r>
              <a:rPr sz="1000" spc="-5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{'title':</a:t>
            </a:r>
            <a:r>
              <a:rPr sz="1000" spc="-2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'Query',</a:t>
            </a:r>
            <a:r>
              <a:rPr sz="1000" spc="-3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'type':</a:t>
            </a:r>
            <a:r>
              <a:rPr sz="1000" spc="-50" dirty="0">
                <a:latin typeface="맑은 고딕"/>
                <a:cs typeface="맑은 고딕"/>
              </a:rPr>
              <a:t> </a:t>
            </a:r>
            <a:r>
              <a:rPr sz="1000" spc="-10" dirty="0">
                <a:latin typeface="맑은 고딕"/>
                <a:cs typeface="맑은 고딕"/>
              </a:rPr>
              <a:t>'string'}}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latin typeface="맑은 고딕"/>
                <a:cs typeface="맑은 고딕"/>
              </a:rPr>
              <a:t>-------------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--</a:t>
            </a:r>
            <a:r>
              <a:rPr sz="1000" dirty="0">
                <a:latin typeface="맑은 고딕"/>
                <a:cs typeface="맑은 고딕"/>
              </a:rPr>
              <a:t>-</a:t>
            </a:r>
            <a:r>
              <a:rPr sz="1000" spc="-10" dirty="0">
                <a:latin typeface="맑은 고딕"/>
                <a:cs typeface="맑은 고딕"/>
              </a:rPr>
              <a:t>-</a:t>
            </a:r>
            <a:r>
              <a:rPr sz="1000" spc="-50" dirty="0">
                <a:latin typeface="맑은 고딕"/>
                <a:cs typeface="맑은 고딕"/>
              </a:rPr>
              <a:t>-</a:t>
            </a:r>
            <a:endParaRPr sz="1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0"/>
              </a:spcBef>
            </a:pPr>
            <a:r>
              <a:rPr spc="-20" dirty="0"/>
              <a:t>Few-</a:t>
            </a:r>
            <a:r>
              <a:rPr dirty="0"/>
              <a:t>shot</a:t>
            </a:r>
            <a:r>
              <a:rPr spc="-15" dirty="0"/>
              <a:t> </a:t>
            </a:r>
            <a:r>
              <a:rPr dirty="0"/>
              <a:t>프롬프팅을</a:t>
            </a:r>
            <a:r>
              <a:rPr spc="-10" dirty="0"/>
              <a:t> </a:t>
            </a:r>
            <a:r>
              <a:rPr spc="-25" dirty="0"/>
              <a:t>활용한</a:t>
            </a:r>
          </a:p>
          <a:p>
            <a:pPr marL="12700">
              <a:lnSpc>
                <a:spcPts val="3650"/>
              </a:lnSpc>
            </a:pPr>
            <a:r>
              <a:rPr spc="-25" dirty="0"/>
              <a:t>ToolCalling</a:t>
            </a:r>
            <a:r>
              <a:rPr spc="-105" dirty="0"/>
              <a:t> </a:t>
            </a:r>
            <a:r>
              <a:rPr dirty="0"/>
              <a:t>성능</a:t>
            </a:r>
            <a:r>
              <a:rPr spc="-95" dirty="0"/>
              <a:t> </a:t>
            </a:r>
            <a:r>
              <a:rPr spc="-25" dirty="0"/>
              <a:t>개선</a:t>
            </a:r>
          </a:p>
        </p:txBody>
      </p:sp>
      <p:sp>
        <p:nvSpPr>
          <p:cNvPr id="3" name="object 3"/>
          <p:cNvSpPr/>
          <p:nvPr/>
        </p:nvSpPr>
        <p:spPr>
          <a:xfrm>
            <a:off x="500748" y="1756282"/>
            <a:ext cx="5716270" cy="4789805"/>
          </a:xfrm>
          <a:custGeom>
            <a:avLst/>
            <a:gdLst/>
            <a:ahLst/>
            <a:cxnLst/>
            <a:rect l="l" t="t" r="r" b="b"/>
            <a:pathLst>
              <a:path w="5716270" h="4789805">
                <a:moveTo>
                  <a:pt x="5483491" y="0"/>
                </a:moveTo>
                <a:lnTo>
                  <a:pt x="232244" y="0"/>
                </a:lnTo>
                <a:lnTo>
                  <a:pt x="185438" y="4714"/>
                </a:lnTo>
                <a:lnTo>
                  <a:pt x="141842" y="18236"/>
                </a:lnTo>
                <a:lnTo>
                  <a:pt x="102392" y="39634"/>
                </a:lnTo>
                <a:lnTo>
                  <a:pt x="68021" y="67976"/>
                </a:lnTo>
                <a:lnTo>
                  <a:pt x="39662" y="102331"/>
                </a:lnTo>
                <a:lnTo>
                  <a:pt x="18250" y="141767"/>
                </a:lnTo>
                <a:lnTo>
                  <a:pt x="4718" y="185353"/>
                </a:lnTo>
                <a:lnTo>
                  <a:pt x="0" y="232155"/>
                </a:lnTo>
                <a:lnTo>
                  <a:pt x="0" y="4557407"/>
                </a:lnTo>
                <a:lnTo>
                  <a:pt x="4718" y="4604214"/>
                </a:lnTo>
                <a:lnTo>
                  <a:pt x="18250" y="4647809"/>
                </a:lnTo>
                <a:lnTo>
                  <a:pt x="39662" y="4687260"/>
                </a:lnTo>
                <a:lnTo>
                  <a:pt x="68021" y="4721631"/>
                </a:lnTo>
                <a:lnTo>
                  <a:pt x="102392" y="4749990"/>
                </a:lnTo>
                <a:lnTo>
                  <a:pt x="141842" y="4771402"/>
                </a:lnTo>
                <a:lnTo>
                  <a:pt x="185438" y="4784934"/>
                </a:lnTo>
                <a:lnTo>
                  <a:pt x="232244" y="4789652"/>
                </a:lnTo>
                <a:lnTo>
                  <a:pt x="5483491" y="4789652"/>
                </a:lnTo>
                <a:lnTo>
                  <a:pt x="5530300" y="4784934"/>
                </a:lnTo>
                <a:lnTo>
                  <a:pt x="5573899" y="4771402"/>
                </a:lnTo>
                <a:lnTo>
                  <a:pt x="5613356" y="4749990"/>
                </a:lnTo>
                <a:lnTo>
                  <a:pt x="5647734" y="4721631"/>
                </a:lnTo>
                <a:lnTo>
                  <a:pt x="5676100" y="4687260"/>
                </a:lnTo>
                <a:lnTo>
                  <a:pt x="5697518" y="4647809"/>
                </a:lnTo>
                <a:lnTo>
                  <a:pt x="5711054" y="4604214"/>
                </a:lnTo>
                <a:lnTo>
                  <a:pt x="5715774" y="4557407"/>
                </a:lnTo>
                <a:lnTo>
                  <a:pt x="5715774" y="232155"/>
                </a:lnTo>
                <a:lnTo>
                  <a:pt x="5711054" y="185353"/>
                </a:lnTo>
                <a:lnTo>
                  <a:pt x="5697518" y="141767"/>
                </a:lnTo>
                <a:lnTo>
                  <a:pt x="5676100" y="102331"/>
                </a:lnTo>
                <a:lnTo>
                  <a:pt x="5647734" y="67976"/>
                </a:lnTo>
                <a:lnTo>
                  <a:pt x="5613356" y="39634"/>
                </a:lnTo>
                <a:lnTo>
                  <a:pt x="5573899" y="18236"/>
                </a:lnTo>
                <a:lnTo>
                  <a:pt x="5530300" y="4714"/>
                </a:lnTo>
                <a:lnTo>
                  <a:pt x="5483491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7496" y="2127630"/>
            <a:ext cx="533908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800" b="1" spc="-25" dirty="0">
                <a:solidFill>
                  <a:srgbClr val="0D0D0D"/>
                </a:solidFill>
                <a:latin typeface="맑은 고딕"/>
                <a:cs typeface="맑은 고딕"/>
              </a:rPr>
              <a:t>Few-</a:t>
            </a:r>
            <a:r>
              <a:rPr sz="1800" b="1" dirty="0">
                <a:solidFill>
                  <a:srgbClr val="0D0D0D"/>
                </a:solidFill>
                <a:latin typeface="맑은 고딕"/>
                <a:cs typeface="맑은 고딕"/>
              </a:rPr>
              <a:t>shot</a:t>
            </a:r>
            <a:r>
              <a:rPr sz="1800" b="1" spc="3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b="1" spc="-20" dirty="0">
                <a:solidFill>
                  <a:srgbClr val="0D0D0D"/>
                </a:solidFill>
                <a:latin typeface="맑은 고딕"/>
                <a:cs typeface="맑은 고딕"/>
              </a:rPr>
              <a:t>프롬프팅</a:t>
            </a:r>
            <a:endParaRPr sz="1800">
              <a:latin typeface="맑은 고딕"/>
              <a:cs typeface="맑은 고딕"/>
            </a:endParaRPr>
          </a:p>
          <a:p>
            <a:pPr marL="335280" marR="151130" lvl="1" indent="-161925">
              <a:lnSpc>
                <a:spcPct val="100000"/>
              </a:lnSpc>
              <a:buChar char="-"/>
              <a:tabLst>
                <a:tab pos="335280" algn="l"/>
                <a:tab pos="34861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	모델에게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몇 가지 예시를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제공하여 원하는</a:t>
            </a:r>
            <a:r>
              <a:rPr sz="1800" spc="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출력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형식이나</a:t>
            </a:r>
            <a:r>
              <a:rPr sz="18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작업 수행 방식을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보여주는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기법</a:t>
            </a:r>
            <a:endParaRPr sz="1800">
              <a:latin typeface="맑은 고딕"/>
              <a:cs typeface="맑은 고딕"/>
            </a:endParaRPr>
          </a:p>
          <a:p>
            <a:pPr marL="349250" lvl="1" indent="-175260">
              <a:lnSpc>
                <a:spcPct val="100000"/>
              </a:lnSpc>
              <a:buChar char="-"/>
              <a:tabLst>
                <a:tab pos="349250" algn="l"/>
              </a:tabLst>
            </a:pPr>
            <a:r>
              <a:rPr sz="1800" u="sng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맑은 고딕"/>
                <a:cs typeface="맑은 고딕"/>
              </a:rPr>
              <a:t>모델에게</a:t>
            </a:r>
            <a:r>
              <a:rPr sz="1800" u="sng" spc="-15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맑은 고딕"/>
                <a:cs typeface="맑은 고딕"/>
              </a:rPr>
              <a:t> </a:t>
            </a:r>
            <a:r>
              <a:rPr sz="1800" u="sng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맑은 고딕"/>
                <a:cs typeface="맑은 고딕"/>
              </a:rPr>
              <a:t>도구를</a:t>
            </a:r>
            <a:r>
              <a:rPr sz="1800" u="sng" spc="-5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맑은 고딕"/>
                <a:cs typeface="맑은 고딕"/>
              </a:rPr>
              <a:t> </a:t>
            </a:r>
            <a:r>
              <a:rPr sz="1800" u="sng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맑은 고딕"/>
                <a:cs typeface="맑은 고딕"/>
              </a:rPr>
              <a:t>어떻게</a:t>
            </a:r>
            <a:r>
              <a:rPr sz="1800" u="sng" spc="-5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맑은 고딕"/>
                <a:cs typeface="맑은 고딕"/>
              </a:rPr>
              <a:t> </a:t>
            </a:r>
            <a:r>
              <a:rPr sz="1800" u="sng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맑은 고딕"/>
                <a:cs typeface="맑은 고딕"/>
              </a:rPr>
              <a:t>사용해야</a:t>
            </a:r>
            <a:r>
              <a:rPr sz="1800" u="sng" spc="-10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맑은 고딕"/>
                <a:cs typeface="맑은 고딕"/>
              </a:rPr>
              <a:t> </a:t>
            </a:r>
            <a:r>
              <a:rPr sz="1800" u="sng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맑은 고딕"/>
                <a:cs typeface="맑은 고딕"/>
              </a:rPr>
              <a:t>하는지</a:t>
            </a:r>
            <a:r>
              <a:rPr sz="1800" u="none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u="none" spc="-25" dirty="0">
                <a:solidFill>
                  <a:srgbClr val="0D0D0D"/>
                </a:solidFill>
                <a:latin typeface="맑은 고딕"/>
                <a:cs typeface="맑은 고딕"/>
              </a:rPr>
              <a:t>예시를</a:t>
            </a:r>
            <a:endParaRPr sz="1800">
              <a:latin typeface="맑은 고딕"/>
              <a:cs typeface="맑은 고딕"/>
            </a:endParaRPr>
          </a:p>
          <a:p>
            <a:pPr marL="335280">
              <a:lnSpc>
                <a:spcPct val="100000"/>
              </a:lnSpc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통해</a:t>
            </a:r>
            <a:r>
              <a:rPr sz="1800" spc="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보여주는 목적으로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사용</a:t>
            </a:r>
            <a:endParaRPr sz="1800">
              <a:latin typeface="맑은 고딕"/>
              <a:cs typeface="맑은 고딕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"/>
              <a:buChar char="•"/>
              <a:tabLst>
                <a:tab pos="299085" algn="l"/>
              </a:tabLst>
            </a:pPr>
            <a:r>
              <a:rPr sz="1800" b="1" spc="-20" dirty="0">
                <a:solidFill>
                  <a:srgbClr val="0D0D0D"/>
                </a:solidFill>
                <a:latin typeface="맑은 고딕"/>
                <a:cs typeface="맑은 고딕"/>
              </a:rPr>
              <a:t>ToolCalling</a:t>
            </a:r>
            <a:r>
              <a:rPr sz="1800" b="1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0D0D0D"/>
                </a:solidFill>
                <a:latin typeface="맑은 고딕"/>
                <a:cs typeface="맑은 고딕"/>
              </a:rPr>
              <a:t>적용</a:t>
            </a:r>
            <a:r>
              <a:rPr sz="1800" b="1" spc="-2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b="1" spc="-25" dirty="0">
                <a:solidFill>
                  <a:srgbClr val="0D0D0D"/>
                </a:solidFill>
                <a:latin typeface="맑은 고딕"/>
                <a:cs typeface="맑은 고딕"/>
              </a:rPr>
              <a:t>과정</a:t>
            </a:r>
            <a:endParaRPr sz="1800">
              <a:latin typeface="맑은 고딕"/>
              <a:cs typeface="맑은 고딕"/>
            </a:endParaRPr>
          </a:p>
          <a:p>
            <a:pPr marL="431800" indent="-257810">
              <a:lnSpc>
                <a:spcPct val="100000"/>
              </a:lnSpc>
              <a:spcBef>
                <a:spcPts val="216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예시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생성</a:t>
            </a:r>
            <a:endParaRPr sz="1800">
              <a:latin typeface="맑은 고딕"/>
              <a:cs typeface="맑은 고딕"/>
            </a:endParaRPr>
          </a:p>
          <a:p>
            <a:pPr marL="431800" indent="-257810">
              <a:lnSpc>
                <a:spcPct val="100000"/>
              </a:lnSpc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프롬프트 템플릿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생성</a:t>
            </a:r>
            <a:endParaRPr sz="1800">
              <a:latin typeface="맑은 고딕"/>
              <a:cs typeface="맑은 고딕"/>
            </a:endParaRPr>
          </a:p>
          <a:p>
            <a:pPr marL="431800" indent="-257810">
              <a:lnSpc>
                <a:spcPct val="100000"/>
              </a:lnSpc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프롬프트 생성 및 모델</a:t>
            </a:r>
            <a:r>
              <a:rPr sz="1800" spc="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호출</a:t>
            </a:r>
            <a:endParaRPr sz="1800">
              <a:latin typeface="맑은 고딕"/>
              <a:cs typeface="맑은 고딕"/>
            </a:endParaRPr>
          </a:p>
          <a:p>
            <a:pPr marL="431800" indent="-257810">
              <a:lnSpc>
                <a:spcPct val="100000"/>
              </a:lnSpc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응답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파싱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5551" y="659638"/>
            <a:ext cx="2316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맑은 고딕"/>
                <a:cs typeface="맑은 고딕"/>
              </a:rPr>
              <a:t>LangChain</a:t>
            </a:r>
            <a:r>
              <a:rPr sz="1800" spc="-5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ToolCalling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45618" y="1746656"/>
            <a:ext cx="5274945" cy="4773930"/>
            <a:chOff x="6345618" y="1746656"/>
            <a:chExt cx="5274945" cy="47739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5079" y="1756181"/>
              <a:ext cx="5255641" cy="47544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50380" y="1751418"/>
              <a:ext cx="5265420" cy="4764405"/>
            </a:xfrm>
            <a:custGeom>
              <a:avLst/>
              <a:gdLst/>
              <a:ahLst/>
              <a:cxnLst/>
              <a:rect l="l" t="t" r="r" b="b"/>
              <a:pathLst>
                <a:path w="5265420" h="4764405">
                  <a:moveTo>
                    <a:pt x="0" y="4764024"/>
                  </a:moveTo>
                  <a:lnTo>
                    <a:pt x="5265165" y="4764024"/>
                  </a:lnTo>
                  <a:lnTo>
                    <a:pt x="5265165" y="0"/>
                  </a:lnTo>
                  <a:lnTo>
                    <a:pt x="0" y="0"/>
                  </a:lnTo>
                  <a:lnTo>
                    <a:pt x="0" y="4764024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0"/>
              </a:spcBef>
            </a:pPr>
            <a:r>
              <a:rPr dirty="0"/>
              <a:t>LangChain</a:t>
            </a:r>
            <a:r>
              <a:rPr spc="-40" dirty="0"/>
              <a:t> </a:t>
            </a:r>
            <a:r>
              <a:rPr spc="-10" dirty="0"/>
              <a:t>Agent</a:t>
            </a:r>
          </a:p>
          <a:p>
            <a:pPr marL="12700">
              <a:lnSpc>
                <a:spcPts val="3650"/>
              </a:lnSpc>
            </a:pPr>
            <a:r>
              <a:rPr spc="-25" dirty="0"/>
              <a:t>개요</a:t>
            </a:r>
          </a:p>
        </p:txBody>
      </p:sp>
      <p:sp>
        <p:nvSpPr>
          <p:cNvPr id="3" name="object 3"/>
          <p:cNvSpPr/>
          <p:nvPr/>
        </p:nvSpPr>
        <p:spPr>
          <a:xfrm>
            <a:off x="500748" y="1756282"/>
            <a:ext cx="10987405" cy="1120775"/>
          </a:xfrm>
          <a:custGeom>
            <a:avLst/>
            <a:gdLst/>
            <a:ahLst/>
            <a:cxnLst/>
            <a:rect l="l" t="t" r="r" b="b"/>
            <a:pathLst>
              <a:path w="10987405" h="1120775">
                <a:moveTo>
                  <a:pt x="10800600" y="0"/>
                </a:moveTo>
                <a:lnTo>
                  <a:pt x="186715" y="0"/>
                </a:lnTo>
                <a:lnTo>
                  <a:pt x="137077" y="6667"/>
                </a:lnTo>
                <a:lnTo>
                  <a:pt x="92474" y="25484"/>
                </a:lnTo>
                <a:lnTo>
                  <a:pt x="54686" y="54673"/>
                </a:lnTo>
                <a:lnTo>
                  <a:pt x="25491" y="92455"/>
                </a:lnTo>
                <a:lnTo>
                  <a:pt x="6669" y="137054"/>
                </a:lnTo>
                <a:lnTo>
                  <a:pt x="0" y="186689"/>
                </a:lnTo>
                <a:lnTo>
                  <a:pt x="0" y="933576"/>
                </a:lnTo>
                <a:lnTo>
                  <a:pt x="6669" y="983212"/>
                </a:lnTo>
                <a:lnTo>
                  <a:pt x="25491" y="1027810"/>
                </a:lnTo>
                <a:lnTo>
                  <a:pt x="54686" y="1065593"/>
                </a:lnTo>
                <a:lnTo>
                  <a:pt x="92474" y="1094782"/>
                </a:lnTo>
                <a:lnTo>
                  <a:pt x="137077" y="1113599"/>
                </a:lnTo>
                <a:lnTo>
                  <a:pt x="186715" y="1120266"/>
                </a:lnTo>
                <a:lnTo>
                  <a:pt x="10800600" y="1120266"/>
                </a:lnTo>
                <a:lnTo>
                  <a:pt x="10850236" y="1113599"/>
                </a:lnTo>
                <a:lnTo>
                  <a:pt x="10894834" y="1094782"/>
                </a:lnTo>
                <a:lnTo>
                  <a:pt x="10932617" y="1065593"/>
                </a:lnTo>
                <a:lnTo>
                  <a:pt x="10961806" y="1027811"/>
                </a:lnTo>
                <a:lnTo>
                  <a:pt x="10980623" y="983212"/>
                </a:lnTo>
                <a:lnTo>
                  <a:pt x="10987290" y="933576"/>
                </a:lnTo>
                <a:lnTo>
                  <a:pt x="10987290" y="186689"/>
                </a:lnTo>
                <a:lnTo>
                  <a:pt x="10980623" y="137054"/>
                </a:lnTo>
                <a:lnTo>
                  <a:pt x="10961806" y="92456"/>
                </a:lnTo>
                <a:lnTo>
                  <a:pt x="10932617" y="54673"/>
                </a:lnTo>
                <a:lnTo>
                  <a:pt x="10894834" y="25484"/>
                </a:lnTo>
                <a:lnTo>
                  <a:pt x="10850236" y="6667"/>
                </a:lnTo>
                <a:lnTo>
                  <a:pt x="10800600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4390" y="1750821"/>
            <a:ext cx="106324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2085" algn="l"/>
              </a:tabLst>
            </a:pPr>
            <a:r>
              <a:rPr sz="1800" b="1" dirty="0">
                <a:solidFill>
                  <a:srgbClr val="0D0D0D"/>
                </a:solidFill>
                <a:latin typeface="맑은 고딕"/>
                <a:cs typeface="맑은 고딕"/>
              </a:rPr>
              <a:t>LangChain</a:t>
            </a:r>
            <a:r>
              <a:rPr sz="1800" b="1" spc="-114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b="1" spc="-10" dirty="0">
                <a:solidFill>
                  <a:srgbClr val="0D0D0D"/>
                </a:solidFill>
                <a:latin typeface="맑은 고딕"/>
                <a:cs typeface="맑은 고딕"/>
              </a:rPr>
              <a:t>Agent란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:</a:t>
            </a:r>
            <a:endParaRPr sz="1800">
              <a:latin typeface="맑은 고딕"/>
              <a:cs typeface="맑은 고딕"/>
            </a:endParaRPr>
          </a:p>
          <a:p>
            <a:pPr marL="349250" lvl="1" indent="-175260">
              <a:lnSpc>
                <a:spcPct val="100000"/>
              </a:lnSpc>
              <a:buChar char="-"/>
              <a:tabLst>
                <a:tab pos="349250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정의: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LLM을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추론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엔진으로</a:t>
            </a:r>
            <a:r>
              <a:rPr sz="18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사용하여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어떤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행동을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할지,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그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행동의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입력은</a:t>
            </a:r>
            <a:r>
              <a:rPr sz="18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무엇일지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결정하는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시스템</a:t>
            </a:r>
            <a:endParaRPr sz="1800">
              <a:latin typeface="맑은 고딕"/>
              <a:cs typeface="맑은 고딕"/>
            </a:endParaRPr>
          </a:p>
          <a:p>
            <a:pPr marL="349250" lvl="1" indent="-175260">
              <a:lnSpc>
                <a:spcPct val="100000"/>
              </a:lnSpc>
              <a:buChar char="-"/>
              <a:tabLst>
                <a:tab pos="349250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목적: 언어 모델이</a:t>
            </a:r>
            <a:r>
              <a:rPr sz="1800" spc="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단순히 텍스트를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출력하는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것을 넘어 실제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행동을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취하게</a:t>
            </a:r>
            <a:r>
              <a:rPr sz="1800" spc="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50" dirty="0">
                <a:solidFill>
                  <a:srgbClr val="0D0D0D"/>
                </a:solidFill>
                <a:latin typeface="맑은 고딕"/>
                <a:cs typeface="맑은 고딕"/>
              </a:rPr>
              <a:t>함</a:t>
            </a:r>
            <a:endParaRPr sz="1800">
              <a:latin typeface="맑은 고딕"/>
              <a:cs typeface="맑은 고딕"/>
            </a:endParaRPr>
          </a:p>
          <a:p>
            <a:pPr marL="349250" lvl="1" indent="-175260">
              <a:lnSpc>
                <a:spcPct val="100000"/>
              </a:lnSpc>
              <a:buChar char="-"/>
              <a:tabLst>
                <a:tab pos="349250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작동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방식: 행동의</a:t>
            </a:r>
            <a:r>
              <a:rPr sz="18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결과를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다시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Agent에 피드백하여 추가</a:t>
            </a:r>
            <a:r>
              <a:rPr sz="18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행동할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지 또는 작업을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완료할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지를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결정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0748" y="2971800"/>
            <a:ext cx="10987405" cy="3638550"/>
          </a:xfrm>
          <a:custGeom>
            <a:avLst/>
            <a:gdLst/>
            <a:ahLst/>
            <a:cxnLst/>
            <a:rect l="l" t="t" r="r" b="b"/>
            <a:pathLst>
              <a:path w="10987405" h="3638550">
                <a:moveTo>
                  <a:pt x="0" y="200151"/>
                </a:moveTo>
                <a:lnTo>
                  <a:pt x="5285" y="154275"/>
                </a:lnTo>
                <a:lnTo>
                  <a:pt x="20340" y="112152"/>
                </a:lnTo>
                <a:lnTo>
                  <a:pt x="43965" y="74988"/>
                </a:lnTo>
                <a:lnTo>
                  <a:pt x="74957" y="43987"/>
                </a:lnTo>
                <a:lnTo>
                  <a:pt x="112115" y="20352"/>
                </a:lnTo>
                <a:lnTo>
                  <a:pt x="154239" y="5288"/>
                </a:lnTo>
                <a:lnTo>
                  <a:pt x="200126" y="0"/>
                </a:lnTo>
                <a:lnTo>
                  <a:pt x="10787138" y="0"/>
                </a:lnTo>
                <a:lnTo>
                  <a:pt x="10833055" y="5288"/>
                </a:lnTo>
                <a:lnTo>
                  <a:pt x="10875193" y="20352"/>
                </a:lnTo>
                <a:lnTo>
                  <a:pt x="10912355" y="43987"/>
                </a:lnTo>
                <a:lnTo>
                  <a:pt x="10943343" y="74988"/>
                </a:lnTo>
                <a:lnTo>
                  <a:pt x="10966960" y="112152"/>
                </a:lnTo>
                <a:lnTo>
                  <a:pt x="10982008" y="154275"/>
                </a:lnTo>
                <a:lnTo>
                  <a:pt x="10987290" y="200151"/>
                </a:lnTo>
                <a:lnTo>
                  <a:pt x="10987290" y="3438029"/>
                </a:lnTo>
                <a:lnTo>
                  <a:pt x="10982008" y="3483917"/>
                </a:lnTo>
                <a:lnTo>
                  <a:pt x="10966960" y="3526040"/>
                </a:lnTo>
                <a:lnTo>
                  <a:pt x="10943343" y="3563199"/>
                </a:lnTo>
                <a:lnTo>
                  <a:pt x="10912355" y="3594191"/>
                </a:lnTo>
                <a:lnTo>
                  <a:pt x="10875193" y="3617815"/>
                </a:lnTo>
                <a:lnTo>
                  <a:pt x="10833055" y="3632870"/>
                </a:lnTo>
                <a:lnTo>
                  <a:pt x="10787138" y="3638156"/>
                </a:lnTo>
                <a:lnTo>
                  <a:pt x="200126" y="3638156"/>
                </a:lnTo>
                <a:lnTo>
                  <a:pt x="154239" y="3632870"/>
                </a:lnTo>
                <a:lnTo>
                  <a:pt x="112115" y="3617815"/>
                </a:lnTo>
                <a:lnTo>
                  <a:pt x="74957" y="3594191"/>
                </a:lnTo>
                <a:lnTo>
                  <a:pt x="43965" y="3563199"/>
                </a:lnTo>
                <a:lnTo>
                  <a:pt x="20340" y="3526040"/>
                </a:lnTo>
                <a:lnTo>
                  <a:pt x="5285" y="3483917"/>
                </a:lnTo>
                <a:lnTo>
                  <a:pt x="0" y="3438029"/>
                </a:lnTo>
                <a:lnTo>
                  <a:pt x="0" y="200151"/>
                </a:lnTo>
                <a:close/>
              </a:path>
            </a:pathLst>
          </a:custGeom>
          <a:ln w="95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345551" y="659638"/>
            <a:ext cx="18091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맑은 고딕"/>
                <a:cs typeface="맑은 고딕"/>
              </a:rPr>
              <a:t>LangChain</a:t>
            </a:r>
            <a:r>
              <a:rPr sz="1800" spc="-5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Agent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3166" y="6418884"/>
            <a:ext cx="50685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맑은 고딕"/>
                <a:cs typeface="맑은 고딕"/>
              </a:rPr>
              <a:t>&lt;이미지</a:t>
            </a:r>
            <a:r>
              <a:rPr sz="1050" spc="-35" dirty="0">
                <a:latin typeface="맑은 고딕"/>
                <a:cs typeface="맑은 고딕"/>
              </a:rPr>
              <a:t> </a:t>
            </a:r>
            <a:r>
              <a:rPr sz="1050" dirty="0">
                <a:latin typeface="맑은 고딕"/>
                <a:cs typeface="맑은 고딕"/>
              </a:rPr>
              <a:t>출처&gt;</a:t>
            </a:r>
            <a:r>
              <a:rPr sz="1050" spc="-10" dirty="0">
                <a:latin typeface="맑은 고딕"/>
                <a:cs typeface="맑은 고딕"/>
              </a:rPr>
              <a:t> https://python.langchain.com/v0.1/docs/use_cases/tool_use/agents/</a:t>
            </a:r>
            <a:endParaRPr sz="1050">
              <a:latin typeface="맑은 고딕"/>
              <a:cs typeface="맑은 고딕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8923" y="3091649"/>
            <a:ext cx="7870825" cy="3295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0"/>
              </a:spcBef>
            </a:pPr>
            <a:r>
              <a:rPr dirty="0"/>
              <a:t>LangChain</a:t>
            </a:r>
            <a:r>
              <a:rPr spc="-40" dirty="0"/>
              <a:t> </a:t>
            </a:r>
            <a:r>
              <a:rPr spc="-10" dirty="0"/>
              <a:t>Agent</a:t>
            </a:r>
          </a:p>
          <a:p>
            <a:pPr marL="12700">
              <a:lnSpc>
                <a:spcPts val="3650"/>
              </a:lnSpc>
            </a:pPr>
            <a:r>
              <a:rPr spc="-25" dirty="0"/>
              <a:t>개요</a:t>
            </a:r>
          </a:p>
        </p:txBody>
      </p:sp>
      <p:sp>
        <p:nvSpPr>
          <p:cNvPr id="3" name="object 3"/>
          <p:cNvSpPr/>
          <p:nvPr/>
        </p:nvSpPr>
        <p:spPr>
          <a:xfrm>
            <a:off x="406400" y="1973960"/>
            <a:ext cx="5595620" cy="4636135"/>
          </a:xfrm>
          <a:custGeom>
            <a:avLst/>
            <a:gdLst/>
            <a:ahLst/>
            <a:cxnLst/>
            <a:rect l="l" t="t" r="r" b="b"/>
            <a:pathLst>
              <a:path w="5595620" h="4636134">
                <a:moveTo>
                  <a:pt x="0" y="255015"/>
                </a:moveTo>
                <a:lnTo>
                  <a:pt x="4109" y="209176"/>
                </a:lnTo>
                <a:lnTo>
                  <a:pt x="15955" y="166032"/>
                </a:lnTo>
                <a:lnTo>
                  <a:pt x="34820" y="126303"/>
                </a:lnTo>
                <a:lnTo>
                  <a:pt x="59981" y="90711"/>
                </a:lnTo>
                <a:lnTo>
                  <a:pt x="90719" y="59976"/>
                </a:lnTo>
                <a:lnTo>
                  <a:pt x="126313" y="34816"/>
                </a:lnTo>
                <a:lnTo>
                  <a:pt x="166043" y="15954"/>
                </a:lnTo>
                <a:lnTo>
                  <a:pt x="209188" y="4108"/>
                </a:lnTo>
                <a:lnTo>
                  <a:pt x="255028" y="0"/>
                </a:lnTo>
                <a:lnTo>
                  <a:pt x="5340223" y="0"/>
                </a:lnTo>
                <a:lnTo>
                  <a:pt x="5386062" y="4108"/>
                </a:lnTo>
                <a:lnTo>
                  <a:pt x="5429206" y="15954"/>
                </a:lnTo>
                <a:lnTo>
                  <a:pt x="5468935" y="34816"/>
                </a:lnTo>
                <a:lnTo>
                  <a:pt x="5504527" y="59976"/>
                </a:lnTo>
                <a:lnTo>
                  <a:pt x="5535262" y="90711"/>
                </a:lnTo>
                <a:lnTo>
                  <a:pt x="5560422" y="126303"/>
                </a:lnTo>
                <a:lnTo>
                  <a:pt x="5579284" y="166032"/>
                </a:lnTo>
                <a:lnTo>
                  <a:pt x="5591130" y="209176"/>
                </a:lnTo>
                <a:lnTo>
                  <a:pt x="5595239" y="255015"/>
                </a:lnTo>
                <a:lnTo>
                  <a:pt x="5595239" y="4380966"/>
                </a:lnTo>
                <a:lnTo>
                  <a:pt x="5591130" y="4426810"/>
                </a:lnTo>
                <a:lnTo>
                  <a:pt x="5579284" y="4469957"/>
                </a:lnTo>
                <a:lnTo>
                  <a:pt x="5560422" y="4509687"/>
                </a:lnTo>
                <a:lnTo>
                  <a:pt x="5535262" y="4545281"/>
                </a:lnTo>
                <a:lnTo>
                  <a:pt x="5504527" y="4576018"/>
                </a:lnTo>
                <a:lnTo>
                  <a:pt x="5468935" y="4601178"/>
                </a:lnTo>
                <a:lnTo>
                  <a:pt x="5429206" y="4620040"/>
                </a:lnTo>
                <a:lnTo>
                  <a:pt x="5386062" y="4631886"/>
                </a:lnTo>
                <a:lnTo>
                  <a:pt x="5340223" y="4635995"/>
                </a:lnTo>
                <a:lnTo>
                  <a:pt x="255028" y="4635995"/>
                </a:lnTo>
                <a:lnTo>
                  <a:pt x="209188" y="4631886"/>
                </a:lnTo>
                <a:lnTo>
                  <a:pt x="166043" y="4620040"/>
                </a:lnTo>
                <a:lnTo>
                  <a:pt x="126313" y="4601178"/>
                </a:lnTo>
                <a:lnTo>
                  <a:pt x="90719" y="4576018"/>
                </a:lnTo>
                <a:lnTo>
                  <a:pt x="59981" y="4545281"/>
                </a:lnTo>
                <a:lnTo>
                  <a:pt x="34820" y="4509687"/>
                </a:lnTo>
                <a:lnTo>
                  <a:pt x="15955" y="4469957"/>
                </a:lnTo>
                <a:lnTo>
                  <a:pt x="4109" y="4426810"/>
                </a:lnTo>
                <a:lnTo>
                  <a:pt x="0" y="4380966"/>
                </a:lnTo>
                <a:lnTo>
                  <a:pt x="0" y="255015"/>
                </a:lnTo>
                <a:close/>
              </a:path>
            </a:pathLst>
          </a:custGeom>
          <a:ln w="9524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60019" y="2351913"/>
            <a:ext cx="5218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2085" algn="l"/>
                <a:tab pos="3412490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프롬프트: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"agent_scratchpad",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	"input"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변수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포함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5551" y="659638"/>
            <a:ext cx="18091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맑은 고딕"/>
                <a:cs typeface="맑은 고딕"/>
              </a:rPr>
              <a:t>LangChain</a:t>
            </a:r>
            <a:r>
              <a:rPr sz="1800" spc="-5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Agent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74283" y="1973960"/>
            <a:ext cx="5595620" cy="4636135"/>
          </a:xfrm>
          <a:custGeom>
            <a:avLst/>
            <a:gdLst/>
            <a:ahLst/>
            <a:cxnLst/>
            <a:rect l="l" t="t" r="r" b="b"/>
            <a:pathLst>
              <a:path w="5595620" h="4636134">
                <a:moveTo>
                  <a:pt x="0" y="255015"/>
                </a:moveTo>
                <a:lnTo>
                  <a:pt x="4108" y="209176"/>
                </a:lnTo>
                <a:lnTo>
                  <a:pt x="15954" y="166032"/>
                </a:lnTo>
                <a:lnTo>
                  <a:pt x="34816" y="126303"/>
                </a:lnTo>
                <a:lnTo>
                  <a:pt x="59976" y="90711"/>
                </a:lnTo>
                <a:lnTo>
                  <a:pt x="90711" y="59976"/>
                </a:lnTo>
                <a:lnTo>
                  <a:pt x="126303" y="34816"/>
                </a:lnTo>
                <a:lnTo>
                  <a:pt x="166032" y="15954"/>
                </a:lnTo>
                <a:lnTo>
                  <a:pt x="209176" y="4108"/>
                </a:lnTo>
                <a:lnTo>
                  <a:pt x="255015" y="0"/>
                </a:lnTo>
                <a:lnTo>
                  <a:pt x="5340222" y="0"/>
                </a:lnTo>
                <a:lnTo>
                  <a:pt x="5386062" y="4108"/>
                </a:lnTo>
                <a:lnTo>
                  <a:pt x="5429206" y="15954"/>
                </a:lnTo>
                <a:lnTo>
                  <a:pt x="5468935" y="34816"/>
                </a:lnTo>
                <a:lnTo>
                  <a:pt x="5504527" y="59976"/>
                </a:lnTo>
                <a:lnTo>
                  <a:pt x="5535262" y="90711"/>
                </a:lnTo>
                <a:lnTo>
                  <a:pt x="5560422" y="126303"/>
                </a:lnTo>
                <a:lnTo>
                  <a:pt x="5579284" y="166032"/>
                </a:lnTo>
                <a:lnTo>
                  <a:pt x="5591130" y="209176"/>
                </a:lnTo>
                <a:lnTo>
                  <a:pt x="5595239" y="255015"/>
                </a:lnTo>
                <a:lnTo>
                  <a:pt x="5595239" y="4380966"/>
                </a:lnTo>
                <a:lnTo>
                  <a:pt x="5591130" y="4426810"/>
                </a:lnTo>
                <a:lnTo>
                  <a:pt x="5579284" y="4469957"/>
                </a:lnTo>
                <a:lnTo>
                  <a:pt x="5560422" y="4509687"/>
                </a:lnTo>
                <a:lnTo>
                  <a:pt x="5535262" y="4545281"/>
                </a:lnTo>
                <a:lnTo>
                  <a:pt x="5504527" y="4576018"/>
                </a:lnTo>
                <a:lnTo>
                  <a:pt x="5468935" y="4601178"/>
                </a:lnTo>
                <a:lnTo>
                  <a:pt x="5429206" y="4620040"/>
                </a:lnTo>
                <a:lnTo>
                  <a:pt x="5386062" y="4631886"/>
                </a:lnTo>
                <a:lnTo>
                  <a:pt x="5340222" y="4635995"/>
                </a:lnTo>
                <a:lnTo>
                  <a:pt x="255015" y="4635995"/>
                </a:lnTo>
                <a:lnTo>
                  <a:pt x="209176" y="4631886"/>
                </a:lnTo>
                <a:lnTo>
                  <a:pt x="166032" y="4620040"/>
                </a:lnTo>
                <a:lnTo>
                  <a:pt x="126303" y="4601178"/>
                </a:lnTo>
                <a:lnTo>
                  <a:pt x="90711" y="4576018"/>
                </a:lnTo>
                <a:lnTo>
                  <a:pt x="59976" y="4545281"/>
                </a:lnTo>
                <a:lnTo>
                  <a:pt x="34816" y="4509687"/>
                </a:lnTo>
                <a:lnTo>
                  <a:pt x="15954" y="4469957"/>
                </a:lnTo>
                <a:lnTo>
                  <a:pt x="4108" y="4426810"/>
                </a:lnTo>
                <a:lnTo>
                  <a:pt x="0" y="4380966"/>
                </a:lnTo>
                <a:lnTo>
                  <a:pt x="0" y="255015"/>
                </a:lnTo>
                <a:close/>
              </a:path>
            </a:pathLst>
          </a:custGeom>
          <a:ln w="9524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6851" y="5708650"/>
            <a:ext cx="5174615" cy="781050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100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1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langchain.agents</a:t>
            </a:r>
            <a:r>
              <a:rPr sz="1100" spc="-35" dirty="0"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1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latin typeface="Consolas"/>
                <a:cs typeface="Consolas"/>
              </a:rPr>
              <a:t>create_tool_calling_agent</a:t>
            </a:r>
            <a:endParaRPr sz="11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100" dirty="0">
                <a:latin typeface="Consolas"/>
                <a:cs typeface="Consolas"/>
              </a:rPr>
              <a:t>tools</a:t>
            </a:r>
            <a:r>
              <a:rPr sz="1100" spc="-40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=</a:t>
            </a:r>
            <a:r>
              <a:rPr sz="1100" spc="-40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[web_search_tool,</a:t>
            </a:r>
            <a:r>
              <a:rPr sz="1100" spc="-40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blog_search,</a:t>
            </a:r>
            <a:r>
              <a:rPr sz="1100" spc="-35" dirty="0">
                <a:latin typeface="Consolas"/>
                <a:cs typeface="Consolas"/>
              </a:rPr>
              <a:t> </a:t>
            </a:r>
            <a:r>
              <a:rPr sz="1100" spc="-10" dirty="0">
                <a:latin typeface="Consolas"/>
                <a:cs typeface="Consolas"/>
              </a:rPr>
              <a:t>search_menu]</a:t>
            </a:r>
            <a:endParaRPr sz="11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100" dirty="0">
                <a:latin typeface="Consolas"/>
                <a:cs typeface="Consolas"/>
              </a:rPr>
              <a:t>agent</a:t>
            </a:r>
            <a:r>
              <a:rPr sz="1100" spc="-50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=</a:t>
            </a:r>
            <a:r>
              <a:rPr sz="1100" spc="-45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create_tool_calling_agent(llm,</a:t>
            </a:r>
            <a:r>
              <a:rPr sz="1100" spc="-45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tools,</a:t>
            </a:r>
            <a:r>
              <a:rPr sz="1100" spc="-40" dirty="0">
                <a:latin typeface="Consolas"/>
                <a:cs typeface="Consolas"/>
              </a:rPr>
              <a:t> </a:t>
            </a:r>
            <a:r>
              <a:rPr sz="1100" spc="-10" dirty="0">
                <a:latin typeface="Consolas"/>
                <a:cs typeface="Consolas"/>
              </a:rPr>
              <a:t>agent_prompt)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06439" y="2459735"/>
            <a:ext cx="5148580" cy="1776095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2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langchain.agents</a:t>
            </a:r>
            <a:r>
              <a:rPr sz="1200" spc="-3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2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AgentExecutor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200" dirty="0">
                <a:latin typeface="Consolas"/>
                <a:cs typeface="Consolas"/>
              </a:rPr>
              <a:t>agent_executor</a:t>
            </a:r>
            <a:r>
              <a:rPr sz="1200" spc="-6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5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AgentExecutor(agent=agent,</a:t>
            </a:r>
            <a:r>
              <a:rPr sz="1200" spc="-6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tools=tools,</a:t>
            </a:r>
            <a:endParaRPr sz="12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200" spc="-10" dirty="0">
                <a:latin typeface="Consolas"/>
                <a:cs typeface="Consolas"/>
              </a:rPr>
              <a:t>verbose=</a:t>
            </a:r>
            <a:r>
              <a:rPr sz="1200" spc="-10" dirty="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sz="1200" spc="-10" dirty="0"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Consolas"/>
              <a:cs typeface="Consolas"/>
            </a:endParaRPr>
          </a:p>
          <a:p>
            <a:pPr marL="92075" marR="280670">
              <a:lnSpc>
                <a:spcPct val="100000"/>
              </a:lnSpc>
            </a:pPr>
            <a:r>
              <a:rPr sz="1200" dirty="0">
                <a:latin typeface="Consolas"/>
                <a:cs typeface="Consolas"/>
              </a:rPr>
              <a:t>query = 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시그니처</a:t>
            </a:r>
            <a:r>
              <a:rPr sz="1200" spc="23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스테이크의</a:t>
            </a:r>
            <a:r>
              <a:rPr sz="1200" spc="229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가격과</a:t>
            </a:r>
            <a:r>
              <a:rPr sz="1200" spc="24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특징은</a:t>
            </a:r>
            <a:r>
              <a:rPr sz="1200" spc="229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무엇인가요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?</a:t>
            </a:r>
            <a:r>
              <a:rPr sz="1200" spc="-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A21515"/>
                </a:solidFill>
                <a:latin typeface="맑은 고딕"/>
                <a:cs typeface="맑은 고딕"/>
              </a:rPr>
              <a:t>그리고 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스테이크와</a:t>
            </a:r>
            <a:r>
              <a:rPr sz="1200" spc="24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어울리는</a:t>
            </a:r>
            <a:r>
              <a:rPr sz="1200" spc="24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와인</a:t>
            </a:r>
            <a:r>
              <a:rPr sz="1200" spc="25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A21515"/>
                </a:solidFill>
                <a:latin typeface="맑은 고딕"/>
                <a:cs typeface="맑은 고딕"/>
              </a:rPr>
              <a:t>추천도</a:t>
            </a:r>
            <a:r>
              <a:rPr sz="1200" spc="24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맑은 고딕"/>
                <a:cs typeface="맑은 고딕"/>
              </a:rPr>
              <a:t>해주세요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.“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Consolas"/>
                <a:cs typeface="Consolas"/>
              </a:rPr>
              <a:t>agent_response</a:t>
            </a:r>
            <a:r>
              <a:rPr sz="1200" spc="-7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6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agent_executor.invoke({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"input"</a:t>
            </a:r>
            <a:r>
              <a:rPr sz="1200" dirty="0">
                <a:latin typeface="Consolas"/>
                <a:cs typeface="Consolas"/>
              </a:rPr>
              <a:t>:</a:t>
            </a:r>
            <a:r>
              <a:rPr sz="1200" spc="-6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query})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50900" y="1822373"/>
            <a:ext cx="4470400" cy="391160"/>
          </a:xfrm>
          <a:custGeom>
            <a:avLst/>
            <a:gdLst/>
            <a:ahLst/>
            <a:cxnLst/>
            <a:rect l="l" t="t" r="r" b="b"/>
            <a:pathLst>
              <a:path w="4470400" h="391160">
                <a:moveTo>
                  <a:pt x="4470400" y="0"/>
                </a:moveTo>
                <a:lnTo>
                  <a:pt x="0" y="0"/>
                </a:lnTo>
                <a:lnTo>
                  <a:pt x="0" y="390982"/>
                </a:lnTo>
                <a:lnTo>
                  <a:pt x="4470400" y="390982"/>
                </a:lnTo>
                <a:lnTo>
                  <a:pt x="4470400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50900" y="1822373"/>
            <a:ext cx="4470400" cy="3911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425"/>
              </a:spcBef>
            </a:pPr>
            <a:r>
              <a:rPr sz="1800" b="1" spc="-10" dirty="0">
                <a:solidFill>
                  <a:srgbClr val="FFFFFF"/>
                </a:solidFill>
                <a:latin typeface="맑은 고딕"/>
                <a:cs typeface="맑은 고딕"/>
              </a:rPr>
              <a:t>create_tool_calling_agent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45402" y="1822373"/>
            <a:ext cx="4470400" cy="391160"/>
          </a:xfrm>
          <a:custGeom>
            <a:avLst/>
            <a:gdLst/>
            <a:ahLst/>
            <a:cxnLst/>
            <a:rect l="l" t="t" r="r" b="b"/>
            <a:pathLst>
              <a:path w="4470400" h="391160">
                <a:moveTo>
                  <a:pt x="4470400" y="0"/>
                </a:moveTo>
                <a:lnTo>
                  <a:pt x="0" y="0"/>
                </a:lnTo>
                <a:lnTo>
                  <a:pt x="0" y="390982"/>
                </a:lnTo>
                <a:lnTo>
                  <a:pt x="4470400" y="390982"/>
                </a:lnTo>
                <a:lnTo>
                  <a:pt x="4470400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645402" y="1822373"/>
            <a:ext cx="4470400" cy="3911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425"/>
              </a:spcBef>
            </a:pPr>
            <a:r>
              <a:rPr sz="1800" b="1" spc="-10" dirty="0">
                <a:solidFill>
                  <a:srgbClr val="FFFFFF"/>
                </a:solidFill>
                <a:latin typeface="맑은 고딕"/>
                <a:cs typeface="맑은 고딕"/>
              </a:rPr>
              <a:t>AgentExecutor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7326" y="2755709"/>
            <a:ext cx="5342890" cy="2622550"/>
            <a:chOff x="607326" y="2755709"/>
            <a:chExt cx="5342890" cy="262255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851" y="2765171"/>
              <a:ext cx="5174360" cy="252818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2089" y="2760472"/>
              <a:ext cx="5184140" cy="2538095"/>
            </a:xfrm>
            <a:custGeom>
              <a:avLst/>
              <a:gdLst/>
              <a:ahLst/>
              <a:cxnLst/>
              <a:rect l="l" t="t" r="r" b="b"/>
              <a:pathLst>
                <a:path w="5184140" h="2538095">
                  <a:moveTo>
                    <a:pt x="0" y="2537714"/>
                  </a:moveTo>
                  <a:lnTo>
                    <a:pt x="5183885" y="2537714"/>
                  </a:lnTo>
                  <a:lnTo>
                    <a:pt x="5183885" y="0"/>
                  </a:lnTo>
                  <a:lnTo>
                    <a:pt x="0" y="0"/>
                  </a:lnTo>
                  <a:lnTo>
                    <a:pt x="0" y="2537714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19017" y="4596638"/>
              <a:ext cx="2131060" cy="781050"/>
            </a:xfrm>
            <a:custGeom>
              <a:avLst/>
              <a:gdLst/>
              <a:ahLst/>
              <a:cxnLst/>
              <a:rect l="l" t="t" r="r" b="b"/>
              <a:pathLst>
                <a:path w="2131060" h="781050">
                  <a:moveTo>
                    <a:pt x="2000758" y="0"/>
                  </a:moveTo>
                  <a:lnTo>
                    <a:pt x="273558" y="0"/>
                  </a:lnTo>
                  <a:lnTo>
                    <a:pt x="222892" y="10231"/>
                  </a:lnTo>
                  <a:lnTo>
                    <a:pt x="181514" y="38131"/>
                  </a:lnTo>
                  <a:lnTo>
                    <a:pt x="153614" y="79509"/>
                  </a:lnTo>
                  <a:lnTo>
                    <a:pt x="143383" y="130175"/>
                  </a:lnTo>
                  <a:lnTo>
                    <a:pt x="143383" y="455675"/>
                  </a:lnTo>
                  <a:lnTo>
                    <a:pt x="0" y="474472"/>
                  </a:lnTo>
                  <a:lnTo>
                    <a:pt x="143383" y="650875"/>
                  </a:lnTo>
                  <a:lnTo>
                    <a:pt x="153614" y="701540"/>
                  </a:lnTo>
                  <a:lnTo>
                    <a:pt x="181514" y="742918"/>
                  </a:lnTo>
                  <a:lnTo>
                    <a:pt x="222892" y="770818"/>
                  </a:lnTo>
                  <a:lnTo>
                    <a:pt x="273558" y="781050"/>
                  </a:lnTo>
                  <a:lnTo>
                    <a:pt x="2000758" y="781050"/>
                  </a:lnTo>
                  <a:lnTo>
                    <a:pt x="2051423" y="770818"/>
                  </a:lnTo>
                  <a:lnTo>
                    <a:pt x="2092801" y="742918"/>
                  </a:lnTo>
                  <a:lnTo>
                    <a:pt x="2120701" y="701540"/>
                  </a:lnTo>
                  <a:lnTo>
                    <a:pt x="2130933" y="650875"/>
                  </a:lnTo>
                  <a:lnTo>
                    <a:pt x="2130933" y="130175"/>
                  </a:lnTo>
                  <a:lnTo>
                    <a:pt x="2120701" y="79509"/>
                  </a:lnTo>
                  <a:lnTo>
                    <a:pt x="2092801" y="38131"/>
                  </a:lnTo>
                  <a:lnTo>
                    <a:pt x="2051423" y="10231"/>
                  </a:lnTo>
                  <a:lnTo>
                    <a:pt x="2000758" y="0"/>
                  </a:lnTo>
                  <a:close/>
                </a:path>
              </a:pathLst>
            </a:custGeom>
            <a:solidFill>
              <a:srgbClr val="F6C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60019" y="4669282"/>
            <a:ext cx="523113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04590" marR="5080" indent="-1727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704590" algn="l"/>
              </a:tabLst>
            </a:pPr>
            <a:r>
              <a:rPr sz="1000" b="1" dirty="0">
                <a:solidFill>
                  <a:srgbClr val="80350D"/>
                </a:solidFill>
                <a:latin typeface="맑은 고딕"/>
                <a:cs typeface="맑은 고딕"/>
              </a:rPr>
              <a:t>Agent의</a:t>
            </a:r>
            <a:r>
              <a:rPr sz="1000" b="1" spc="-20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000" b="1" dirty="0">
                <a:solidFill>
                  <a:srgbClr val="80350D"/>
                </a:solidFill>
                <a:latin typeface="맑은 고딕"/>
                <a:cs typeface="맑은 고딕"/>
              </a:rPr>
              <a:t>사고</a:t>
            </a:r>
            <a:r>
              <a:rPr sz="1000" b="1" spc="-30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000" b="1" dirty="0">
                <a:solidFill>
                  <a:srgbClr val="80350D"/>
                </a:solidFill>
                <a:latin typeface="맑은 고딕"/>
                <a:cs typeface="맑은 고딕"/>
              </a:rPr>
              <a:t>과정과</a:t>
            </a:r>
            <a:r>
              <a:rPr sz="1000" b="1" spc="-30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000" b="1" spc="-25" dirty="0">
                <a:solidFill>
                  <a:srgbClr val="80350D"/>
                </a:solidFill>
                <a:latin typeface="맑은 고딕"/>
                <a:cs typeface="맑은 고딕"/>
              </a:rPr>
              <a:t>중간 </a:t>
            </a:r>
            <a:r>
              <a:rPr sz="1000" b="1" dirty="0">
                <a:solidFill>
                  <a:srgbClr val="80350D"/>
                </a:solidFill>
                <a:latin typeface="맑은 고딕"/>
                <a:cs typeface="맑은 고딕"/>
              </a:rPr>
              <a:t>단계를</a:t>
            </a:r>
            <a:r>
              <a:rPr sz="1000" b="1" spc="-25" dirty="0">
                <a:solidFill>
                  <a:srgbClr val="80350D"/>
                </a:solidFill>
                <a:latin typeface="맑은 고딕"/>
                <a:cs typeface="맑은 고딕"/>
              </a:rPr>
              <a:t> 기록</a:t>
            </a:r>
            <a:endParaRPr sz="1000">
              <a:latin typeface="맑은 고딕"/>
              <a:cs typeface="맑은 고딕"/>
            </a:endParaRPr>
          </a:p>
          <a:p>
            <a:pPr marL="3704590" marR="116205" indent="-172720">
              <a:lnSpc>
                <a:spcPct val="100000"/>
              </a:lnSpc>
              <a:buFont typeface="Arial"/>
              <a:buChar char="•"/>
              <a:tabLst>
                <a:tab pos="3704590" algn="l"/>
              </a:tabLst>
            </a:pPr>
            <a:r>
              <a:rPr sz="1000" b="1" dirty="0">
                <a:solidFill>
                  <a:srgbClr val="80350D"/>
                </a:solidFill>
                <a:latin typeface="맑은 고딕"/>
                <a:cs typeface="맑은 고딕"/>
              </a:rPr>
              <a:t>이전</a:t>
            </a:r>
            <a:r>
              <a:rPr sz="1000" b="1" spc="-25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000" b="1" dirty="0">
                <a:solidFill>
                  <a:srgbClr val="80350D"/>
                </a:solidFill>
                <a:latin typeface="맑은 고딕"/>
                <a:cs typeface="맑은 고딕"/>
              </a:rPr>
              <a:t>단계의</a:t>
            </a:r>
            <a:r>
              <a:rPr sz="1000" b="1" spc="-20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000" b="1" dirty="0">
                <a:solidFill>
                  <a:srgbClr val="80350D"/>
                </a:solidFill>
                <a:latin typeface="맑은 고딕"/>
                <a:cs typeface="맑은 고딕"/>
              </a:rPr>
              <a:t>결과와</a:t>
            </a:r>
            <a:r>
              <a:rPr sz="1000" b="1" spc="-20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000" b="1" spc="-25" dirty="0">
                <a:solidFill>
                  <a:srgbClr val="80350D"/>
                </a:solidFill>
                <a:latin typeface="맑은 고딕"/>
                <a:cs typeface="맑은 고딕"/>
              </a:rPr>
              <a:t>다음 </a:t>
            </a:r>
            <a:r>
              <a:rPr sz="1000" b="1" dirty="0">
                <a:solidFill>
                  <a:srgbClr val="80350D"/>
                </a:solidFill>
                <a:latin typeface="맑은 고딕"/>
                <a:cs typeface="맑은 고딕"/>
              </a:rPr>
              <a:t>단계를</a:t>
            </a:r>
            <a:r>
              <a:rPr sz="1000" b="1" spc="-25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000" b="1" dirty="0">
                <a:solidFill>
                  <a:srgbClr val="80350D"/>
                </a:solidFill>
                <a:latin typeface="맑은 고딕"/>
                <a:cs typeface="맑은 고딕"/>
              </a:rPr>
              <a:t>계획하는</a:t>
            </a:r>
            <a:r>
              <a:rPr sz="1000" b="1" spc="-5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000" b="1" dirty="0">
                <a:solidFill>
                  <a:srgbClr val="80350D"/>
                </a:solidFill>
                <a:latin typeface="맑은 고딕"/>
                <a:cs typeface="맑은 고딕"/>
              </a:rPr>
              <a:t>데</a:t>
            </a:r>
            <a:r>
              <a:rPr sz="1000" b="1" spc="-30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000" b="1" spc="-25" dirty="0">
                <a:solidFill>
                  <a:srgbClr val="80350D"/>
                </a:solidFill>
                <a:latin typeface="맑은 고딕"/>
                <a:cs typeface="맑은 고딕"/>
              </a:rPr>
              <a:t>사용</a:t>
            </a:r>
            <a:endParaRPr sz="1000">
              <a:latin typeface="맑은 고딕"/>
              <a:cs typeface="맑은 고딕"/>
            </a:endParaRPr>
          </a:p>
          <a:p>
            <a:pPr marL="172085" indent="-15938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172085" algn="l"/>
              </a:tabLst>
            </a:pPr>
            <a:r>
              <a:rPr sz="1800" b="1" spc="-10" dirty="0">
                <a:solidFill>
                  <a:srgbClr val="0D0D0D"/>
                </a:solidFill>
                <a:latin typeface="맑은 고딕"/>
                <a:cs typeface="맑은 고딕"/>
              </a:rPr>
              <a:t>create_tool_calling_agent</a:t>
            </a:r>
            <a:r>
              <a:rPr sz="1800" b="1" spc="4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함수</a:t>
            </a:r>
            <a:r>
              <a:rPr sz="1800" spc="3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사용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68437" y="3990340"/>
            <a:ext cx="2426335" cy="1259840"/>
            <a:chOff x="1468437" y="3990340"/>
            <a:chExt cx="2426335" cy="1259840"/>
          </a:xfrm>
        </p:grpSpPr>
        <p:sp>
          <p:nvSpPr>
            <p:cNvPr id="19" name="object 19"/>
            <p:cNvSpPr/>
            <p:nvPr/>
          </p:nvSpPr>
          <p:spPr>
            <a:xfrm>
              <a:off x="1473200" y="4819688"/>
              <a:ext cx="2416810" cy="425450"/>
            </a:xfrm>
            <a:custGeom>
              <a:avLst/>
              <a:gdLst/>
              <a:ahLst/>
              <a:cxnLst/>
              <a:rect l="l" t="t" r="r" b="b"/>
              <a:pathLst>
                <a:path w="2416810" h="425450">
                  <a:moveTo>
                    <a:pt x="1257300" y="425411"/>
                  </a:moveTo>
                  <a:lnTo>
                    <a:pt x="2416632" y="425411"/>
                  </a:lnTo>
                  <a:lnTo>
                    <a:pt x="2416632" y="101561"/>
                  </a:lnTo>
                  <a:lnTo>
                    <a:pt x="1257300" y="101561"/>
                  </a:lnTo>
                  <a:lnTo>
                    <a:pt x="1257300" y="425411"/>
                  </a:lnTo>
                  <a:close/>
                </a:path>
                <a:path w="2416810" h="425450">
                  <a:moveTo>
                    <a:pt x="0" y="253199"/>
                  </a:moveTo>
                  <a:lnTo>
                    <a:pt x="565150" y="253199"/>
                  </a:lnTo>
                  <a:lnTo>
                    <a:pt x="565150" y="0"/>
                  </a:lnTo>
                  <a:lnTo>
                    <a:pt x="0" y="0"/>
                  </a:lnTo>
                  <a:lnTo>
                    <a:pt x="0" y="253199"/>
                  </a:lnTo>
                  <a:close/>
                </a:path>
              </a:pathLst>
            </a:custGeom>
            <a:ln w="9525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36216" y="3990340"/>
              <a:ext cx="2067560" cy="781050"/>
            </a:xfrm>
            <a:custGeom>
              <a:avLst/>
              <a:gdLst/>
              <a:ahLst/>
              <a:cxnLst/>
              <a:rect l="l" t="t" r="r" b="b"/>
              <a:pathLst>
                <a:path w="2067560" h="781050">
                  <a:moveTo>
                    <a:pt x="2067433" y="650875"/>
                  </a:moveTo>
                  <a:lnTo>
                    <a:pt x="79882" y="650875"/>
                  </a:lnTo>
                  <a:lnTo>
                    <a:pt x="90114" y="701540"/>
                  </a:lnTo>
                  <a:lnTo>
                    <a:pt x="118014" y="742918"/>
                  </a:lnTo>
                  <a:lnTo>
                    <a:pt x="159392" y="770818"/>
                  </a:lnTo>
                  <a:lnTo>
                    <a:pt x="210057" y="781050"/>
                  </a:lnTo>
                  <a:lnTo>
                    <a:pt x="1937258" y="781050"/>
                  </a:lnTo>
                  <a:lnTo>
                    <a:pt x="1987923" y="770818"/>
                  </a:lnTo>
                  <a:lnTo>
                    <a:pt x="2029301" y="742918"/>
                  </a:lnTo>
                  <a:lnTo>
                    <a:pt x="2057201" y="701540"/>
                  </a:lnTo>
                  <a:lnTo>
                    <a:pt x="2067433" y="650875"/>
                  </a:lnTo>
                  <a:close/>
                </a:path>
                <a:path w="2067560" h="781050">
                  <a:moveTo>
                    <a:pt x="1937258" y="0"/>
                  </a:moveTo>
                  <a:lnTo>
                    <a:pt x="210057" y="0"/>
                  </a:lnTo>
                  <a:lnTo>
                    <a:pt x="159392" y="10231"/>
                  </a:lnTo>
                  <a:lnTo>
                    <a:pt x="118014" y="38131"/>
                  </a:lnTo>
                  <a:lnTo>
                    <a:pt x="90114" y="79509"/>
                  </a:lnTo>
                  <a:lnTo>
                    <a:pt x="79882" y="130175"/>
                  </a:lnTo>
                  <a:lnTo>
                    <a:pt x="79882" y="455549"/>
                  </a:lnTo>
                  <a:lnTo>
                    <a:pt x="0" y="677545"/>
                  </a:lnTo>
                  <a:lnTo>
                    <a:pt x="79882" y="650875"/>
                  </a:lnTo>
                  <a:lnTo>
                    <a:pt x="2067433" y="650875"/>
                  </a:lnTo>
                  <a:lnTo>
                    <a:pt x="2067433" y="130175"/>
                  </a:lnTo>
                  <a:lnTo>
                    <a:pt x="2057201" y="79509"/>
                  </a:lnTo>
                  <a:lnTo>
                    <a:pt x="2029301" y="38131"/>
                  </a:lnTo>
                  <a:lnTo>
                    <a:pt x="1987923" y="10231"/>
                  </a:lnTo>
                  <a:lnTo>
                    <a:pt x="1937258" y="0"/>
                  </a:lnTo>
                  <a:close/>
                </a:path>
              </a:pathLst>
            </a:custGeom>
            <a:solidFill>
              <a:srgbClr val="F6C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933194" y="4062729"/>
            <a:ext cx="16656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marR="152400" indent="-1727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785" algn="l"/>
              </a:tabLst>
            </a:pPr>
            <a:r>
              <a:rPr sz="1000" b="1" dirty="0">
                <a:solidFill>
                  <a:srgbClr val="80350D"/>
                </a:solidFill>
                <a:latin typeface="맑은 고딕"/>
                <a:cs typeface="맑은 고딕"/>
              </a:rPr>
              <a:t>A사용자의</a:t>
            </a:r>
            <a:r>
              <a:rPr sz="1000" b="1" spc="-15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000" b="1" dirty="0">
                <a:solidFill>
                  <a:srgbClr val="80350D"/>
                </a:solidFill>
                <a:latin typeface="맑은 고딕"/>
                <a:cs typeface="맑은 고딕"/>
              </a:rPr>
              <a:t>초기</a:t>
            </a:r>
            <a:r>
              <a:rPr sz="1000" b="1" spc="-25" dirty="0">
                <a:solidFill>
                  <a:srgbClr val="80350D"/>
                </a:solidFill>
                <a:latin typeface="맑은 고딕"/>
                <a:cs typeface="맑은 고딕"/>
              </a:rPr>
              <a:t> 쿼리나 </a:t>
            </a:r>
            <a:r>
              <a:rPr sz="1000" b="1" spc="-20" dirty="0">
                <a:solidFill>
                  <a:srgbClr val="80350D"/>
                </a:solidFill>
                <a:latin typeface="맑은 고딕"/>
                <a:cs typeface="맑은 고딕"/>
              </a:rPr>
              <a:t>지시사항</a:t>
            </a:r>
            <a:endParaRPr sz="1000">
              <a:latin typeface="맑은 고딕"/>
              <a:cs typeface="맑은 고딕"/>
            </a:endParaRPr>
          </a:p>
          <a:p>
            <a:pPr marL="184785" marR="5080" indent="-172720">
              <a:lnSpc>
                <a:spcPct val="100000"/>
              </a:lnSpc>
              <a:buFont typeface="Arial"/>
              <a:buChar char="•"/>
              <a:tabLst>
                <a:tab pos="184785" algn="l"/>
              </a:tabLst>
            </a:pPr>
            <a:r>
              <a:rPr sz="1000" b="1" dirty="0">
                <a:solidFill>
                  <a:srgbClr val="80350D"/>
                </a:solidFill>
                <a:latin typeface="맑은 고딕"/>
                <a:cs typeface="맑은 고딕"/>
              </a:rPr>
              <a:t>Agent가</a:t>
            </a:r>
            <a:r>
              <a:rPr sz="1000" b="1" spc="-25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000" b="1" dirty="0">
                <a:solidFill>
                  <a:srgbClr val="80350D"/>
                </a:solidFill>
                <a:latin typeface="맑은 고딕"/>
                <a:cs typeface="맑은 고딕"/>
              </a:rPr>
              <a:t>작업을</a:t>
            </a:r>
            <a:r>
              <a:rPr sz="1000" b="1" spc="-40" dirty="0">
                <a:solidFill>
                  <a:srgbClr val="80350D"/>
                </a:solidFill>
                <a:latin typeface="맑은 고딕"/>
                <a:cs typeface="맑은 고딕"/>
              </a:rPr>
              <a:t> </a:t>
            </a:r>
            <a:r>
              <a:rPr sz="1000" b="1" spc="-20" dirty="0">
                <a:solidFill>
                  <a:srgbClr val="80350D"/>
                </a:solidFill>
                <a:latin typeface="맑은 고딕"/>
                <a:cs typeface="맑은 고딕"/>
              </a:rPr>
              <a:t>시작하는 </a:t>
            </a:r>
            <a:r>
              <a:rPr sz="1000" b="1" spc="-25" dirty="0">
                <a:solidFill>
                  <a:srgbClr val="80350D"/>
                </a:solidFill>
                <a:latin typeface="맑은 고딕"/>
                <a:cs typeface="맑은 고딕"/>
              </a:rPr>
              <a:t>출발점</a:t>
            </a:r>
            <a:endParaRPr sz="1000">
              <a:latin typeface="맑은 고딕"/>
              <a:cs typeface="맑은 고딕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296977" y="4311459"/>
            <a:ext cx="5167630" cy="2192655"/>
            <a:chOff x="6296977" y="4311459"/>
            <a:chExt cx="5167630" cy="219265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6439" y="4320984"/>
              <a:ext cx="5148326" cy="217309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301740" y="4316221"/>
              <a:ext cx="5158105" cy="2183130"/>
            </a:xfrm>
            <a:custGeom>
              <a:avLst/>
              <a:gdLst/>
              <a:ahLst/>
              <a:cxnLst/>
              <a:rect l="l" t="t" r="r" b="b"/>
              <a:pathLst>
                <a:path w="5158105" h="2183129">
                  <a:moveTo>
                    <a:pt x="0" y="2182622"/>
                  </a:moveTo>
                  <a:lnTo>
                    <a:pt x="5157850" y="2182622"/>
                  </a:lnTo>
                  <a:lnTo>
                    <a:pt x="5157850" y="0"/>
                  </a:lnTo>
                  <a:lnTo>
                    <a:pt x="0" y="0"/>
                  </a:lnTo>
                  <a:lnTo>
                    <a:pt x="0" y="2182622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StateGraph</a:t>
            </a:r>
            <a:r>
              <a:rPr spc="-254" dirty="0"/>
              <a:t> </a:t>
            </a:r>
            <a:r>
              <a:rPr spc="-25" dirty="0"/>
              <a:t>개요</a:t>
            </a:r>
          </a:p>
        </p:txBody>
      </p:sp>
      <p:sp>
        <p:nvSpPr>
          <p:cNvPr id="3" name="object 3"/>
          <p:cNvSpPr/>
          <p:nvPr/>
        </p:nvSpPr>
        <p:spPr>
          <a:xfrm>
            <a:off x="500748" y="1756282"/>
            <a:ext cx="10987405" cy="1114425"/>
          </a:xfrm>
          <a:custGeom>
            <a:avLst/>
            <a:gdLst/>
            <a:ahLst/>
            <a:cxnLst/>
            <a:rect l="l" t="t" r="r" b="b"/>
            <a:pathLst>
              <a:path w="10987405" h="1114425">
                <a:moveTo>
                  <a:pt x="10867021" y="0"/>
                </a:moveTo>
                <a:lnTo>
                  <a:pt x="120281" y="0"/>
                </a:lnTo>
                <a:lnTo>
                  <a:pt x="73460" y="9451"/>
                </a:lnTo>
                <a:lnTo>
                  <a:pt x="35228" y="35226"/>
                </a:lnTo>
                <a:lnTo>
                  <a:pt x="9451" y="73455"/>
                </a:lnTo>
                <a:lnTo>
                  <a:pt x="0" y="120268"/>
                </a:lnTo>
                <a:lnTo>
                  <a:pt x="0" y="993647"/>
                </a:lnTo>
                <a:lnTo>
                  <a:pt x="9451" y="1040461"/>
                </a:lnTo>
                <a:lnTo>
                  <a:pt x="35228" y="1078690"/>
                </a:lnTo>
                <a:lnTo>
                  <a:pt x="73460" y="1104465"/>
                </a:lnTo>
                <a:lnTo>
                  <a:pt x="120281" y="1113916"/>
                </a:lnTo>
                <a:lnTo>
                  <a:pt x="10867021" y="1113916"/>
                </a:lnTo>
                <a:lnTo>
                  <a:pt x="10913835" y="1104465"/>
                </a:lnTo>
                <a:lnTo>
                  <a:pt x="10952064" y="1078690"/>
                </a:lnTo>
                <a:lnTo>
                  <a:pt x="10977839" y="1040461"/>
                </a:lnTo>
                <a:lnTo>
                  <a:pt x="10987290" y="993647"/>
                </a:lnTo>
                <a:lnTo>
                  <a:pt x="10987290" y="120268"/>
                </a:lnTo>
                <a:lnTo>
                  <a:pt x="10977839" y="73455"/>
                </a:lnTo>
                <a:lnTo>
                  <a:pt x="10952064" y="35226"/>
                </a:lnTo>
                <a:lnTo>
                  <a:pt x="10913835" y="9451"/>
                </a:lnTo>
                <a:lnTo>
                  <a:pt x="10867021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4883" y="1884934"/>
            <a:ext cx="93579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정의: 상태(state)를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기반으로</a:t>
            </a:r>
            <a:r>
              <a:rPr sz="18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작동하는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그래프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구조</a:t>
            </a:r>
            <a:endParaRPr sz="1800">
              <a:latin typeface="맑은 고딕"/>
              <a:cs typeface="맑은 고딕"/>
            </a:endParaRPr>
          </a:p>
          <a:p>
            <a:pPr marL="172085" indent="-159385">
              <a:lnSpc>
                <a:spcPct val="100000"/>
              </a:lnSpc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목적:</a:t>
            </a:r>
            <a:r>
              <a:rPr sz="18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복잡한 작업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흐름을 상태와 전이로 모델링하여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0D0D0D"/>
                </a:solidFill>
                <a:latin typeface="맑은 고딕"/>
                <a:cs typeface="맑은 고딕"/>
              </a:rPr>
              <a:t>유연하고 제어</a:t>
            </a:r>
            <a:r>
              <a:rPr sz="1800" b="1" spc="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0D0D0D"/>
                </a:solidFill>
                <a:latin typeface="맑은 고딕"/>
                <a:cs typeface="맑은 고딕"/>
              </a:rPr>
              <a:t>가능한 시스템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을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구축</a:t>
            </a:r>
            <a:endParaRPr sz="1800">
              <a:latin typeface="맑은 고딕"/>
              <a:cs typeface="맑은 고딕"/>
            </a:endParaRPr>
          </a:p>
          <a:p>
            <a:pPr marL="172085" indent="-159385">
              <a:lnSpc>
                <a:spcPct val="100000"/>
              </a:lnSpc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특징: 각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노드(node)가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특정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상태를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나타내며,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엣지(edge)가</a:t>
            </a:r>
            <a:r>
              <a:rPr sz="1800" spc="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상태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간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전이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조건을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정의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5985" y="2992437"/>
            <a:ext cx="10996930" cy="3622675"/>
            <a:chOff x="495985" y="2992437"/>
            <a:chExt cx="10996930" cy="3622675"/>
          </a:xfrm>
        </p:grpSpPr>
        <p:sp>
          <p:nvSpPr>
            <p:cNvPr id="6" name="object 6"/>
            <p:cNvSpPr/>
            <p:nvPr/>
          </p:nvSpPr>
          <p:spPr>
            <a:xfrm>
              <a:off x="500748" y="2997200"/>
              <a:ext cx="10987405" cy="3613150"/>
            </a:xfrm>
            <a:custGeom>
              <a:avLst/>
              <a:gdLst/>
              <a:ahLst/>
              <a:cxnLst/>
              <a:rect l="l" t="t" r="r" b="b"/>
              <a:pathLst>
                <a:path w="10987405" h="3613150">
                  <a:moveTo>
                    <a:pt x="0" y="198754"/>
                  </a:moveTo>
                  <a:lnTo>
                    <a:pt x="5248" y="153195"/>
                  </a:lnTo>
                  <a:lnTo>
                    <a:pt x="20199" y="111365"/>
                  </a:lnTo>
                  <a:lnTo>
                    <a:pt x="43660" y="74461"/>
                  </a:lnTo>
                  <a:lnTo>
                    <a:pt x="74437" y="43677"/>
                  </a:lnTo>
                  <a:lnTo>
                    <a:pt x="111338" y="20208"/>
                  </a:lnTo>
                  <a:lnTo>
                    <a:pt x="153171" y="5251"/>
                  </a:lnTo>
                  <a:lnTo>
                    <a:pt x="198742" y="0"/>
                  </a:lnTo>
                  <a:lnTo>
                    <a:pt x="10788535" y="0"/>
                  </a:lnTo>
                  <a:lnTo>
                    <a:pt x="10834135" y="5251"/>
                  </a:lnTo>
                  <a:lnTo>
                    <a:pt x="10875980" y="20208"/>
                  </a:lnTo>
                  <a:lnTo>
                    <a:pt x="10912882" y="43677"/>
                  </a:lnTo>
                  <a:lnTo>
                    <a:pt x="10943653" y="74461"/>
                  </a:lnTo>
                  <a:lnTo>
                    <a:pt x="10967103" y="111365"/>
                  </a:lnTo>
                  <a:lnTo>
                    <a:pt x="10982045" y="153195"/>
                  </a:lnTo>
                  <a:lnTo>
                    <a:pt x="10987290" y="198754"/>
                  </a:lnTo>
                  <a:lnTo>
                    <a:pt x="10987290" y="3414014"/>
                  </a:lnTo>
                  <a:lnTo>
                    <a:pt x="10982045" y="3459584"/>
                  </a:lnTo>
                  <a:lnTo>
                    <a:pt x="10967103" y="3501417"/>
                  </a:lnTo>
                  <a:lnTo>
                    <a:pt x="10943653" y="3538318"/>
                  </a:lnTo>
                  <a:lnTo>
                    <a:pt x="10912882" y="3569096"/>
                  </a:lnTo>
                  <a:lnTo>
                    <a:pt x="10875980" y="3592556"/>
                  </a:lnTo>
                  <a:lnTo>
                    <a:pt x="10834135" y="3607507"/>
                  </a:lnTo>
                  <a:lnTo>
                    <a:pt x="10788535" y="3612756"/>
                  </a:lnTo>
                  <a:lnTo>
                    <a:pt x="198742" y="3612756"/>
                  </a:lnTo>
                  <a:lnTo>
                    <a:pt x="153171" y="3607507"/>
                  </a:lnTo>
                  <a:lnTo>
                    <a:pt x="111338" y="3592556"/>
                  </a:lnTo>
                  <a:lnTo>
                    <a:pt x="74437" y="3569096"/>
                  </a:lnTo>
                  <a:lnTo>
                    <a:pt x="43660" y="3538318"/>
                  </a:lnTo>
                  <a:lnTo>
                    <a:pt x="20199" y="3501417"/>
                  </a:lnTo>
                  <a:lnTo>
                    <a:pt x="5248" y="3459584"/>
                  </a:lnTo>
                  <a:lnTo>
                    <a:pt x="0" y="3414014"/>
                  </a:lnTo>
                  <a:lnTo>
                    <a:pt x="0" y="198754"/>
                  </a:lnTo>
                  <a:close/>
                </a:path>
              </a:pathLst>
            </a:custGeom>
            <a:ln w="952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22720" y="3694315"/>
              <a:ext cx="1092835" cy="911860"/>
            </a:xfrm>
            <a:custGeom>
              <a:avLst/>
              <a:gdLst/>
              <a:ahLst/>
              <a:cxnLst/>
              <a:rect l="l" t="t" r="r" b="b"/>
              <a:pathLst>
                <a:path w="1092834" h="911860">
                  <a:moveTo>
                    <a:pt x="336804" y="0"/>
                  </a:moveTo>
                  <a:lnTo>
                    <a:pt x="0" y="0"/>
                  </a:lnTo>
                  <a:lnTo>
                    <a:pt x="0" y="178295"/>
                  </a:lnTo>
                  <a:lnTo>
                    <a:pt x="336804" y="178295"/>
                  </a:lnTo>
                  <a:lnTo>
                    <a:pt x="336804" y="0"/>
                  </a:lnTo>
                  <a:close/>
                </a:path>
                <a:path w="1092834" h="911860">
                  <a:moveTo>
                    <a:pt x="1092708" y="702551"/>
                  </a:moveTo>
                  <a:lnTo>
                    <a:pt x="757428" y="702551"/>
                  </a:lnTo>
                  <a:lnTo>
                    <a:pt x="757428" y="911339"/>
                  </a:lnTo>
                  <a:lnTo>
                    <a:pt x="1092708" y="911339"/>
                  </a:lnTo>
                  <a:lnTo>
                    <a:pt x="1092708" y="702551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345551" y="659638"/>
            <a:ext cx="1169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StateGraph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75628" y="3304413"/>
            <a:ext cx="4387850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그래프의</a:t>
            </a:r>
            <a:r>
              <a:rPr sz="1200" spc="25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전체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상태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(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이것은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노드</a:t>
            </a:r>
            <a:r>
              <a:rPr sz="1200" spc="254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간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공유되는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공용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30" dirty="0">
                <a:solidFill>
                  <a:srgbClr val="008000"/>
                </a:solidFill>
                <a:latin typeface="맑은 고딕"/>
                <a:cs typeface="맑은 고딕"/>
              </a:rPr>
              <a:t>상태</a:t>
            </a:r>
            <a:r>
              <a:rPr sz="1200" spc="-30" dirty="0">
                <a:solidFill>
                  <a:srgbClr val="008000"/>
                </a:solidFill>
                <a:latin typeface="Consolas"/>
                <a:cs typeface="Consolas"/>
              </a:rPr>
              <a:t>)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2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OverallState(BaseModel):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10908" y="3668344"/>
            <a:ext cx="7829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onsolas"/>
                <a:cs typeface="Consolas"/>
              </a:rPr>
              <a:t>text:</a:t>
            </a:r>
            <a:r>
              <a:rPr sz="1200" spc="-35" dirty="0">
                <a:latin typeface="Consolas"/>
                <a:cs typeface="Consolas"/>
              </a:rPr>
              <a:t> </a:t>
            </a:r>
            <a:r>
              <a:rPr sz="1200" spc="-25" dirty="0">
                <a:latin typeface="Consolas"/>
                <a:cs typeface="Consolas"/>
              </a:rPr>
              <a:t>str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75628" y="4036314"/>
            <a:ext cx="27222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노드</a:t>
            </a:r>
            <a:r>
              <a:rPr sz="1200" spc="24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함수</a:t>
            </a:r>
            <a:endParaRPr sz="1200">
              <a:latin typeface="맑은 고딕"/>
              <a:cs typeface="맑은 고딕"/>
            </a:endParaRPr>
          </a:p>
          <a:p>
            <a:pPr marL="349250" marR="5080" indent="-337185">
              <a:lnSpc>
                <a:spcPts val="1450"/>
              </a:lnSpc>
              <a:spcBef>
                <a:spcPts val="30"/>
              </a:spcBef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def</a:t>
            </a:r>
            <a:r>
              <a:rPr sz="12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node(state:</a:t>
            </a:r>
            <a:r>
              <a:rPr sz="1200" spc="-25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OverallState):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2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{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"text"</a:t>
            </a:r>
            <a:r>
              <a:rPr sz="1200" dirty="0">
                <a:latin typeface="Consolas"/>
                <a:cs typeface="Consolas"/>
              </a:rPr>
              <a:t>:</a:t>
            </a:r>
            <a:r>
              <a:rPr sz="1200" spc="-25" dirty="0"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1200" spc="-10" dirty="0">
                <a:solidFill>
                  <a:srgbClr val="A21515"/>
                </a:solidFill>
                <a:latin typeface="맑은 고딕"/>
                <a:cs typeface="맑은 고딕"/>
              </a:rPr>
              <a:t>반갑습니다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1200" spc="-10" dirty="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41130" y="4402073"/>
            <a:ext cx="1734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상태를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변경해서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출력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75628" y="4767833"/>
            <a:ext cx="2885440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그래프</a:t>
            </a:r>
            <a:r>
              <a:rPr sz="1200" spc="24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구축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(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엣지로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연결</a:t>
            </a:r>
            <a:r>
              <a:rPr sz="1200" spc="-25" dirty="0">
                <a:solidFill>
                  <a:srgbClr val="008000"/>
                </a:solidFill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435"/>
              </a:lnSpc>
            </a:pPr>
            <a:r>
              <a:rPr sz="1200" dirty="0">
                <a:latin typeface="Consolas"/>
                <a:cs typeface="Consolas"/>
              </a:rPr>
              <a:t>builder</a:t>
            </a:r>
            <a:r>
              <a:rPr sz="1200" spc="-2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35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StateGraph(OverallState)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46089" y="5175250"/>
            <a:ext cx="2856865" cy="533400"/>
          </a:xfrm>
          <a:prstGeom prst="rect">
            <a:avLst/>
          </a:prstGeom>
          <a:ln w="38100">
            <a:solidFill>
              <a:srgbClr val="0E9E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1605">
              <a:lnSpc>
                <a:spcPts val="1215"/>
              </a:lnSpc>
            </a:pPr>
            <a:r>
              <a:rPr sz="1200" spc="-10" dirty="0">
                <a:latin typeface="Consolas"/>
                <a:cs typeface="Consolas"/>
              </a:rPr>
              <a:t>builder.add_node(node)</a:t>
            </a:r>
            <a:endParaRPr sz="1200">
              <a:latin typeface="Consolas"/>
              <a:cs typeface="Consolas"/>
            </a:endParaRPr>
          </a:p>
          <a:p>
            <a:pPr marL="141605" marR="100330">
              <a:lnSpc>
                <a:spcPct val="100000"/>
              </a:lnSpc>
            </a:pPr>
            <a:r>
              <a:rPr sz="1200" dirty="0">
                <a:latin typeface="Consolas"/>
                <a:cs typeface="Consolas"/>
              </a:rPr>
              <a:t>builder.add_edge(START,</a:t>
            </a:r>
            <a:r>
              <a:rPr sz="1200" spc="-95" dirty="0"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"node"</a:t>
            </a:r>
            <a:r>
              <a:rPr sz="1200" spc="-10" dirty="0">
                <a:latin typeface="Consolas"/>
                <a:cs typeface="Consolas"/>
              </a:rPr>
              <a:t>) </a:t>
            </a:r>
            <a:r>
              <a:rPr sz="1200" dirty="0">
                <a:latin typeface="Consolas"/>
                <a:cs typeface="Consolas"/>
              </a:rPr>
              <a:t>builder.add_edge(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"node"</a:t>
            </a:r>
            <a:r>
              <a:rPr sz="1200" dirty="0">
                <a:latin typeface="Consolas"/>
                <a:cs typeface="Consolas"/>
              </a:rPr>
              <a:t>,</a:t>
            </a:r>
            <a:r>
              <a:rPr sz="1200" spc="-105" dirty="0">
                <a:latin typeface="Consolas"/>
                <a:cs typeface="Consolas"/>
              </a:rPr>
              <a:t> </a:t>
            </a:r>
            <a:r>
              <a:rPr sz="1200" spc="-20" dirty="0">
                <a:latin typeface="Consolas"/>
                <a:cs typeface="Consolas"/>
              </a:rPr>
              <a:t>END)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52738" y="5133847"/>
            <a:ext cx="2238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첫</a:t>
            </a:r>
            <a:r>
              <a:rPr sz="1200" spc="25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번째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노드</a:t>
            </a:r>
            <a:endParaRPr sz="12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그래프는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node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로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35" dirty="0">
                <a:solidFill>
                  <a:srgbClr val="008000"/>
                </a:solidFill>
                <a:latin typeface="맑은 고딕"/>
                <a:cs typeface="맑은 고딕"/>
              </a:rPr>
              <a:t>시작</a:t>
            </a:r>
            <a:endParaRPr sz="12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node</a:t>
            </a:r>
            <a:r>
              <a:rPr sz="120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실행</a:t>
            </a:r>
            <a:r>
              <a:rPr sz="1200" spc="24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후</a:t>
            </a:r>
            <a:r>
              <a:rPr sz="1200" spc="229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그래프를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종료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75628" y="5680964"/>
            <a:ext cx="2127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onsolas"/>
                <a:cs typeface="Consolas"/>
              </a:rPr>
              <a:t>graph</a:t>
            </a:r>
            <a:r>
              <a:rPr sz="1200" spc="-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10" dirty="0">
                <a:latin typeface="Consolas"/>
                <a:cs typeface="Consolas"/>
              </a:rPr>
              <a:t> builder.compile()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75628" y="6048247"/>
            <a:ext cx="29749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유효한</a:t>
            </a:r>
            <a:r>
              <a:rPr sz="1200" spc="25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입력으로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그래프를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테스트</a:t>
            </a:r>
            <a:endParaRPr sz="12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Consolas"/>
                <a:cs typeface="Consolas"/>
              </a:rPr>
              <a:t>graph.invoke({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"text"</a:t>
            </a:r>
            <a:r>
              <a:rPr sz="1200" spc="-10" dirty="0">
                <a:latin typeface="Consolas"/>
                <a:cs typeface="Consolas"/>
              </a:rPr>
              <a:t>:</a:t>
            </a:r>
            <a:r>
              <a:rPr sz="1200" spc="25" dirty="0"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1200" spc="-10" dirty="0">
                <a:solidFill>
                  <a:srgbClr val="A21515"/>
                </a:solidFill>
                <a:latin typeface="맑은 고딕"/>
                <a:cs typeface="맑은 고딕"/>
              </a:rPr>
              <a:t>안녕하세요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1200" spc="-10" dirty="0">
                <a:latin typeface="Consolas"/>
                <a:cs typeface="Consolas"/>
              </a:rPr>
              <a:t>})</a:t>
            </a:r>
            <a:endParaRPr sz="1200">
              <a:latin typeface="Consolas"/>
              <a:cs typeface="Consola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614" y="3694048"/>
            <a:ext cx="1168450" cy="201460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46582" y="3163570"/>
            <a:ext cx="46774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맑은 고딕"/>
                <a:cs typeface="맑은 고딕"/>
              </a:rPr>
              <a:t>1.</a:t>
            </a:r>
            <a:r>
              <a:rPr sz="1200" spc="-45" dirty="0">
                <a:latin typeface="맑은 고딕"/>
                <a:cs typeface="맑은 고딕"/>
              </a:rPr>
              <a:t> </a:t>
            </a:r>
            <a:r>
              <a:rPr sz="1200" b="1" dirty="0">
                <a:latin typeface="맑은 고딕"/>
                <a:cs typeface="맑은 고딕"/>
              </a:rPr>
              <a:t>State</a:t>
            </a:r>
            <a:r>
              <a:rPr sz="1200" b="1" spc="-30" dirty="0">
                <a:latin typeface="맑은 고딕"/>
                <a:cs typeface="맑은 고딕"/>
              </a:rPr>
              <a:t> </a:t>
            </a:r>
            <a:r>
              <a:rPr sz="1200" b="1" spc="-10" dirty="0">
                <a:latin typeface="맑은 고딕"/>
                <a:cs typeface="맑은 고딕"/>
              </a:rPr>
              <a:t>(상태):</a:t>
            </a:r>
            <a:endParaRPr sz="1200">
              <a:latin typeface="맑은 고딕"/>
              <a:cs typeface="맑은 고딕"/>
            </a:endParaRPr>
          </a:p>
          <a:p>
            <a:pPr marL="173990">
              <a:lnSpc>
                <a:spcPct val="100000"/>
              </a:lnSpc>
            </a:pPr>
            <a:r>
              <a:rPr sz="1200" dirty="0">
                <a:latin typeface="맑은 고딕"/>
                <a:cs typeface="맑은 고딕"/>
              </a:rPr>
              <a:t>-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정의: 애플리케이션의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현재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스냅샷을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나타내는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공유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데이터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구조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6582" y="3529710"/>
            <a:ext cx="356806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195" indent="-116205">
              <a:lnSpc>
                <a:spcPct val="100000"/>
              </a:lnSpc>
              <a:spcBef>
                <a:spcPts val="100"/>
              </a:spcBef>
              <a:buChar char="-"/>
              <a:tabLst>
                <a:tab pos="290195" algn="l"/>
              </a:tabLst>
            </a:pPr>
            <a:r>
              <a:rPr sz="1200" spc="-25" dirty="0">
                <a:latin typeface="맑은 고딕"/>
                <a:cs typeface="맑은 고딕"/>
              </a:rPr>
              <a:t>특징:</a:t>
            </a:r>
            <a:endParaRPr sz="1200">
              <a:latin typeface="맑은 고딕"/>
              <a:cs typeface="맑은 고딕"/>
            </a:endParaRPr>
          </a:p>
          <a:p>
            <a:pPr marL="398145" lvl="1" indent="-115570">
              <a:lnSpc>
                <a:spcPct val="100000"/>
              </a:lnSpc>
              <a:buChar char="-"/>
              <a:tabLst>
                <a:tab pos="398145" algn="l"/>
              </a:tabLst>
            </a:pPr>
            <a:r>
              <a:rPr sz="1200" dirty="0">
                <a:latin typeface="맑은 고딕"/>
                <a:cs typeface="맑은 고딕"/>
              </a:rPr>
              <a:t>주로</a:t>
            </a:r>
            <a:r>
              <a:rPr sz="1200" spc="-30" dirty="0">
                <a:latin typeface="맑은 고딕"/>
                <a:cs typeface="맑은 고딕"/>
              </a:rPr>
              <a:t> </a:t>
            </a:r>
            <a:r>
              <a:rPr sz="1200" spc="-10" dirty="0">
                <a:latin typeface="맑은 고딕"/>
                <a:cs typeface="맑은 고딕"/>
              </a:rPr>
              <a:t>TypedDict나</a:t>
            </a:r>
            <a:r>
              <a:rPr sz="1200" spc="-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Pydantic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BaseModel을</a:t>
            </a:r>
            <a:r>
              <a:rPr sz="1200" spc="-25" dirty="0">
                <a:latin typeface="맑은 고딕"/>
                <a:cs typeface="맑은 고딕"/>
              </a:rPr>
              <a:t> 사용</a:t>
            </a:r>
            <a:endParaRPr sz="1200">
              <a:latin typeface="맑은 고딕"/>
              <a:cs typeface="맑은 고딕"/>
            </a:endParaRPr>
          </a:p>
          <a:p>
            <a:pPr marL="398145" lvl="1" indent="-115570">
              <a:lnSpc>
                <a:spcPct val="100000"/>
              </a:lnSpc>
              <a:buChar char="-"/>
              <a:tabLst>
                <a:tab pos="398145" algn="l"/>
              </a:tabLst>
            </a:pPr>
            <a:r>
              <a:rPr sz="1200" dirty="0">
                <a:latin typeface="맑은 고딕"/>
                <a:cs typeface="맑은 고딕"/>
              </a:rPr>
              <a:t>시스템의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전체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컨텍스트를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포함</a:t>
            </a:r>
            <a:endParaRPr sz="1200">
              <a:latin typeface="맑은 고딕"/>
              <a:cs typeface="맑은 고딕"/>
            </a:endParaRPr>
          </a:p>
          <a:p>
            <a:pPr marL="182880" indent="-170180">
              <a:lnSpc>
                <a:spcPct val="100000"/>
              </a:lnSpc>
              <a:spcBef>
                <a:spcPts val="1440"/>
              </a:spcBef>
              <a:buFont typeface=""/>
              <a:buAutoNum type="arabicPeriod" startAt="2"/>
              <a:tabLst>
                <a:tab pos="182880" algn="l"/>
              </a:tabLst>
            </a:pPr>
            <a:r>
              <a:rPr sz="1200" b="1" dirty="0">
                <a:latin typeface="맑은 고딕"/>
                <a:cs typeface="맑은 고딕"/>
              </a:rPr>
              <a:t>Node</a:t>
            </a:r>
            <a:r>
              <a:rPr sz="1200" b="1" spc="-20" dirty="0">
                <a:latin typeface="맑은 고딕"/>
                <a:cs typeface="맑은 고딕"/>
              </a:rPr>
              <a:t> </a:t>
            </a:r>
            <a:r>
              <a:rPr sz="1200" b="1" spc="-10" dirty="0">
                <a:latin typeface="맑은 고딕"/>
                <a:cs typeface="맑은 고딕"/>
              </a:rPr>
              <a:t>(노드):</a:t>
            </a:r>
            <a:endParaRPr sz="1200">
              <a:latin typeface="맑은 고딕"/>
              <a:cs typeface="맑은 고딕"/>
            </a:endParaRPr>
          </a:p>
          <a:p>
            <a:pPr marL="290195" lvl="1" indent="-116205">
              <a:lnSpc>
                <a:spcPct val="100000"/>
              </a:lnSpc>
              <a:buChar char="-"/>
              <a:tabLst>
                <a:tab pos="290195" algn="l"/>
              </a:tabLst>
            </a:pPr>
            <a:r>
              <a:rPr sz="1200" dirty="0">
                <a:latin typeface="맑은 고딕"/>
                <a:cs typeface="맑은 고딕"/>
              </a:rPr>
              <a:t>정의: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Agent의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로직을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인코딩하는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Python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함수</a:t>
            </a:r>
            <a:endParaRPr sz="1200">
              <a:latin typeface="맑은 고딕"/>
              <a:cs typeface="맑은 고딕"/>
            </a:endParaRPr>
          </a:p>
          <a:p>
            <a:pPr marL="289560" lvl="1" indent="-115570">
              <a:lnSpc>
                <a:spcPct val="100000"/>
              </a:lnSpc>
              <a:buChar char="-"/>
              <a:tabLst>
                <a:tab pos="289560" algn="l"/>
              </a:tabLst>
            </a:pPr>
            <a:r>
              <a:rPr sz="1200" spc="-25" dirty="0">
                <a:latin typeface="맑은 고딕"/>
                <a:cs typeface="맑은 고딕"/>
              </a:rPr>
              <a:t>특징:</a:t>
            </a:r>
            <a:endParaRPr sz="1200">
              <a:latin typeface="맑은 고딕"/>
              <a:cs typeface="맑은 고딕"/>
            </a:endParaRPr>
          </a:p>
          <a:p>
            <a:pPr marL="398145" lvl="2" indent="-115570">
              <a:lnSpc>
                <a:spcPct val="100000"/>
              </a:lnSpc>
              <a:buChar char="-"/>
              <a:tabLst>
                <a:tab pos="398145" algn="l"/>
              </a:tabLst>
            </a:pPr>
            <a:r>
              <a:rPr sz="1200" dirty="0">
                <a:latin typeface="맑은 고딕"/>
                <a:cs typeface="맑은 고딕"/>
              </a:rPr>
              <a:t>현재</a:t>
            </a:r>
            <a:r>
              <a:rPr sz="1200" spc="-2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State를</a:t>
            </a:r>
            <a:r>
              <a:rPr sz="1200" spc="-2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입력으로</a:t>
            </a:r>
            <a:r>
              <a:rPr sz="1200" spc="-25" dirty="0">
                <a:latin typeface="맑은 고딕"/>
                <a:cs typeface="맑은 고딕"/>
              </a:rPr>
              <a:t> 받고,</a:t>
            </a:r>
            <a:endParaRPr sz="1200">
              <a:latin typeface="맑은 고딕"/>
              <a:cs typeface="맑은 고딕"/>
            </a:endParaRPr>
          </a:p>
          <a:p>
            <a:pPr marL="398145" lvl="2" indent="-115570">
              <a:lnSpc>
                <a:spcPct val="100000"/>
              </a:lnSpc>
              <a:buChar char="-"/>
              <a:tabLst>
                <a:tab pos="398145" algn="l"/>
              </a:tabLst>
            </a:pPr>
            <a:r>
              <a:rPr sz="1200" dirty="0">
                <a:latin typeface="맑은 고딕"/>
                <a:cs typeface="맑은 고딕"/>
              </a:rPr>
              <a:t>계산이나</a:t>
            </a:r>
            <a:r>
              <a:rPr sz="1200" spc="15" dirty="0">
                <a:latin typeface="맑은 고딕"/>
                <a:cs typeface="맑은 고딕"/>
              </a:rPr>
              <a:t> </a:t>
            </a:r>
            <a:r>
              <a:rPr sz="1200" spc="-10" dirty="0">
                <a:latin typeface="맑은 고딕"/>
                <a:cs typeface="맑은 고딕"/>
              </a:rPr>
              <a:t>부작용(side-</a:t>
            </a:r>
            <a:r>
              <a:rPr sz="1200" dirty="0">
                <a:latin typeface="맑은 고딕"/>
                <a:cs typeface="맑은 고딕"/>
              </a:rPr>
              <a:t>effect)을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수행한</a:t>
            </a:r>
            <a:r>
              <a:rPr sz="1200" spc="2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다음,</a:t>
            </a:r>
            <a:endParaRPr sz="1200">
              <a:latin typeface="맑은 고딕"/>
              <a:cs typeface="맑은 고딕"/>
            </a:endParaRPr>
          </a:p>
          <a:p>
            <a:pPr marL="398145" lvl="2" indent="-115570">
              <a:lnSpc>
                <a:spcPct val="100000"/>
              </a:lnSpc>
              <a:buChar char="-"/>
              <a:tabLst>
                <a:tab pos="398145" algn="l"/>
              </a:tabLst>
            </a:pPr>
            <a:r>
              <a:rPr sz="1200" dirty="0">
                <a:latin typeface="맑은 고딕"/>
                <a:cs typeface="맑은 고딕"/>
              </a:rPr>
              <a:t>업데이트된</a:t>
            </a:r>
            <a:r>
              <a:rPr sz="1200" spc="-3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State를</a:t>
            </a:r>
            <a:r>
              <a:rPr sz="1200" spc="-3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반환.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6582" y="5541670"/>
            <a:ext cx="1062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맑은 고딕"/>
                <a:cs typeface="맑은 고딕"/>
              </a:rPr>
              <a:t>3.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b="1" dirty="0">
                <a:latin typeface="맑은 고딕"/>
                <a:cs typeface="맑은 고딕"/>
              </a:rPr>
              <a:t>Edge</a:t>
            </a:r>
            <a:r>
              <a:rPr sz="1200" b="1" spc="-10" dirty="0">
                <a:latin typeface="맑은 고딕"/>
                <a:cs typeface="맑은 고딕"/>
              </a:rPr>
              <a:t> (엣지):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8126" y="5724550"/>
            <a:ext cx="46818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 indent="-116205">
              <a:lnSpc>
                <a:spcPct val="100000"/>
              </a:lnSpc>
              <a:spcBef>
                <a:spcPts val="100"/>
              </a:spcBef>
              <a:buChar char="-"/>
              <a:tabLst>
                <a:tab pos="128905" algn="l"/>
              </a:tabLst>
            </a:pPr>
            <a:r>
              <a:rPr sz="1200" dirty="0">
                <a:latin typeface="맑은 고딕"/>
                <a:cs typeface="맑은 고딕"/>
              </a:rPr>
              <a:t>정의: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현재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State를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기반으로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다음에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실행할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Node를</a:t>
            </a:r>
            <a:r>
              <a:rPr sz="1200" spc="-2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결정하는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함수</a:t>
            </a:r>
            <a:endParaRPr sz="1200">
              <a:latin typeface="맑은 고딕"/>
              <a:cs typeface="맑은 고딕"/>
            </a:endParaRPr>
          </a:p>
          <a:p>
            <a:pPr marL="128270" indent="-115570">
              <a:lnSpc>
                <a:spcPct val="100000"/>
              </a:lnSpc>
              <a:buChar char="-"/>
              <a:tabLst>
                <a:tab pos="128270" algn="l"/>
              </a:tabLst>
            </a:pPr>
            <a:r>
              <a:rPr sz="1200" spc="-25" dirty="0">
                <a:latin typeface="맑은 고딕"/>
                <a:cs typeface="맑은 고딕"/>
              </a:rPr>
              <a:t>특징:</a:t>
            </a:r>
            <a:endParaRPr sz="1200">
              <a:latin typeface="맑은 고딕"/>
              <a:cs typeface="맑은 고딕"/>
            </a:endParaRPr>
          </a:p>
          <a:p>
            <a:pPr marL="236220" lvl="1" indent="-115570">
              <a:lnSpc>
                <a:spcPct val="100000"/>
              </a:lnSpc>
              <a:buChar char="-"/>
              <a:tabLst>
                <a:tab pos="236220" algn="l"/>
              </a:tabLst>
            </a:pPr>
            <a:r>
              <a:rPr sz="1200" dirty="0">
                <a:latin typeface="맑은 고딕"/>
                <a:cs typeface="맑은 고딕"/>
              </a:rPr>
              <a:t>조건부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분기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or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고정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spc="-35" dirty="0">
                <a:latin typeface="맑은 고딕"/>
                <a:cs typeface="맑은 고딕"/>
              </a:rPr>
              <a:t>전이</a:t>
            </a:r>
            <a:endParaRPr sz="1200">
              <a:latin typeface="맑은 고딕"/>
              <a:cs typeface="맑은 고딕"/>
            </a:endParaRPr>
          </a:p>
          <a:p>
            <a:pPr marL="236220" lvl="1" indent="-115570">
              <a:lnSpc>
                <a:spcPct val="100000"/>
              </a:lnSpc>
              <a:buChar char="-"/>
              <a:tabLst>
                <a:tab pos="236220" algn="l"/>
              </a:tabLst>
            </a:pPr>
            <a:r>
              <a:rPr sz="1200" dirty="0">
                <a:latin typeface="맑은 고딕"/>
                <a:cs typeface="맑은 고딕"/>
              </a:rPr>
              <a:t>시스템의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흐름을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제어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313936" y="3694048"/>
            <a:ext cx="757555" cy="1885314"/>
          </a:xfrm>
          <a:custGeom>
            <a:avLst/>
            <a:gdLst/>
            <a:ahLst/>
            <a:cxnLst/>
            <a:rect l="l" t="t" r="r" b="b"/>
            <a:pathLst>
              <a:path w="757554" h="1885314">
                <a:moveTo>
                  <a:pt x="757428" y="1679067"/>
                </a:moveTo>
                <a:lnTo>
                  <a:pt x="748207" y="1662049"/>
                </a:lnTo>
                <a:lnTo>
                  <a:pt x="696468" y="1566418"/>
                </a:lnTo>
                <a:lnTo>
                  <a:pt x="691451" y="1541627"/>
                </a:lnTo>
                <a:lnTo>
                  <a:pt x="677773" y="1521358"/>
                </a:lnTo>
                <a:lnTo>
                  <a:pt x="657504" y="1507680"/>
                </a:lnTo>
                <a:lnTo>
                  <a:pt x="632714" y="1502664"/>
                </a:lnTo>
                <a:lnTo>
                  <a:pt x="63754" y="1502664"/>
                </a:lnTo>
                <a:lnTo>
                  <a:pt x="38950" y="1507680"/>
                </a:lnTo>
                <a:lnTo>
                  <a:pt x="18681" y="1521358"/>
                </a:lnTo>
                <a:lnTo>
                  <a:pt x="5003" y="1541627"/>
                </a:lnTo>
                <a:lnTo>
                  <a:pt x="0" y="1566418"/>
                </a:lnTo>
                <a:lnTo>
                  <a:pt x="0" y="1821561"/>
                </a:lnTo>
                <a:lnTo>
                  <a:pt x="5003" y="1846364"/>
                </a:lnTo>
                <a:lnTo>
                  <a:pt x="18681" y="1866633"/>
                </a:lnTo>
                <a:lnTo>
                  <a:pt x="38950" y="1880311"/>
                </a:lnTo>
                <a:lnTo>
                  <a:pt x="63754" y="1885315"/>
                </a:lnTo>
                <a:lnTo>
                  <a:pt x="632714" y="1885315"/>
                </a:lnTo>
                <a:lnTo>
                  <a:pt x="657504" y="1880311"/>
                </a:lnTo>
                <a:lnTo>
                  <a:pt x="677773" y="1866633"/>
                </a:lnTo>
                <a:lnTo>
                  <a:pt x="691451" y="1846364"/>
                </a:lnTo>
                <a:lnTo>
                  <a:pt x="696468" y="1821561"/>
                </a:lnTo>
                <a:lnTo>
                  <a:pt x="696468" y="1662049"/>
                </a:lnTo>
                <a:lnTo>
                  <a:pt x="757428" y="1679067"/>
                </a:lnTo>
                <a:close/>
              </a:path>
              <a:path w="757554" h="1885314">
                <a:moveTo>
                  <a:pt x="757428" y="176403"/>
                </a:moveTo>
                <a:lnTo>
                  <a:pt x="748284" y="159512"/>
                </a:lnTo>
                <a:lnTo>
                  <a:pt x="696468" y="63754"/>
                </a:lnTo>
                <a:lnTo>
                  <a:pt x="691451" y="38963"/>
                </a:lnTo>
                <a:lnTo>
                  <a:pt x="677773" y="18694"/>
                </a:lnTo>
                <a:lnTo>
                  <a:pt x="657504" y="5016"/>
                </a:lnTo>
                <a:lnTo>
                  <a:pt x="632714" y="0"/>
                </a:lnTo>
                <a:lnTo>
                  <a:pt x="63754" y="0"/>
                </a:lnTo>
                <a:lnTo>
                  <a:pt x="38950" y="5016"/>
                </a:lnTo>
                <a:lnTo>
                  <a:pt x="18681" y="18694"/>
                </a:lnTo>
                <a:lnTo>
                  <a:pt x="5003" y="38963"/>
                </a:lnTo>
                <a:lnTo>
                  <a:pt x="0" y="63754"/>
                </a:lnTo>
                <a:lnTo>
                  <a:pt x="0" y="318897"/>
                </a:lnTo>
                <a:lnTo>
                  <a:pt x="5003" y="343700"/>
                </a:lnTo>
                <a:lnTo>
                  <a:pt x="18681" y="363969"/>
                </a:lnTo>
                <a:lnTo>
                  <a:pt x="38950" y="377647"/>
                </a:lnTo>
                <a:lnTo>
                  <a:pt x="63754" y="382651"/>
                </a:lnTo>
                <a:lnTo>
                  <a:pt x="632714" y="382651"/>
                </a:lnTo>
                <a:lnTo>
                  <a:pt x="657504" y="377647"/>
                </a:lnTo>
                <a:lnTo>
                  <a:pt x="677773" y="363969"/>
                </a:lnTo>
                <a:lnTo>
                  <a:pt x="691451" y="343700"/>
                </a:lnTo>
                <a:lnTo>
                  <a:pt x="696468" y="318897"/>
                </a:lnTo>
                <a:lnTo>
                  <a:pt x="696468" y="159512"/>
                </a:lnTo>
                <a:lnTo>
                  <a:pt x="757428" y="176403"/>
                </a:lnTo>
                <a:close/>
              </a:path>
            </a:pathLst>
          </a:custGeom>
          <a:solidFill>
            <a:srgbClr val="F6C5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231513" y="3594100"/>
            <a:ext cx="1656080" cy="2114550"/>
          </a:xfrm>
          <a:prstGeom prst="rect">
            <a:avLst/>
          </a:prstGeom>
          <a:ln w="9525">
            <a:solidFill>
              <a:srgbClr val="E97031"/>
            </a:solidFill>
          </a:ln>
        </p:spPr>
        <p:txBody>
          <a:bodyPr vert="horz" wrap="square" lIns="0" tIns="137160" rIns="0" bIns="0" rtlCol="0">
            <a:spAutoFit/>
          </a:bodyPr>
          <a:lstStyle/>
          <a:p>
            <a:pPr marL="303530" marR="1027430" indent="-62865">
              <a:lnSpc>
                <a:spcPct val="100000"/>
              </a:lnSpc>
              <a:spcBef>
                <a:spcPts val="1080"/>
              </a:spcBef>
            </a:pPr>
            <a:r>
              <a:rPr sz="1000" b="1" spc="-25" dirty="0">
                <a:solidFill>
                  <a:srgbClr val="80350D"/>
                </a:solidFill>
                <a:latin typeface="맑은 고딕"/>
                <a:cs typeface="맑은 고딕"/>
              </a:rPr>
              <a:t>안녕하 세요</a:t>
            </a:r>
            <a:endParaRPr sz="10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</a:pPr>
            <a:endParaRPr sz="10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</a:pPr>
            <a:endParaRPr sz="10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</a:pPr>
            <a:endParaRPr sz="10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</a:pPr>
            <a:endParaRPr sz="10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000">
              <a:latin typeface="맑은 고딕"/>
              <a:cs typeface="맑은 고딕"/>
            </a:endParaRPr>
          </a:p>
          <a:p>
            <a:pPr marL="240665">
              <a:lnSpc>
                <a:spcPct val="100000"/>
              </a:lnSpc>
            </a:pPr>
            <a:r>
              <a:rPr sz="1000" b="1" spc="-25" dirty="0">
                <a:solidFill>
                  <a:srgbClr val="80350D"/>
                </a:solidFill>
                <a:latin typeface="맑은 고딕"/>
                <a:cs typeface="맑은 고딕"/>
              </a:rPr>
              <a:t>반갑습</a:t>
            </a:r>
            <a:endParaRPr sz="1000">
              <a:latin typeface="맑은 고딕"/>
              <a:cs typeface="맑은 고딕"/>
            </a:endParaRPr>
          </a:p>
          <a:p>
            <a:pPr marL="303530">
              <a:lnSpc>
                <a:spcPct val="100000"/>
              </a:lnSpc>
            </a:pPr>
            <a:r>
              <a:rPr sz="1000" b="1" spc="-25" dirty="0">
                <a:solidFill>
                  <a:srgbClr val="80350D"/>
                </a:solidFill>
                <a:latin typeface="맑은 고딕"/>
                <a:cs typeface="맑은 고딕"/>
              </a:rPr>
              <a:t>니다</a:t>
            </a:r>
            <a:endParaRPr sz="1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dirty="0"/>
              <a:t>조건부</a:t>
            </a:r>
            <a:r>
              <a:rPr spc="-20" dirty="0"/>
              <a:t> </a:t>
            </a:r>
            <a:r>
              <a:rPr dirty="0"/>
              <a:t>엣지(Edge)를</a:t>
            </a:r>
            <a:r>
              <a:rPr spc="-35" dirty="0"/>
              <a:t> </a:t>
            </a:r>
            <a:r>
              <a:rPr spc="-25" dirty="0"/>
              <a:t>활용 </a:t>
            </a:r>
            <a:r>
              <a:rPr spc="-10" dirty="0"/>
              <a:t>분기(Branching)</a:t>
            </a:r>
          </a:p>
        </p:txBody>
      </p:sp>
      <p:sp>
        <p:nvSpPr>
          <p:cNvPr id="3" name="object 3"/>
          <p:cNvSpPr/>
          <p:nvPr/>
        </p:nvSpPr>
        <p:spPr>
          <a:xfrm>
            <a:off x="500748" y="1756282"/>
            <a:ext cx="10987405" cy="1114425"/>
          </a:xfrm>
          <a:custGeom>
            <a:avLst/>
            <a:gdLst/>
            <a:ahLst/>
            <a:cxnLst/>
            <a:rect l="l" t="t" r="r" b="b"/>
            <a:pathLst>
              <a:path w="10987405" h="1114425">
                <a:moveTo>
                  <a:pt x="10867021" y="0"/>
                </a:moveTo>
                <a:lnTo>
                  <a:pt x="120281" y="0"/>
                </a:lnTo>
                <a:lnTo>
                  <a:pt x="73460" y="9451"/>
                </a:lnTo>
                <a:lnTo>
                  <a:pt x="35228" y="35226"/>
                </a:lnTo>
                <a:lnTo>
                  <a:pt x="9451" y="73455"/>
                </a:lnTo>
                <a:lnTo>
                  <a:pt x="0" y="120268"/>
                </a:lnTo>
                <a:lnTo>
                  <a:pt x="0" y="993647"/>
                </a:lnTo>
                <a:lnTo>
                  <a:pt x="9451" y="1040461"/>
                </a:lnTo>
                <a:lnTo>
                  <a:pt x="35228" y="1078690"/>
                </a:lnTo>
                <a:lnTo>
                  <a:pt x="73460" y="1104465"/>
                </a:lnTo>
                <a:lnTo>
                  <a:pt x="120281" y="1113916"/>
                </a:lnTo>
                <a:lnTo>
                  <a:pt x="10867021" y="1113916"/>
                </a:lnTo>
                <a:lnTo>
                  <a:pt x="10913835" y="1104465"/>
                </a:lnTo>
                <a:lnTo>
                  <a:pt x="10952064" y="1078690"/>
                </a:lnTo>
                <a:lnTo>
                  <a:pt x="10977839" y="1040461"/>
                </a:lnTo>
                <a:lnTo>
                  <a:pt x="10987290" y="993647"/>
                </a:lnTo>
                <a:lnTo>
                  <a:pt x="10987290" y="120268"/>
                </a:lnTo>
                <a:lnTo>
                  <a:pt x="10977839" y="73455"/>
                </a:lnTo>
                <a:lnTo>
                  <a:pt x="10952064" y="35226"/>
                </a:lnTo>
                <a:lnTo>
                  <a:pt x="10913835" y="9451"/>
                </a:lnTo>
                <a:lnTo>
                  <a:pt x="10867021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4883" y="1884934"/>
            <a:ext cx="71386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정의:</a:t>
            </a:r>
            <a:r>
              <a:rPr sz="18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현재 상태나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입력에 따라 다음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노드를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동적으로 결정하는</a:t>
            </a:r>
            <a:r>
              <a:rPr sz="1800" spc="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35" dirty="0">
                <a:solidFill>
                  <a:srgbClr val="0D0D0D"/>
                </a:solidFill>
                <a:latin typeface="맑은 고딕"/>
                <a:cs typeface="맑은 고딕"/>
              </a:rPr>
              <a:t>연결</a:t>
            </a:r>
            <a:endParaRPr sz="1800">
              <a:latin typeface="맑은 고딕"/>
              <a:cs typeface="맑은 고딕"/>
            </a:endParaRPr>
          </a:p>
          <a:p>
            <a:pPr marL="172085" indent="-159385">
              <a:lnSpc>
                <a:spcPct val="100000"/>
              </a:lnSpc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목적:</a:t>
            </a:r>
            <a:r>
              <a:rPr sz="18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시스템의 흐름을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더 유연하고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상황에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맞게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제어</a:t>
            </a:r>
            <a:endParaRPr sz="1800">
              <a:latin typeface="맑은 고딕"/>
              <a:cs typeface="맑은 고딕"/>
            </a:endParaRPr>
          </a:p>
          <a:p>
            <a:pPr marL="172085" indent="-159385">
              <a:lnSpc>
                <a:spcPct val="100000"/>
              </a:lnSpc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특징:</a:t>
            </a:r>
            <a:r>
              <a:rPr sz="18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조건문을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사용하여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다음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실행할 노드를 선택 (분기,</a:t>
            </a:r>
            <a:r>
              <a:rPr sz="18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Branching)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5985" y="2992437"/>
            <a:ext cx="10996930" cy="3622675"/>
            <a:chOff x="495985" y="2992437"/>
            <a:chExt cx="10996930" cy="3622675"/>
          </a:xfrm>
        </p:grpSpPr>
        <p:sp>
          <p:nvSpPr>
            <p:cNvPr id="6" name="object 6"/>
            <p:cNvSpPr/>
            <p:nvPr/>
          </p:nvSpPr>
          <p:spPr>
            <a:xfrm>
              <a:off x="500748" y="2997200"/>
              <a:ext cx="10987405" cy="3613150"/>
            </a:xfrm>
            <a:custGeom>
              <a:avLst/>
              <a:gdLst/>
              <a:ahLst/>
              <a:cxnLst/>
              <a:rect l="l" t="t" r="r" b="b"/>
              <a:pathLst>
                <a:path w="10987405" h="3613150">
                  <a:moveTo>
                    <a:pt x="0" y="198754"/>
                  </a:moveTo>
                  <a:lnTo>
                    <a:pt x="5248" y="153195"/>
                  </a:lnTo>
                  <a:lnTo>
                    <a:pt x="20199" y="111365"/>
                  </a:lnTo>
                  <a:lnTo>
                    <a:pt x="43660" y="74461"/>
                  </a:lnTo>
                  <a:lnTo>
                    <a:pt x="74437" y="43677"/>
                  </a:lnTo>
                  <a:lnTo>
                    <a:pt x="111338" y="20208"/>
                  </a:lnTo>
                  <a:lnTo>
                    <a:pt x="153171" y="5251"/>
                  </a:lnTo>
                  <a:lnTo>
                    <a:pt x="198742" y="0"/>
                  </a:lnTo>
                  <a:lnTo>
                    <a:pt x="10788535" y="0"/>
                  </a:lnTo>
                  <a:lnTo>
                    <a:pt x="10834135" y="5251"/>
                  </a:lnTo>
                  <a:lnTo>
                    <a:pt x="10875980" y="20208"/>
                  </a:lnTo>
                  <a:lnTo>
                    <a:pt x="10912882" y="43677"/>
                  </a:lnTo>
                  <a:lnTo>
                    <a:pt x="10943653" y="74461"/>
                  </a:lnTo>
                  <a:lnTo>
                    <a:pt x="10967103" y="111365"/>
                  </a:lnTo>
                  <a:lnTo>
                    <a:pt x="10982045" y="153195"/>
                  </a:lnTo>
                  <a:lnTo>
                    <a:pt x="10987290" y="198754"/>
                  </a:lnTo>
                  <a:lnTo>
                    <a:pt x="10987290" y="3414014"/>
                  </a:lnTo>
                  <a:lnTo>
                    <a:pt x="10982045" y="3459584"/>
                  </a:lnTo>
                  <a:lnTo>
                    <a:pt x="10967103" y="3501417"/>
                  </a:lnTo>
                  <a:lnTo>
                    <a:pt x="10943653" y="3538318"/>
                  </a:lnTo>
                  <a:lnTo>
                    <a:pt x="10912882" y="3569096"/>
                  </a:lnTo>
                  <a:lnTo>
                    <a:pt x="10875980" y="3592556"/>
                  </a:lnTo>
                  <a:lnTo>
                    <a:pt x="10834135" y="3607507"/>
                  </a:lnTo>
                  <a:lnTo>
                    <a:pt x="10788535" y="3612756"/>
                  </a:lnTo>
                  <a:lnTo>
                    <a:pt x="198742" y="3612756"/>
                  </a:lnTo>
                  <a:lnTo>
                    <a:pt x="153171" y="3607507"/>
                  </a:lnTo>
                  <a:lnTo>
                    <a:pt x="111338" y="3592556"/>
                  </a:lnTo>
                  <a:lnTo>
                    <a:pt x="74437" y="3569096"/>
                  </a:lnTo>
                  <a:lnTo>
                    <a:pt x="43660" y="3538318"/>
                  </a:lnTo>
                  <a:lnTo>
                    <a:pt x="20199" y="3501417"/>
                  </a:lnTo>
                  <a:lnTo>
                    <a:pt x="5248" y="3459584"/>
                  </a:lnTo>
                  <a:lnTo>
                    <a:pt x="0" y="3414014"/>
                  </a:lnTo>
                  <a:lnTo>
                    <a:pt x="0" y="198754"/>
                  </a:lnTo>
                  <a:close/>
                </a:path>
              </a:pathLst>
            </a:custGeom>
            <a:ln w="952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5050" y="3121190"/>
              <a:ext cx="5787009" cy="336473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07711" y="3318090"/>
              <a:ext cx="5787390" cy="1016000"/>
            </a:xfrm>
            <a:custGeom>
              <a:avLst/>
              <a:gdLst/>
              <a:ahLst/>
              <a:cxnLst/>
              <a:rect l="l" t="t" r="r" b="b"/>
              <a:pathLst>
                <a:path w="5787390" h="1016000">
                  <a:moveTo>
                    <a:pt x="5787009" y="0"/>
                  </a:moveTo>
                  <a:lnTo>
                    <a:pt x="0" y="0"/>
                  </a:lnTo>
                  <a:lnTo>
                    <a:pt x="0" y="1015657"/>
                  </a:lnTo>
                  <a:lnTo>
                    <a:pt x="5787009" y="1015657"/>
                  </a:lnTo>
                  <a:lnTo>
                    <a:pt x="5787009" y="0"/>
                  </a:lnTo>
                  <a:close/>
                </a:path>
              </a:pathLst>
            </a:custGeom>
            <a:solidFill>
              <a:srgbClr val="F6C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345551" y="659638"/>
            <a:ext cx="1169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StateGraph</a:t>
            </a:r>
            <a:endParaRPr sz="1800">
              <a:latin typeface="맑은 고딕"/>
              <a:cs typeface="맑은 고딕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51464" y="204203"/>
            <a:ext cx="1184909" cy="118492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387085" y="3342894"/>
            <a:ext cx="35591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345" marR="256540" indent="-3352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def</a:t>
            </a:r>
            <a:r>
              <a:rPr sz="12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decide_next_step(state:</a:t>
            </a:r>
            <a:r>
              <a:rPr sz="1200" spc="-6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MenuState):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1200" spc="-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state[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'is_menu_related'</a:t>
            </a:r>
            <a:r>
              <a:rPr sz="1200" spc="-10" dirty="0">
                <a:latin typeface="Consolas"/>
                <a:cs typeface="Consolas"/>
              </a:rPr>
              <a:t>]:</a:t>
            </a:r>
            <a:endParaRPr sz="1200">
              <a:latin typeface="Consolas"/>
              <a:cs typeface="Consolas"/>
            </a:endParaRPr>
          </a:p>
          <a:p>
            <a:pPr marL="347345" marR="762635" indent="336550">
              <a:lnSpc>
                <a:spcPct val="100000"/>
              </a:lnSpc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2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"search_menu_info" </a:t>
            </a:r>
            <a:r>
              <a:rPr sz="1200" spc="-1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sz="1200" spc="-10" dirty="0">
                <a:latin typeface="Consolas"/>
                <a:cs typeface="Consolas"/>
              </a:rPr>
              <a:t>:</a:t>
            </a:r>
            <a:endParaRPr sz="1200">
              <a:latin typeface="Consolas"/>
              <a:cs typeface="Consolas"/>
            </a:endParaRPr>
          </a:p>
          <a:p>
            <a:pPr marL="684530">
              <a:lnSpc>
                <a:spcPct val="100000"/>
              </a:lnSpc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2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"generate_general_response"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07710" y="4540694"/>
            <a:ext cx="5787390" cy="1754505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2075">
              <a:lnSpc>
                <a:spcPts val="1435"/>
              </a:lnSpc>
              <a:spcBef>
                <a:spcPts val="305"/>
              </a:spcBef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조건부</a:t>
            </a:r>
            <a:r>
              <a:rPr sz="1200" spc="25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엣지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추가</a:t>
            </a:r>
            <a:endParaRPr sz="1200">
              <a:latin typeface="맑은 고딕"/>
              <a:cs typeface="맑은 고딕"/>
            </a:endParaRPr>
          </a:p>
          <a:p>
            <a:pPr marL="426720" marR="3164205" indent="-335280">
              <a:lnSpc>
                <a:spcPts val="1440"/>
              </a:lnSpc>
              <a:spcBef>
                <a:spcPts val="45"/>
              </a:spcBef>
            </a:pPr>
            <a:r>
              <a:rPr sz="1200" spc="-10" dirty="0">
                <a:latin typeface="Consolas"/>
                <a:cs typeface="Consolas"/>
              </a:rPr>
              <a:t>builder.add_conditional_edges(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"analyze_input"</a:t>
            </a:r>
            <a:r>
              <a:rPr sz="1200" spc="-10" dirty="0">
                <a:latin typeface="Consolas"/>
                <a:cs typeface="Consolas"/>
              </a:rPr>
              <a:t>, decide_next_step,</a:t>
            </a:r>
            <a:endParaRPr sz="1200">
              <a:latin typeface="Consolas"/>
              <a:cs typeface="Consolas"/>
            </a:endParaRPr>
          </a:p>
          <a:p>
            <a:pPr marL="426720">
              <a:lnSpc>
                <a:spcPts val="1395"/>
              </a:lnSpc>
            </a:pPr>
            <a:r>
              <a:rPr sz="1200" spc="-50" dirty="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763905" marR="302260">
              <a:lnSpc>
                <a:spcPct val="100000"/>
              </a:lnSpc>
            </a:pP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"search_menu_info"</a:t>
            </a:r>
            <a:r>
              <a:rPr sz="1200" dirty="0">
                <a:latin typeface="Consolas"/>
                <a:cs typeface="Consolas"/>
              </a:rPr>
              <a:t>:</a:t>
            </a:r>
            <a:r>
              <a:rPr sz="1200" spc="-105" dirty="0"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"search_menu_info"</a:t>
            </a:r>
            <a:r>
              <a:rPr sz="1200" spc="-10" dirty="0">
                <a:latin typeface="Consolas"/>
                <a:cs typeface="Consolas"/>
              </a:rPr>
              <a:t>, 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"generate_general_response"</a:t>
            </a:r>
            <a:r>
              <a:rPr sz="1200" dirty="0">
                <a:latin typeface="Consolas"/>
                <a:cs typeface="Consolas"/>
              </a:rPr>
              <a:t>:</a:t>
            </a:r>
            <a:r>
              <a:rPr sz="1200" spc="-145" dirty="0"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"generate_general_response"</a:t>
            </a:r>
            <a:endParaRPr sz="1200">
              <a:latin typeface="Consolas"/>
              <a:cs typeface="Consolas"/>
            </a:endParaRPr>
          </a:p>
          <a:p>
            <a:pPr marL="426720">
              <a:lnSpc>
                <a:spcPct val="100000"/>
              </a:lnSpc>
            </a:pPr>
            <a:r>
              <a:rPr sz="1200" spc="-50" dirty="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200" spc="-50" dirty="0"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State</a:t>
            </a:r>
            <a:r>
              <a:rPr spc="-160" dirty="0"/>
              <a:t> </a:t>
            </a:r>
            <a:r>
              <a:rPr spc="-10" dirty="0"/>
              <a:t>Reducer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5551" y="659638"/>
            <a:ext cx="859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Reducer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0748" y="1756282"/>
            <a:ext cx="5716270" cy="4789805"/>
          </a:xfrm>
          <a:custGeom>
            <a:avLst/>
            <a:gdLst/>
            <a:ahLst/>
            <a:cxnLst/>
            <a:rect l="l" t="t" r="r" b="b"/>
            <a:pathLst>
              <a:path w="5716270" h="4789805">
                <a:moveTo>
                  <a:pt x="5483491" y="0"/>
                </a:moveTo>
                <a:lnTo>
                  <a:pt x="232244" y="0"/>
                </a:lnTo>
                <a:lnTo>
                  <a:pt x="185438" y="4714"/>
                </a:lnTo>
                <a:lnTo>
                  <a:pt x="141842" y="18236"/>
                </a:lnTo>
                <a:lnTo>
                  <a:pt x="102392" y="39634"/>
                </a:lnTo>
                <a:lnTo>
                  <a:pt x="68021" y="67976"/>
                </a:lnTo>
                <a:lnTo>
                  <a:pt x="39662" y="102331"/>
                </a:lnTo>
                <a:lnTo>
                  <a:pt x="18250" y="141767"/>
                </a:lnTo>
                <a:lnTo>
                  <a:pt x="4718" y="185353"/>
                </a:lnTo>
                <a:lnTo>
                  <a:pt x="0" y="232155"/>
                </a:lnTo>
                <a:lnTo>
                  <a:pt x="0" y="4557407"/>
                </a:lnTo>
                <a:lnTo>
                  <a:pt x="4718" y="4604214"/>
                </a:lnTo>
                <a:lnTo>
                  <a:pt x="18250" y="4647809"/>
                </a:lnTo>
                <a:lnTo>
                  <a:pt x="39662" y="4687260"/>
                </a:lnTo>
                <a:lnTo>
                  <a:pt x="68021" y="4721631"/>
                </a:lnTo>
                <a:lnTo>
                  <a:pt x="102392" y="4749990"/>
                </a:lnTo>
                <a:lnTo>
                  <a:pt x="141842" y="4771402"/>
                </a:lnTo>
                <a:lnTo>
                  <a:pt x="185438" y="4784934"/>
                </a:lnTo>
                <a:lnTo>
                  <a:pt x="232244" y="4789652"/>
                </a:lnTo>
                <a:lnTo>
                  <a:pt x="5483491" y="4789652"/>
                </a:lnTo>
                <a:lnTo>
                  <a:pt x="5530300" y="4784934"/>
                </a:lnTo>
                <a:lnTo>
                  <a:pt x="5573899" y="4771402"/>
                </a:lnTo>
                <a:lnTo>
                  <a:pt x="5613356" y="4749990"/>
                </a:lnTo>
                <a:lnTo>
                  <a:pt x="5647734" y="4721631"/>
                </a:lnTo>
                <a:lnTo>
                  <a:pt x="5676100" y="4687260"/>
                </a:lnTo>
                <a:lnTo>
                  <a:pt x="5697518" y="4647809"/>
                </a:lnTo>
                <a:lnTo>
                  <a:pt x="5711054" y="4604214"/>
                </a:lnTo>
                <a:lnTo>
                  <a:pt x="5715774" y="4557407"/>
                </a:lnTo>
                <a:lnTo>
                  <a:pt x="5715774" y="232155"/>
                </a:lnTo>
                <a:lnTo>
                  <a:pt x="5711054" y="185353"/>
                </a:lnTo>
                <a:lnTo>
                  <a:pt x="5697518" y="141767"/>
                </a:lnTo>
                <a:lnTo>
                  <a:pt x="5676100" y="102331"/>
                </a:lnTo>
                <a:lnTo>
                  <a:pt x="5647734" y="67976"/>
                </a:lnTo>
                <a:lnTo>
                  <a:pt x="5613356" y="39634"/>
                </a:lnTo>
                <a:lnTo>
                  <a:pt x="5573899" y="18236"/>
                </a:lnTo>
                <a:lnTo>
                  <a:pt x="5530300" y="4714"/>
                </a:lnTo>
                <a:lnTo>
                  <a:pt x="5483491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7496" y="2351278"/>
            <a:ext cx="5273675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정의:</a:t>
            </a:r>
            <a:r>
              <a:rPr sz="18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0D0D0D"/>
                </a:solidFill>
                <a:latin typeface="맑은 고딕"/>
                <a:cs typeface="맑은 고딕"/>
              </a:rPr>
              <a:t>상태 업데이트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를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관리하는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함수</a:t>
            </a:r>
            <a:endParaRPr sz="1800">
              <a:latin typeface="맑은 고딕"/>
              <a:cs typeface="맑은 고딕"/>
            </a:endParaRPr>
          </a:p>
          <a:p>
            <a:pPr marL="172085" indent="-159385">
              <a:lnSpc>
                <a:spcPct val="100000"/>
              </a:lnSpc>
              <a:spcBef>
                <a:spcPts val="2160"/>
              </a:spcBef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목적: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그래프의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각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노드의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출력을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u="sng" spc="-20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맑은 고딕"/>
                <a:cs typeface="맑은 고딕"/>
              </a:rPr>
              <a:t>그래프의</a:t>
            </a:r>
            <a:endParaRPr sz="1800">
              <a:latin typeface="맑은 고딕"/>
              <a:cs typeface="맑은 고딕"/>
            </a:endParaRPr>
          </a:p>
          <a:p>
            <a:pPr marR="257175" algn="ctr">
              <a:lnSpc>
                <a:spcPct val="100000"/>
              </a:lnSpc>
            </a:pPr>
            <a:r>
              <a:rPr sz="1800" u="sng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맑은 고딕"/>
                <a:cs typeface="맑은 고딕"/>
              </a:rPr>
              <a:t>전체 상태에 통합</a:t>
            </a:r>
            <a:r>
              <a:rPr sz="1800" u="none" dirty="0">
                <a:solidFill>
                  <a:srgbClr val="0D0D0D"/>
                </a:solidFill>
                <a:latin typeface="맑은 고딕"/>
                <a:cs typeface="맑은 고딕"/>
              </a:rPr>
              <a:t>하는</a:t>
            </a:r>
            <a:r>
              <a:rPr sz="1800" u="none" spc="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u="none" dirty="0">
                <a:solidFill>
                  <a:srgbClr val="0D0D0D"/>
                </a:solidFill>
                <a:latin typeface="맑은 고딕"/>
                <a:cs typeface="맑은 고딕"/>
              </a:rPr>
              <a:t>방법을 </a:t>
            </a:r>
            <a:r>
              <a:rPr sz="1800" u="none" spc="-25" dirty="0">
                <a:solidFill>
                  <a:srgbClr val="0D0D0D"/>
                </a:solidFill>
                <a:latin typeface="맑은 고딕"/>
                <a:cs typeface="맑은 고딕"/>
              </a:rPr>
              <a:t>정의</a:t>
            </a:r>
            <a:endParaRPr sz="1800">
              <a:latin typeface="맑은 고딕"/>
              <a:cs typeface="맑은 고딕"/>
            </a:endParaRPr>
          </a:p>
          <a:p>
            <a:pPr marL="172085" indent="-159385">
              <a:lnSpc>
                <a:spcPct val="100000"/>
              </a:lnSpc>
              <a:spcBef>
                <a:spcPts val="2160"/>
              </a:spcBef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동작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방식:</a:t>
            </a:r>
            <a:endParaRPr sz="1800">
              <a:latin typeface="맑은 고딕"/>
              <a:cs typeface="맑은 고딕"/>
            </a:endParaRPr>
          </a:p>
          <a:p>
            <a:pPr marL="430530" lvl="1" indent="-175895">
              <a:lnSpc>
                <a:spcPct val="100000"/>
              </a:lnSpc>
              <a:buChar char="-"/>
              <a:tabLst>
                <a:tab pos="430530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각 노드의 반환값은 해당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상태</a:t>
            </a:r>
            <a:r>
              <a:rPr sz="1800" spc="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키의 이전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값을</a:t>
            </a:r>
            <a:endParaRPr sz="1800">
              <a:latin typeface="맑은 고딕"/>
              <a:cs typeface="맑은 고딕"/>
            </a:endParaRPr>
          </a:p>
          <a:p>
            <a:pPr marL="417830">
              <a:lnSpc>
                <a:spcPct val="100000"/>
              </a:lnSpc>
            </a:pPr>
            <a:r>
              <a:rPr sz="1800" b="1" dirty="0">
                <a:solidFill>
                  <a:srgbClr val="0D0D0D"/>
                </a:solidFill>
                <a:latin typeface="맑은 고딕"/>
                <a:cs typeface="맑은 고딕"/>
              </a:rPr>
              <a:t>덮어쓰기</a:t>
            </a:r>
            <a:r>
              <a:rPr sz="1800" b="1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저장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(</a:t>
            </a:r>
            <a:r>
              <a:rPr sz="1800" b="1" dirty="0">
                <a:solidFill>
                  <a:srgbClr val="FF0000"/>
                </a:solidFill>
                <a:latin typeface="맑은 고딕"/>
                <a:cs typeface="맑은 고딕"/>
              </a:rPr>
              <a:t>기본</a:t>
            </a:r>
            <a:r>
              <a:rPr sz="1800" b="1" spc="-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800" spc="-20" dirty="0">
                <a:solidFill>
                  <a:srgbClr val="0D0D0D"/>
                </a:solidFill>
                <a:latin typeface="맑은 고딕"/>
                <a:cs typeface="맑은 고딕"/>
              </a:rPr>
              <a:t>리듀서)</a:t>
            </a:r>
            <a:endParaRPr sz="1800">
              <a:latin typeface="맑은 고딕"/>
              <a:cs typeface="맑은 고딕"/>
            </a:endParaRPr>
          </a:p>
          <a:p>
            <a:pPr marL="417830" marR="5080" lvl="1" indent="-163195">
              <a:lnSpc>
                <a:spcPct val="100000"/>
              </a:lnSpc>
              <a:spcBef>
                <a:spcPts val="5"/>
              </a:spcBef>
              <a:buChar char="-"/>
              <a:tabLst>
                <a:tab pos="417830" algn="l"/>
                <a:tab pos="430530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	메시지 리스트 등에서 이전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상태에</a:t>
            </a:r>
            <a:r>
              <a:rPr sz="1800" spc="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새로운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값을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추가할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때 사용 (</a:t>
            </a:r>
            <a:r>
              <a:rPr sz="1800" b="1" dirty="0">
                <a:solidFill>
                  <a:srgbClr val="FF0000"/>
                </a:solidFill>
                <a:latin typeface="맑은 고딕"/>
                <a:cs typeface="맑은 고딕"/>
              </a:rPr>
              <a:t>add</a:t>
            </a:r>
            <a:r>
              <a:rPr sz="1800" b="1" spc="-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800" spc="-20" dirty="0">
                <a:solidFill>
                  <a:srgbClr val="0D0D0D"/>
                </a:solidFill>
                <a:latin typeface="맑은 고딕"/>
                <a:cs typeface="맑은 고딕"/>
              </a:rPr>
              <a:t>리듀서)</a:t>
            </a:r>
            <a:endParaRPr sz="1800">
              <a:latin typeface="맑은 고딕"/>
              <a:cs typeface="맑은 고딕"/>
            </a:endParaRPr>
          </a:p>
          <a:p>
            <a:pPr marL="417830" marR="330835" lvl="1" indent="-163195">
              <a:lnSpc>
                <a:spcPct val="100000"/>
              </a:lnSpc>
              <a:buChar char="-"/>
              <a:tabLst>
                <a:tab pos="417830" algn="l"/>
                <a:tab pos="430530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	중복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제거,</a:t>
            </a:r>
            <a:r>
              <a:rPr sz="1800" spc="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정렬 등 특수한 상태 관리를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하는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사용자</a:t>
            </a:r>
            <a:r>
              <a:rPr sz="18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정의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리듀서</a:t>
            </a:r>
            <a:r>
              <a:rPr sz="18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지원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(</a:t>
            </a:r>
            <a:r>
              <a:rPr sz="1800" b="1" dirty="0">
                <a:solidFill>
                  <a:srgbClr val="FF0000"/>
                </a:solidFill>
                <a:latin typeface="맑은 고딕"/>
                <a:cs typeface="맑은 고딕"/>
              </a:rPr>
              <a:t>custom</a:t>
            </a:r>
            <a:r>
              <a:rPr sz="1800" b="1" spc="-5" dirty="0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sz="1800" spc="-20" dirty="0">
                <a:solidFill>
                  <a:srgbClr val="0D0D0D"/>
                </a:solidFill>
                <a:latin typeface="맑은 고딕"/>
                <a:cs typeface="맑은 고딕"/>
              </a:rPr>
              <a:t>리듀서)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93434" y="1749869"/>
            <a:ext cx="5302885" cy="4799330"/>
            <a:chOff x="6393434" y="1749869"/>
            <a:chExt cx="5302885" cy="4799330"/>
          </a:xfrm>
        </p:grpSpPr>
        <p:sp>
          <p:nvSpPr>
            <p:cNvPr id="8" name="object 8"/>
            <p:cNvSpPr/>
            <p:nvPr/>
          </p:nvSpPr>
          <p:spPr>
            <a:xfrm>
              <a:off x="6400800" y="1754632"/>
              <a:ext cx="5290820" cy="4789805"/>
            </a:xfrm>
            <a:custGeom>
              <a:avLst/>
              <a:gdLst/>
              <a:ahLst/>
              <a:cxnLst/>
              <a:rect l="l" t="t" r="r" b="b"/>
              <a:pathLst>
                <a:path w="5290820" h="4789805">
                  <a:moveTo>
                    <a:pt x="0" y="263397"/>
                  </a:moveTo>
                  <a:lnTo>
                    <a:pt x="4245" y="216033"/>
                  </a:lnTo>
                  <a:lnTo>
                    <a:pt x="16486" y="171461"/>
                  </a:lnTo>
                  <a:lnTo>
                    <a:pt x="35978" y="130424"/>
                  </a:lnTo>
                  <a:lnTo>
                    <a:pt x="61977" y="93664"/>
                  </a:lnTo>
                  <a:lnTo>
                    <a:pt x="93738" y="61924"/>
                  </a:lnTo>
                  <a:lnTo>
                    <a:pt x="130518" y="35945"/>
                  </a:lnTo>
                  <a:lnTo>
                    <a:pt x="171572" y="16470"/>
                  </a:lnTo>
                  <a:lnTo>
                    <a:pt x="216155" y="4241"/>
                  </a:lnTo>
                  <a:lnTo>
                    <a:pt x="263525" y="0"/>
                  </a:lnTo>
                  <a:lnTo>
                    <a:pt x="5026914" y="0"/>
                  </a:lnTo>
                  <a:lnTo>
                    <a:pt x="5074283" y="4241"/>
                  </a:lnTo>
                  <a:lnTo>
                    <a:pt x="5118866" y="16470"/>
                  </a:lnTo>
                  <a:lnTo>
                    <a:pt x="5159920" y="35945"/>
                  </a:lnTo>
                  <a:lnTo>
                    <a:pt x="5196700" y="61924"/>
                  </a:lnTo>
                  <a:lnTo>
                    <a:pt x="5228461" y="93664"/>
                  </a:lnTo>
                  <a:lnTo>
                    <a:pt x="5254460" y="130424"/>
                  </a:lnTo>
                  <a:lnTo>
                    <a:pt x="5273952" y="171461"/>
                  </a:lnTo>
                  <a:lnTo>
                    <a:pt x="5286193" y="216033"/>
                  </a:lnTo>
                  <a:lnTo>
                    <a:pt x="5290439" y="263397"/>
                  </a:lnTo>
                  <a:lnTo>
                    <a:pt x="5290439" y="4526178"/>
                  </a:lnTo>
                  <a:lnTo>
                    <a:pt x="5286193" y="4573539"/>
                  </a:lnTo>
                  <a:lnTo>
                    <a:pt x="5273952" y="4618116"/>
                  </a:lnTo>
                  <a:lnTo>
                    <a:pt x="5254460" y="4659163"/>
                  </a:lnTo>
                  <a:lnTo>
                    <a:pt x="5228461" y="4695938"/>
                  </a:lnTo>
                  <a:lnTo>
                    <a:pt x="5196700" y="4727695"/>
                  </a:lnTo>
                  <a:lnTo>
                    <a:pt x="5159920" y="4753690"/>
                  </a:lnTo>
                  <a:lnTo>
                    <a:pt x="5118866" y="4773180"/>
                  </a:lnTo>
                  <a:lnTo>
                    <a:pt x="5074283" y="4785420"/>
                  </a:lnTo>
                  <a:lnTo>
                    <a:pt x="5026914" y="4789665"/>
                  </a:lnTo>
                  <a:lnTo>
                    <a:pt x="263525" y="4789665"/>
                  </a:lnTo>
                  <a:lnTo>
                    <a:pt x="216155" y="4785420"/>
                  </a:lnTo>
                  <a:lnTo>
                    <a:pt x="171572" y="4773180"/>
                  </a:lnTo>
                  <a:lnTo>
                    <a:pt x="130518" y="4753690"/>
                  </a:lnTo>
                  <a:lnTo>
                    <a:pt x="93738" y="4727695"/>
                  </a:lnTo>
                  <a:lnTo>
                    <a:pt x="61977" y="4695938"/>
                  </a:lnTo>
                  <a:lnTo>
                    <a:pt x="35978" y="4659163"/>
                  </a:lnTo>
                  <a:lnTo>
                    <a:pt x="16486" y="4618116"/>
                  </a:lnTo>
                  <a:lnTo>
                    <a:pt x="4245" y="4573539"/>
                  </a:lnTo>
                  <a:lnTo>
                    <a:pt x="0" y="4526178"/>
                  </a:lnTo>
                  <a:lnTo>
                    <a:pt x="0" y="263397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93434" y="2253424"/>
              <a:ext cx="5297804" cy="39243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State</a:t>
            </a:r>
            <a:r>
              <a:rPr spc="-160" dirty="0"/>
              <a:t> </a:t>
            </a:r>
            <a:r>
              <a:rPr spc="-10" dirty="0"/>
              <a:t>Reducer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5551" y="659638"/>
            <a:ext cx="859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Reducer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01637" y="1822373"/>
            <a:ext cx="5605145" cy="4792345"/>
            <a:chOff x="401637" y="1822373"/>
            <a:chExt cx="5605145" cy="4792345"/>
          </a:xfrm>
        </p:grpSpPr>
        <p:sp>
          <p:nvSpPr>
            <p:cNvPr id="6" name="object 6"/>
            <p:cNvSpPr/>
            <p:nvPr/>
          </p:nvSpPr>
          <p:spPr>
            <a:xfrm>
              <a:off x="406400" y="1973961"/>
              <a:ext cx="5595620" cy="4636135"/>
            </a:xfrm>
            <a:custGeom>
              <a:avLst/>
              <a:gdLst/>
              <a:ahLst/>
              <a:cxnLst/>
              <a:rect l="l" t="t" r="r" b="b"/>
              <a:pathLst>
                <a:path w="5595620" h="4636134">
                  <a:moveTo>
                    <a:pt x="0" y="255015"/>
                  </a:moveTo>
                  <a:lnTo>
                    <a:pt x="4109" y="209176"/>
                  </a:lnTo>
                  <a:lnTo>
                    <a:pt x="15955" y="166032"/>
                  </a:lnTo>
                  <a:lnTo>
                    <a:pt x="34820" y="126303"/>
                  </a:lnTo>
                  <a:lnTo>
                    <a:pt x="59981" y="90711"/>
                  </a:lnTo>
                  <a:lnTo>
                    <a:pt x="90719" y="59976"/>
                  </a:lnTo>
                  <a:lnTo>
                    <a:pt x="126313" y="34816"/>
                  </a:lnTo>
                  <a:lnTo>
                    <a:pt x="166043" y="15954"/>
                  </a:lnTo>
                  <a:lnTo>
                    <a:pt x="209188" y="4108"/>
                  </a:lnTo>
                  <a:lnTo>
                    <a:pt x="255028" y="0"/>
                  </a:lnTo>
                  <a:lnTo>
                    <a:pt x="5340223" y="0"/>
                  </a:lnTo>
                  <a:lnTo>
                    <a:pt x="5386062" y="4108"/>
                  </a:lnTo>
                  <a:lnTo>
                    <a:pt x="5429206" y="15954"/>
                  </a:lnTo>
                  <a:lnTo>
                    <a:pt x="5468935" y="34816"/>
                  </a:lnTo>
                  <a:lnTo>
                    <a:pt x="5504527" y="59976"/>
                  </a:lnTo>
                  <a:lnTo>
                    <a:pt x="5535262" y="90711"/>
                  </a:lnTo>
                  <a:lnTo>
                    <a:pt x="5560422" y="126303"/>
                  </a:lnTo>
                  <a:lnTo>
                    <a:pt x="5579284" y="166032"/>
                  </a:lnTo>
                  <a:lnTo>
                    <a:pt x="5591130" y="209176"/>
                  </a:lnTo>
                  <a:lnTo>
                    <a:pt x="5595239" y="255015"/>
                  </a:lnTo>
                  <a:lnTo>
                    <a:pt x="5595239" y="4380966"/>
                  </a:lnTo>
                  <a:lnTo>
                    <a:pt x="5591130" y="4426810"/>
                  </a:lnTo>
                  <a:lnTo>
                    <a:pt x="5579284" y="4469957"/>
                  </a:lnTo>
                  <a:lnTo>
                    <a:pt x="5560422" y="4509687"/>
                  </a:lnTo>
                  <a:lnTo>
                    <a:pt x="5535262" y="4545281"/>
                  </a:lnTo>
                  <a:lnTo>
                    <a:pt x="5504527" y="4576018"/>
                  </a:lnTo>
                  <a:lnTo>
                    <a:pt x="5468935" y="4601178"/>
                  </a:lnTo>
                  <a:lnTo>
                    <a:pt x="5429206" y="4620040"/>
                  </a:lnTo>
                  <a:lnTo>
                    <a:pt x="5386062" y="4631886"/>
                  </a:lnTo>
                  <a:lnTo>
                    <a:pt x="5340223" y="4635995"/>
                  </a:lnTo>
                  <a:lnTo>
                    <a:pt x="255028" y="4635995"/>
                  </a:lnTo>
                  <a:lnTo>
                    <a:pt x="209188" y="4631886"/>
                  </a:lnTo>
                  <a:lnTo>
                    <a:pt x="166043" y="4620040"/>
                  </a:lnTo>
                  <a:lnTo>
                    <a:pt x="126313" y="4601178"/>
                  </a:lnTo>
                  <a:lnTo>
                    <a:pt x="90719" y="4576018"/>
                  </a:lnTo>
                  <a:lnTo>
                    <a:pt x="59981" y="4545281"/>
                  </a:lnTo>
                  <a:lnTo>
                    <a:pt x="34820" y="4509687"/>
                  </a:lnTo>
                  <a:lnTo>
                    <a:pt x="15955" y="4469957"/>
                  </a:lnTo>
                  <a:lnTo>
                    <a:pt x="4109" y="4426810"/>
                  </a:lnTo>
                  <a:lnTo>
                    <a:pt x="0" y="4380966"/>
                  </a:lnTo>
                  <a:lnTo>
                    <a:pt x="0" y="255015"/>
                  </a:lnTo>
                  <a:close/>
                </a:path>
              </a:pathLst>
            </a:custGeom>
            <a:ln w="952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0900" y="1822373"/>
              <a:ext cx="4470400" cy="391160"/>
            </a:xfrm>
            <a:custGeom>
              <a:avLst/>
              <a:gdLst/>
              <a:ahLst/>
              <a:cxnLst/>
              <a:rect l="l" t="t" r="r" b="b"/>
              <a:pathLst>
                <a:path w="4470400" h="391160">
                  <a:moveTo>
                    <a:pt x="4470400" y="0"/>
                  </a:moveTo>
                  <a:lnTo>
                    <a:pt x="0" y="0"/>
                  </a:lnTo>
                  <a:lnTo>
                    <a:pt x="0" y="390982"/>
                  </a:lnTo>
                  <a:lnTo>
                    <a:pt x="4470400" y="390982"/>
                  </a:lnTo>
                  <a:lnTo>
                    <a:pt x="44704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069520" y="1822373"/>
            <a:ext cx="5605145" cy="4792345"/>
            <a:chOff x="6069520" y="1822373"/>
            <a:chExt cx="5605145" cy="4792345"/>
          </a:xfrm>
        </p:grpSpPr>
        <p:sp>
          <p:nvSpPr>
            <p:cNvPr id="9" name="object 9"/>
            <p:cNvSpPr/>
            <p:nvPr/>
          </p:nvSpPr>
          <p:spPr>
            <a:xfrm>
              <a:off x="6074283" y="1973961"/>
              <a:ext cx="5595620" cy="4636135"/>
            </a:xfrm>
            <a:custGeom>
              <a:avLst/>
              <a:gdLst/>
              <a:ahLst/>
              <a:cxnLst/>
              <a:rect l="l" t="t" r="r" b="b"/>
              <a:pathLst>
                <a:path w="5595620" h="4636134">
                  <a:moveTo>
                    <a:pt x="0" y="255015"/>
                  </a:moveTo>
                  <a:lnTo>
                    <a:pt x="4108" y="209176"/>
                  </a:lnTo>
                  <a:lnTo>
                    <a:pt x="15954" y="166032"/>
                  </a:lnTo>
                  <a:lnTo>
                    <a:pt x="34816" y="126303"/>
                  </a:lnTo>
                  <a:lnTo>
                    <a:pt x="59976" y="90711"/>
                  </a:lnTo>
                  <a:lnTo>
                    <a:pt x="90711" y="59976"/>
                  </a:lnTo>
                  <a:lnTo>
                    <a:pt x="126303" y="34816"/>
                  </a:lnTo>
                  <a:lnTo>
                    <a:pt x="166032" y="15954"/>
                  </a:lnTo>
                  <a:lnTo>
                    <a:pt x="209176" y="4108"/>
                  </a:lnTo>
                  <a:lnTo>
                    <a:pt x="255015" y="0"/>
                  </a:lnTo>
                  <a:lnTo>
                    <a:pt x="5340222" y="0"/>
                  </a:lnTo>
                  <a:lnTo>
                    <a:pt x="5386062" y="4108"/>
                  </a:lnTo>
                  <a:lnTo>
                    <a:pt x="5429206" y="15954"/>
                  </a:lnTo>
                  <a:lnTo>
                    <a:pt x="5468935" y="34816"/>
                  </a:lnTo>
                  <a:lnTo>
                    <a:pt x="5504527" y="59976"/>
                  </a:lnTo>
                  <a:lnTo>
                    <a:pt x="5535262" y="90711"/>
                  </a:lnTo>
                  <a:lnTo>
                    <a:pt x="5560422" y="126303"/>
                  </a:lnTo>
                  <a:lnTo>
                    <a:pt x="5579284" y="166032"/>
                  </a:lnTo>
                  <a:lnTo>
                    <a:pt x="5591130" y="209176"/>
                  </a:lnTo>
                  <a:lnTo>
                    <a:pt x="5595239" y="255015"/>
                  </a:lnTo>
                  <a:lnTo>
                    <a:pt x="5595239" y="4380966"/>
                  </a:lnTo>
                  <a:lnTo>
                    <a:pt x="5591130" y="4426810"/>
                  </a:lnTo>
                  <a:lnTo>
                    <a:pt x="5579284" y="4469957"/>
                  </a:lnTo>
                  <a:lnTo>
                    <a:pt x="5560422" y="4509687"/>
                  </a:lnTo>
                  <a:lnTo>
                    <a:pt x="5535262" y="4545281"/>
                  </a:lnTo>
                  <a:lnTo>
                    <a:pt x="5504527" y="4576018"/>
                  </a:lnTo>
                  <a:lnTo>
                    <a:pt x="5468935" y="4601178"/>
                  </a:lnTo>
                  <a:lnTo>
                    <a:pt x="5429206" y="4620040"/>
                  </a:lnTo>
                  <a:lnTo>
                    <a:pt x="5386062" y="4631886"/>
                  </a:lnTo>
                  <a:lnTo>
                    <a:pt x="5340222" y="4635995"/>
                  </a:lnTo>
                  <a:lnTo>
                    <a:pt x="255015" y="4635995"/>
                  </a:lnTo>
                  <a:lnTo>
                    <a:pt x="209176" y="4631886"/>
                  </a:lnTo>
                  <a:lnTo>
                    <a:pt x="166032" y="4620040"/>
                  </a:lnTo>
                  <a:lnTo>
                    <a:pt x="126303" y="4601178"/>
                  </a:lnTo>
                  <a:lnTo>
                    <a:pt x="90711" y="4576018"/>
                  </a:lnTo>
                  <a:lnTo>
                    <a:pt x="59976" y="4545281"/>
                  </a:lnTo>
                  <a:lnTo>
                    <a:pt x="34816" y="4509687"/>
                  </a:lnTo>
                  <a:lnTo>
                    <a:pt x="15954" y="4469957"/>
                  </a:lnTo>
                  <a:lnTo>
                    <a:pt x="4108" y="4426810"/>
                  </a:lnTo>
                  <a:lnTo>
                    <a:pt x="0" y="4380966"/>
                  </a:lnTo>
                  <a:lnTo>
                    <a:pt x="0" y="255015"/>
                  </a:lnTo>
                  <a:close/>
                </a:path>
              </a:pathLst>
            </a:custGeom>
            <a:ln w="952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45402" y="1822373"/>
              <a:ext cx="4470400" cy="391160"/>
            </a:xfrm>
            <a:custGeom>
              <a:avLst/>
              <a:gdLst/>
              <a:ahLst/>
              <a:cxnLst/>
              <a:rect l="l" t="t" r="r" b="b"/>
              <a:pathLst>
                <a:path w="4470400" h="391160">
                  <a:moveTo>
                    <a:pt x="4470400" y="0"/>
                  </a:moveTo>
                  <a:lnTo>
                    <a:pt x="0" y="0"/>
                  </a:lnTo>
                  <a:lnTo>
                    <a:pt x="0" y="390982"/>
                  </a:lnTo>
                  <a:lnTo>
                    <a:pt x="4470400" y="390982"/>
                  </a:lnTo>
                  <a:lnTo>
                    <a:pt x="44704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50900" y="1822373"/>
            <a:ext cx="4470400" cy="3911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425"/>
              </a:spcBef>
            </a:pP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Reducer를</a:t>
            </a:r>
            <a:r>
              <a:rPr sz="1800" b="1" spc="-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별도로</a:t>
            </a:r>
            <a:r>
              <a:rPr sz="1800" b="1" spc="-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지정하지</a:t>
            </a:r>
            <a:r>
              <a:rPr sz="1800" b="1" spc="-2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않은</a:t>
            </a:r>
            <a:r>
              <a:rPr sz="1800" b="1" spc="-1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경우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45402" y="1822373"/>
            <a:ext cx="4470400" cy="3911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425"/>
              </a:spcBef>
            </a:pP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Reducer를</a:t>
            </a:r>
            <a:r>
              <a:rPr sz="1800" b="1" spc="-1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별도로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지정하는</a:t>
            </a:r>
            <a:r>
              <a:rPr sz="1800" b="1" spc="-1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경우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9719" y="2458250"/>
            <a:ext cx="5032375" cy="733425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426720" marR="2323465" indent="-335280">
              <a:lnSpc>
                <a:spcPct val="100000"/>
              </a:lnSpc>
              <a:spcBef>
                <a:spcPts val="290"/>
              </a:spcBef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2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DocumentState(TypedDict): </a:t>
            </a:r>
            <a:r>
              <a:rPr sz="1200" dirty="0">
                <a:latin typeface="Consolas"/>
                <a:cs typeface="Consolas"/>
              </a:rPr>
              <a:t>query:</a:t>
            </a:r>
            <a:r>
              <a:rPr sz="1200" spc="-30" dirty="0">
                <a:latin typeface="Consolas"/>
                <a:cs typeface="Consolas"/>
              </a:rPr>
              <a:t> </a:t>
            </a:r>
            <a:r>
              <a:rPr sz="1200" spc="-25" dirty="0">
                <a:latin typeface="Consolas"/>
                <a:cs typeface="Consolas"/>
              </a:rPr>
              <a:t>str</a:t>
            </a:r>
            <a:endParaRPr sz="1200">
              <a:latin typeface="Consolas"/>
              <a:cs typeface="Consolas"/>
            </a:endParaRPr>
          </a:p>
          <a:p>
            <a:pPr marL="426720">
              <a:lnSpc>
                <a:spcPct val="100000"/>
              </a:lnSpc>
            </a:pPr>
            <a:r>
              <a:rPr sz="1200" dirty="0">
                <a:latin typeface="Consolas"/>
                <a:cs typeface="Consolas"/>
              </a:rPr>
              <a:t>documents:</a:t>
            </a:r>
            <a:r>
              <a:rPr sz="1200" spc="-5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List[str]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4604" y="2458250"/>
            <a:ext cx="5032375" cy="733425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427355" marR="2409190" indent="-335280">
              <a:lnSpc>
                <a:spcPct val="100000"/>
              </a:lnSpc>
              <a:spcBef>
                <a:spcPts val="290"/>
              </a:spcBef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2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ReducerState(TypedDict): </a:t>
            </a:r>
            <a:r>
              <a:rPr sz="1200" dirty="0">
                <a:latin typeface="Consolas"/>
                <a:cs typeface="Consolas"/>
              </a:rPr>
              <a:t>query:</a:t>
            </a:r>
            <a:r>
              <a:rPr sz="1200" spc="-30" dirty="0">
                <a:latin typeface="Consolas"/>
                <a:cs typeface="Consolas"/>
              </a:rPr>
              <a:t> </a:t>
            </a:r>
            <a:r>
              <a:rPr sz="1200" spc="-25" dirty="0">
                <a:latin typeface="Consolas"/>
                <a:cs typeface="Consolas"/>
              </a:rPr>
              <a:t>str</a:t>
            </a:r>
            <a:endParaRPr sz="1200">
              <a:latin typeface="Consolas"/>
              <a:cs typeface="Consolas"/>
            </a:endParaRPr>
          </a:p>
          <a:p>
            <a:pPr marL="427355">
              <a:lnSpc>
                <a:spcPct val="100000"/>
              </a:lnSpc>
            </a:pPr>
            <a:r>
              <a:rPr sz="1200" dirty="0">
                <a:latin typeface="Consolas"/>
                <a:cs typeface="Consolas"/>
              </a:rPr>
              <a:t>documents:</a:t>
            </a:r>
            <a:r>
              <a:rPr sz="1200" spc="-65" dirty="0">
                <a:latin typeface="Consolas"/>
                <a:cs typeface="Consolas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onsolas"/>
                <a:cs typeface="Consolas"/>
              </a:rPr>
              <a:t>Annotated</a:t>
            </a:r>
            <a:r>
              <a:rPr sz="1200" dirty="0">
                <a:latin typeface="Consolas"/>
                <a:cs typeface="Consolas"/>
              </a:rPr>
              <a:t>[List[str],</a:t>
            </a:r>
            <a:r>
              <a:rPr sz="1200" spc="-65" dirty="0">
                <a:latin typeface="Consolas"/>
                <a:cs typeface="Consolas"/>
              </a:rPr>
              <a:t> </a:t>
            </a:r>
            <a:r>
              <a:rPr sz="1200" b="1" spc="-20" dirty="0">
                <a:solidFill>
                  <a:srgbClr val="FF0000"/>
                </a:solidFill>
                <a:latin typeface="Consolas"/>
                <a:cs typeface="Consolas"/>
              </a:rPr>
              <a:t>add</a:t>
            </a:r>
            <a:r>
              <a:rPr sz="1200" spc="-20" dirty="0">
                <a:latin typeface="Consolas"/>
                <a:cs typeface="Consolas"/>
              </a:rPr>
              <a:t>]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1235" y="3241420"/>
            <a:ext cx="4924425" cy="3164205"/>
            <a:chOff x="541235" y="3241420"/>
            <a:chExt cx="4924425" cy="316420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235" y="3241420"/>
              <a:ext cx="4924171" cy="315937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910329" y="3302761"/>
              <a:ext cx="0" cy="3098165"/>
            </a:xfrm>
            <a:custGeom>
              <a:avLst/>
              <a:gdLst/>
              <a:ahLst/>
              <a:cxnLst/>
              <a:rect l="l" t="t" r="r" b="b"/>
              <a:pathLst>
                <a:path h="3098165">
                  <a:moveTo>
                    <a:pt x="0" y="0"/>
                  </a:moveTo>
                  <a:lnTo>
                    <a:pt x="0" y="3098038"/>
                  </a:lnTo>
                </a:path>
              </a:pathLst>
            </a:custGeom>
            <a:ln w="952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35354" y="3854576"/>
              <a:ext cx="2402840" cy="466090"/>
            </a:xfrm>
            <a:custGeom>
              <a:avLst/>
              <a:gdLst/>
              <a:ahLst/>
              <a:cxnLst/>
              <a:rect l="l" t="t" r="r" b="b"/>
              <a:pathLst>
                <a:path w="2402840" h="466089">
                  <a:moveTo>
                    <a:pt x="2402332" y="0"/>
                  </a:moveTo>
                  <a:lnTo>
                    <a:pt x="0" y="0"/>
                  </a:lnTo>
                  <a:lnTo>
                    <a:pt x="0" y="465836"/>
                  </a:lnTo>
                  <a:lnTo>
                    <a:pt x="2402332" y="465836"/>
                  </a:lnTo>
                  <a:lnTo>
                    <a:pt x="2402332" y="0"/>
                  </a:lnTo>
                  <a:close/>
                </a:path>
              </a:pathLst>
            </a:custGeom>
            <a:solidFill>
              <a:srgbClr val="F6C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14347" y="3882390"/>
            <a:ext cx="16751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onsolas"/>
                <a:cs typeface="Consolas"/>
              </a:rPr>
              <a:t>return</a:t>
            </a:r>
            <a:r>
              <a:rPr sz="900" spc="-7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{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"documents"</a:t>
            </a:r>
            <a:r>
              <a:rPr sz="900" dirty="0">
                <a:latin typeface="Consolas"/>
                <a:cs typeface="Consolas"/>
              </a:rPr>
              <a:t>:</a:t>
            </a:r>
            <a:r>
              <a:rPr sz="900" spc="-6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None</a:t>
            </a:r>
            <a:r>
              <a:rPr sz="900" spc="-1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435353" y="4588128"/>
            <a:ext cx="2402840" cy="466090"/>
          </a:xfrm>
          <a:custGeom>
            <a:avLst/>
            <a:gdLst/>
            <a:ahLst/>
            <a:cxnLst/>
            <a:rect l="l" t="t" r="r" b="b"/>
            <a:pathLst>
              <a:path w="2402840" h="466089">
                <a:moveTo>
                  <a:pt x="2402332" y="0"/>
                </a:moveTo>
                <a:lnTo>
                  <a:pt x="0" y="0"/>
                </a:lnTo>
                <a:lnTo>
                  <a:pt x="0" y="465836"/>
                </a:lnTo>
                <a:lnTo>
                  <a:pt x="2402332" y="465836"/>
                </a:lnTo>
                <a:lnTo>
                  <a:pt x="2402332" y="0"/>
                </a:lnTo>
                <a:close/>
              </a:path>
            </a:pathLst>
          </a:custGeom>
          <a:solidFill>
            <a:srgbClr val="F6C5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514347" y="4616322"/>
            <a:ext cx="2120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onsolas"/>
                <a:cs typeface="Consolas"/>
              </a:rPr>
              <a:t>return</a:t>
            </a:r>
            <a:r>
              <a:rPr sz="900" spc="-7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{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"documents"</a:t>
            </a:r>
            <a:r>
              <a:rPr sz="900" dirty="0">
                <a:latin typeface="Consolas"/>
                <a:cs typeface="Consolas"/>
              </a:rPr>
              <a:t>:</a:t>
            </a:r>
            <a:r>
              <a:rPr sz="900" spc="-6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[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"doc1.pdf"</a:t>
            </a:r>
            <a:r>
              <a:rPr sz="900" spc="-10" dirty="0">
                <a:latin typeface="Consolas"/>
                <a:cs typeface="Consolas"/>
              </a:rPr>
              <a:t>,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"doc2.pdf"</a:t>
            </a:r>
            <a:r>
              <a:rPr sz="900" dirty="0">
                <a:latin typeface="Consolas"/>
                <a:cs typeface="Consolas"/>
              </a:rPr>
              <a:t>,</a:t>
            </a:r>
            <a:r>
              <a:rPr sz="900" spc="-9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"doc3.pdf"</a:t>
            </a:r>
            <a:r>
              <a:rPr sz="900" spc="-10" dirty="0">
                <a:latin typeface="Consolas"/>
                <a:cs typeface="Consolas"/>
              </a:rPr>
              <a:t>]}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35353" y="5321795"/>
            <a:ext cx="2402840" cy="466090"/>
          </a:xfrm>
          <a:custGeom>
            <a:avLst/>
            <a:gdLst/>
            <a:ahLst/>
            <a:cxnLst/>
            <a:rect l="l" t="t" r="r" b="b"/>
            <a:pathLst>
              <a:path w="2402840" h="466089">
                <a:moveTo>
                  <a:pt x="2402332" y="0"/>
                </a:moveTo>
                <a:lnTo>
                  <a:pt x="0" y="0"/>
                </a:lnTo>
                <a:lnTo>
                  <a:pt x="0" y="465836"/>
                </a:lnTo>
                <a:lnTo>
                  <a:pt x="2402332" y="465836"/>
                </a:lnTo>
                <a:lnTo>
                  <a:pt x="2402332" y="0"/>
                </a:lnTo>
                <a:close/>
              </a:path>
            </a:pathLst>
          </a:custGeom>
          <a:solidFill>
            <a:srgbClr val="F6C5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514347" y="5350002"/>
            <a:ext cx="2120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onsolas"/>
                <a:cs typeface="Consolas"/>
              </a:rPr>
              <a:t>return</a:t>
            </a:r>
            <a:r>
              <a:rPr sz="900" spc="-7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{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"documents"</a:t>
            </a:r>
            <a:r>
              <a:rPr sz="900" dirty="0">
                <a:latin typeface="Consolas"/>
                <a:cs typeface="Consolas"/>
              </a:rPr>
              <a:t>:</a:t>
            </a:r>
            <a:r>
              <a:rPr sz="900" spc="-6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[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"doc2.pdf"</a:t>
            </a:r>
            <a:r>
              <a:rPr sz="900" spc="-10" dirty="0">
                <a:latin typeface="Consolas"/>
                <a:cs typeface="Consolas"/>
              </a:rPr>
              <a:t>,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"doc4.pdf"</a:t>
            </a:r>
            <a:r>
              <a:rPr sz="900" dirty="0">
                <a:latin typeface="Consolas"/>
                <a:cs typeface="Consolas"/>
              </a:rPr>
              <a:t>,</a:t>
            </a:r>
            <a:r>
              <a:rPr sz="900" spc="-9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"doc5.pdf"</a:t>
            </a:r>
            <a:r>
              <a:rPr sz="900" spc="-10" dirty="0">
                <a:latin typeface="Consolas"/>
                <a:cs typeface="Consolas"/>
              </a:rPr>
              <a:t>]}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982846" y="3854577"/>
            <a:ext cx="1776095" cy="466090"/>
          </a:xfrm>
          <a:custGeom>
            <a:avLst/>
            <a:gdLst/>
            <a:ahLst/>
            <a:cxnLst/>
            <a:rect l="l" t="t" r="r" b="b"/>
            <a:pathLst>
              <a:path w="1776095" h="466089">
                <a:moveTo>
                  <a:pt x="1775841" y="0"/>
                </a:moveTo>
                <a:lnTo>
                  <a:pt x="0" y="0"/>
                </a:lnTo>
                <a:lnTo>
                  <a:pt x="0" y="465836"/>
                </a:lnTo>
                <a:lnTo>
                  <a:pt x="1775841" y="465836"/>
                </a:lnTo>
                <a:lnTo>
                  <a:pt x="1775841" y="0"/>
                </a:lnTo>
                <a:close/>
              </a:path>
            </a:pathLst>
          </a:custGeom>
          <a:solidFill>
            <a:srgbClr val="C9ED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982846" y="3854577"/>
            <a:ext cx="1776095" cy="466090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endParaRPr sz="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spc="-20" dirty="0">
                <a:solidFill>
                  <a:srgbClr val="FF0000"/>
                </a:solidFill>
                <a:latin typeface="Consolas"/>
                <a:cs typeface="Consolas"/>
              </a:rPr>
              <a:t>None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982846" y="4588128"/>
            <a:ext cx="1776095" cy="466090"/>
          </a:xfrm>
          <a:custGeom>
            <a:avLst/>
            <a:gdLst/>
            <a:ahLst/>
            <a:cxnLst/>
            <a:rect l="l" t="t" r="r" b="b"/>
            <a:pathLst>
              <a:path w="1776095" h="466089">
                <a:moveTo>
                  <a:pt x="1775841" y="0"/>
                </a:moveTo>
                <a:lnTo>
                  <a:pt x="0" y="0"/>
                </a:lnTo>
                <a:lnTo>
                  <a:pt x="0" y="465836"/>
                </a:lnTo>
                <a:lnTo>
                  <a:pt x="1775841" y="465836"/>
                </a:lnTo>
                <a:lnTo>
                  <a:pt x="1775841" y="0"/>
                </a:lnTo>
                <a:close/>
              </a:path>
            </a:pathLst>
          </a:custGeom>
          <a:solidFill>
            <a:srgbClr val="C9ED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982846" y="4588128"/>
            <a:ext cx="1776095" cy="466090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538480" marR="120650" indent="-413384">
              <a:lnSpc>
                <a:spcPct val="100000"/>
              </a:lnSpc>
              <a:spcBef>
                <a:spcPts val="715"/>
              </a:spcBef>
            </a:pPr>
            <a:r>
              <a:rPr sz="900" dirty="0">
                <a:solidFill>
                  <a:srgbClr val="FF0000"/>
                </a:solidFill>
                <a:latin typeface="Consolas"/>
                <a:cs typeface="Consolas"/>
              </a:rPr>
              <a:t>["doc1.pdf",</a:t>
            </a:r>
            <a:r>
              <a:rPr sz="900" spc="-10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Consolas"/>
                <a:cs typeface="Consolas"/>
              </a:rPr>
              <a:t>"doc2.pdf", "doc3.pdf"]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982846" y="5321795"/>
            <a:ext cx="1776095" cy="466090"/>
          </a:xfrm>
          <a:custGeom>
            <a:avLst/>
            <a:gdLst/>
            <a:ahLst/>
            <a:cxnLst/>
            <a:rect l="l" t="t" r="r" b="b"/>
            <a:pathLst>
              <a:path w="1776095" h="466089">
                <a:moveTo>
                  <a:pt x="1775841" y="0"/>
                </a:moveTo>
                <a:lnTo>
                  <a:pt x="0" y="0"/>
                </a:lnTo>
                <a:lnTo>
                  <a:pt x="0" y="465836"/>
                </a:lnTo>
                <a:lnTo>
                  <a:pt x="1775841" y="465836"/>
                </a:lnTo>
                <a:lnTo>
                  <a:pt x="1775841" y="0"/>
                </a:lnTo>
                <a:close/>
              </a:path>
            </a:pathLst>
          </a:custGeom>
          <a:solidFill>
            <a:srgbClr val="C9ED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982846" y="5321795"/>
            <a:ext cx="1776095" cy="466090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538480" marR="120650" indent="-413384">
              <a:lnSpc>
                <a:spcPct val="100000"/>
              </a:lnSpc>
              <a:spcBef>
                <a:spcPts val="715"/>
              </a:spcBef>
            </a:pPr>
            <a:r>
              <a:rPr sz="900" dirty="0">
                <a:solidFill>
                  <a:srgbClr val="FF0000"/>
                </a:solidFill>
                <a:latin typeface="Consolas"/>
                <a:cs typeface="Consolas"/>
              </a:rPr>
              <a:t>["doc2.pdf",</a:t>
            </a:r>
            <a:r>
              <a:rPr sz="900" spc="-10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Consolas"/>
                <a:cs typeface="Consolas"/>
              </a:rPr>
              <a:t>"doc4.pdf", "doc5.pdf"]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670811" y="6055410"/>
            <a:ext cx="2055495" cy="234315"/>
          </a:xfrm>
          <a:custGeom>
            <a:avLst/>
            <a:gdLst/>
            <a:ahLst/>
            <a:cxnLst/>
            <a:rect l="l" t="t" r="r" b="b"/>
            <a:pathLst>
              <a:path w="2055495" h="234314">
                <a:moveTo>
                  <a:pt x="2055494" y="0"/>
                </a:moveTo>
                <a:lnTo>
                  <a:pt x="0" y="0"/>
                </a:lnTo>
                <a:lnTo>
                  <a:pt x="0" y="234289"/>
                </a:lnTo>
                <a:lnTo>
                  <a:pt x="2055494" y="234289"/>
                </a:lnTo>
                <a:lnTo>
                  <a:pt x="2055494" y="0"/>
                </a:lnTo>
                <a:close/>
              </a:path>
            </a:pathLst>
          </a:custGeom>
          <a:solidFill>
            <a:srgbClr val="4EA7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670811" y="6055410"/>
            <a:ext cx="2055495" cy="234315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284"/>
              </a:spcBef>
            </a:pPr>
            <a:r>
              <a:rPr sz="1050" b="1" dirty="0">
                <a:solidFill>
                  <a:srgbClr val="FFFFFF"/>
                </a:solidFill>
                <a:latin typeface="맑은 고딕"/>
                <a:cs typeface="맑은 고딕"/>
              </a:rPr>
              <a:t>node</a:t>
            </a:r>
            <a:r>
              <a:rPr sz="1050" b="1" spc="-2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050" b="1" dirty="0">
                <a:solidFill>
                  <a:srgbClr val="FFFFFF"/>
                </a:solidFill>
                <a:latin typeface="맑은 고딕"/>
                <a:cs typeface="맑은 고딕"/>
              </a:rPr>
              <a:t>출력</a:t>
            </a:r>
            <a:r>
              <a:rPr sz="1050" b="1" spc="-1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050" b="1" dirty="0">
                <a:solidFill>
                  <a:srgbClr val="FFFFFF"/>
                </a:solidFill>
                <a:latin typeface="맑은 고딕"/>
                <a:cs typeface="맑은 고딕"/>
              </a:rPr>
              <a:t>(상태 </a:t>
            </a:r>
            <a:r>
              <a:rPr sz="1050" b="1" spc="-10" dirty="0">
                <a:solidFill>
                  <a:srgbClr val="FFFFFF"/>
                </a:solidFill>
                <a:latin typeface="맑은 고딕"/>
                <a:cs typeface="맑은 고딕"/>
              </a:rPr>
              <a:t>덮어쓰기)</a:t>
            </a:r>
            <a:endParaRPr sz="1050">
              <a:latin typeface="맑은 고딕"/>
              <a:cs typeface="맑은 고딕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049014" y="6055410"/>
            <a:ext cx="1524635" cy="234315"/>
          </a:xfrm>
          <a:custGeom>
            <a:avLst/>
            <a:gdLst/>
            <a:ahLst/>
            <a:cxnLst/>
            <a:rect l="l" t="t" r="r" b="b"/>
            <a:pathLst>
              <a:path w="1524635" h="234314">
                <a:moveTo>
                  <a:pt x="1524381" y="0"/>
                </a:moveTo>
                <a:lnTo>
                  <a:pt x="0" y="0"/>
                </a:lnTo>
                <a:lnTo>
                  <a:pt x="0" y="234289"/>
                </a:lnTo>
                <a:lnTo>
                  <a:pt x="1524381" y="234289"/>
                </a:lnTo>
                <a:lnTo>
                  <a:pt x="1524381" y="0"/>
                </a:lnTo>
                <a:close/>
              </a:path>
            </a:pathLst>
          </a:custGeom>
          <a:solidFill>
            <a:srgbClr val="4EA7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049014" y="6055410"/>
            <a:ext cx="1524635" cy="234315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276225">
              <a:lnSpc>
                <a:spcPct val="100000"/>
              </a:lnSpc>
              <a:spcBef>
                <a:spcPts val="284"/>
              </a:spcBef>
            </a:pPr>
            <a:r>
              <a:rPr sz="1050" b="1" dirty="0">
                <a:solidFill>
                  <a:srgbClr val="FFFFFF"/>
                </a:solidFill>
                <a:latin typeface="맑은 고딕"/>
                <a:cs typeface="맑은 고딕"/>
              </a:rPr>
              <a:t>documents</a:t>
            </a:r>
            <a:r>
              <a:rPr sz="1050" b="1" spc="-3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050" b="1" spc="-25" dirty="0">
                <a:solidFill>
                  <a:srgbClr val="FFFFFF"/>
                </a:solidFill>
                <a:latin typeface="맑은 고딕"/>
                <a:cs typeface="맑은 고딕"/>
              </a:rPr>
              <a:t>상태</a:t>
            </a:r>
            <a:endParaRPr sz="1050">
              <a:latin typeface="맑은 고딕"/>
              <a:cs typeface="맑은 고딕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191758" y="3241420"/>
            <a:ext cx="4924425" cy="3164205"/>
            <a:chOff x="6191758" y="3241420"/>
            <a:chExt cx="4924425" cy="3164205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1758" y="3241420"/>
              <a:ext cx="4924044" cy="315937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9560814" y="3302761"/>
              <a:ext cx="0" cy="3098165"/>
            </a:xfrm>
            <a:custGeom>
              <a:avLst/>
              <a:gdLst/>
              <a:ahLst/>
              <a:cxnLst/>
              <a:rect l="l" t="t" r="r" b="b"/>
              <a:pathLst>
                <a:path h="3098165">
                  <a:moveTo>
                    <a:pt x="0" y="0"/>
                  </a:moveTo>
                  <a:lnTo>
                    <a:pt x="0" y="3098038"/>
                  </a:lnTo>
                </a:path>
              </a:pathLst>
            </a:custGeom>
            <a:ln w="952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85838" y="3854576"/>
              <a:ext cx="2402840" cy="466090"/>
            </a:xfrm>
            <a:custGeom>
              <a:avLst/>
              <a:gdLst/>
              <a:ahLst/>
              <a:cxnLst/>
              <a:rect l="l" t="t" r="r" b="b"/>
              <a:pathLst>
                <a:path w="2402840" h="466089">
                  <a:moveTo>
                    <a:pt x="2402331" y="0"/>
                  </a:moveTo>
                  <a:lnTo>
                    <a:pt x="0" y="0"/>
                  </a:lnTo>
                  <a:lnTo>
                    <a:pt x="0" y="465836"/>
                  </a:lnTo>
                  <a:lnTo>
                    <a:pt x="2402331" y="465836"/>
                  </a:lnTo>
                  <a:lnTo>
                    <a:pt x="2402331" y="0"/>
                  </a:lnTo>
                  <a:close/>
                </a:path>
              </a:pathLst>
            </a:custGeom>
            <a:solidFill>
              <a:srgbClr val="F6C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165340" y="3882390"/>
            <a:ext cx="16751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onsolas"/>
                <a:cs typeface="Consolas"/>
              </a:rPr>
              <a:t>return</a:t>
            </a:r>
            <a:r>
              <a:rPr sz="900" spc="-7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{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"documents"</a:t>
            </a:r>
            <a:r>
              <a:rPr sz="900" dirty="0">
                <a:latin typeface="Consolas"/>
                <a:cs typeface="Consolas"/>
              </a:rPr>
              <a:t>:</a:t>
            </a:r>
            <a:r>
              <a:rPr sz="900" spc="-6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None</a:t>
            </a:r>
            <a:r>
              <a:rPr sz="900" spc="-10" dirty="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085838" y="4588128"/>
            <a:ext cx="2402840" cy="466090"/>
          </a:xfrm>
          <a:custGeom>
            <a:avLst/>
            <a:gdLst/>
            <a:ahLst/>
            <a:cxnLst/>
            <a:rect l="l" t="t" r="r" b="b"/>
            <a:pathLst>
              <a:path w="2402840" h="466089">
                <a:moveTo>
                  <a:pt x="2402331" y="0"/>
                </a:moveTo>
                <a:lnTo>
                  <a:pt x="0" y="0"/>
                </a:lnTo>
                <a:lnTo>
                  <a:pt x="0" y="465836"/>
                </a:lnTo>
                <a:lnTo>
                  <a:pt x="2402331" y="465836"/>
                </a:lnTo>
                <a:lnTo>
                  <a:pt x="2402331" y="0"/>
                </a:lnTo>
                <a:close/>
              </a:path>
            </a:pathLst>
          </a:custGeom>
          <a:solidFill>
            <a:srgbClr val="F6C5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165340" y="4616322"/>
            <a:ext cx="2120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onsolas"/>
                <a:cs typeface="Consolas"/>
              </a:rPr>
              <a:t>return</a:t>
            </a:r>
            <a:r>
              <a:rPr sz="900" spc="-7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{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"documents"</a:t>
            </a:r>
            <a:r>
              <a:rPr sz="900" dirty="0">
                <a:latin typeface="Consolas"/>
                <a:cs typeface="Consolas"/>
              </a:rPr>
              <a:t>:</a:t>
            </a:r>
            <a:r>
              <a:rPr sz="900" spc="-6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[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"doc1.pdf"</a:t>
            </a:r>
            <a:r>
              <a:rPr sz="900" spc="-10" dirty="0">
                <a:latin typeface="Consolas"/>
                <a:cs typeface="Consolas"/>
              </a:rPr>
              <a:t>,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"doc2.pdf"</a:t>
            </a:r>
            <a:r>
              <a:rPr sz="900" dirty="0">
                <a:latin typeface="Consolas"/>
                <a:cs typeface="Consolas"/>
              </a:rPr>
              <a:t>,</a:t>
            </a:r>
            <a:r>
              <a:rPr sz="900" spc="-9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"doc3.pdf"</a:t>
            </a:r>
            <a:r>
              <a:rPr sz="900" spc="-10" dirty="0">
                <a:latin typeface="Consolas"/>
                <a:cs typeface="Consolas"/>
              </a:rPr>
              <a:t>]}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085838" y="5321795"/>
            <a:ext cx="2402840" cy="466090"/>
          </a:xfrm>
          <a:custGeom>
            <a:avLst/>
            <a:gdLst/>
            <a:ahLst/>
            <a:cxnLst/>
            <a:rect l="l" t="t" r="r" b="b"/>
            <a:pathLst>
              <a:path w="2402840" h="466089">
                <a:moveTo>
                  <a:pt x="2402331" y="0"/>
                </a:moveTo>
                <a:lnTo>
                  <a:pt x="0" y="0"/>
                </a:lnTo>
                <a:lnTo>
                  <a:pt x="0" y="465836"/>
                </a:lnTo>
                <a:lnTo>
                  <a:pt x="2402331" y="465836"/>
                </a:lnTo>
                <a:lnTo>
                  <a:pt x="2402331" y="0"/>
                </a:lnTo>
                <a:close/>
              </a:path>
            </a:pathLst>
          </a:custGeom>
          <a:solidFill>
            <a:srgbClr val="F6C5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165340" y="5350002"/>
            <a:ext cx="2120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onsolas"/>
                <a:cs typeface="Consolas"/>
              </a:rPr>
              <a:t>return</a:t>
            </a:r>
            <a:r>
              <a:rPr sz="900" spc="-7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{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"documents"</a:t>
            </a:r>
            <a:r>
              <a:rPr sz="900" dirty="0">
                <a:latin typeface="Consolas"/>
                <a:cs typeface="Consolas"/>
              </a:rPr>
              <a:t>:</a:t>
            </a:r>
            <a:r>
              <a:rPr sz="900" spc="-6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[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"doc2.pdf"</a:t>
            </a:r>
            <a:r>
              <a:rPr sz="900" spc="-10" dirty="0">
                <a:latin typeface="Consolas"/>
                <a:cs typeface="Consolas"/>
              </a:rPr>
              <a:t>,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"doc4.pdf"</a:t>
            </a:r>
            <a:r>
              <a:rPr sz="900" dirty="0">
                <a:latin typeface="Consolas"/>
                <a:cs typeface="Consolas"/>
              </a:rPr>
              <a:t>,</a:t>
            </a:r>
            <a:r>
              <a:rPr sz="900" spc="-9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"doc5.pdf"</a:t>
            </a:r>
            <a:r>
              <a:rPr sz="900" spc="-10" dirty="0">
                <a:latin typeface="Consolas"/>
                <a:cs typeface="Consolas"/>
              </a:rPr>
              <a:t>]}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633331" y="3854577"/>
            <a:ext cx="1776095" cy="466090"/>
          </a:xfrm>
          <a:custGeom>
            <a:avLst/>
            <a:gdLst/>
            <a:ahLst/>
            <a:cxnLst/>
            <a:rect l="l" t="t" r="r" b="b"/>
            <a:pathLst>
              <a:path w="1776095" h="466089">
                <a:moveTo>
                  <a:pt x="1775841" y="0"/>
                </a:moveTo>
                <a:lnTo>
                  <a:pt x="0" y="0"/>
                </a:lnTo>
                <a:lnTo>
                  <a:pt x="0" y="465836"/>
                </a:lnTo>
                <a:lnTo>
                  <a:pt x="1775841" y="465836"/>
                </a:lnTo>
                <a:lnTo>
                  <a:pt x="1775841" y="0"/>
                </a:lnTo>
                <a:close/>
              </a:path>
            </a:pathLst>
          </a:custGeom>
          <a:solidFill>
            <a:srgbClr val="C9ED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9633331" y="3854577"/>
            <a:ext cx="1776095" cy="466090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endParaRPr sz="9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900" spc="-20" dirty="0">
                <a:solidFill>
                  <a:srgbClr val="FF0000"/>
                </a:solidFill>
                <a:latin typeface="Consolas"/>
                <a:cs typeface="Consolas"/>
              </a:rPr>
              <a:t>None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633331" y="4588128"/>
            <a:ext cx="1776095" cy="466090"/>
          </a:xfrm>
          <a:custGeom>
            <a:avLst/>
            <a:gdLst/>
            <a:ahLst/>
            <a:cxnLst/>
            <a:rect l="l" t="t" r="r" b="b"/>
            <a:pathLst>
              <a:path w="1776095" h="466089">
                <a:moveTo>
                  <a:pt x="1775841" y="0"/>
                </a:moveTo>
                <a:lnTo>
                  <a:pt x="0" y="0"/>
                </a:lnTo>
                <a:lnTo>
                  <a:pt x="0" y="465836"/>
                </a:lnTo>
                <a:lnTo>
                  <a:pt x="1775841" y="465836"/>
                </a:lnTo>
                <a:lnTo>
                  <a:pt x="1775841" y="0"/>
                </a:lnTo>
                <a:close/>
              </a:path>
            </a:pathLst>
          </a:custGeom>
          <a:solidFill>
            <a:srgbClr val="C9ED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9633331" y="4588128"/>
            <a:ext cx="1776095" cy="466090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539115" marR="120014" indent="-413384">
              <a:lnSpc>
                <a:spcPct val="100000"/>
              </a:lnSpc>
              <a:spcBef>
                <a:spcPts val="715"/>
              </a:spcBef>
            </a:pPr>
            <a:r>
              <a:rPr sz="900" dirty="0">
                <a:solidFill>
                  <a:srgbClr val="FF0000"/>
                </a:solidFill>
                <a:latin typeface="Consolas"/>
                <a:cs typeface="Consolas"/>
              </a:rPr>
              <a:t>["doc1.pdf",</a:t>
            </a:r>
            <a:r>
              <a:rPr sz="900" spc="-10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Consolas"/>
                <a:cs typeface="Consolas"/>
              </a:rPr>
              <a:t>"doc2.pdf", "doc3.pdf"]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9633331" y="5321795"/>
            <a:ext cx="1776095" cy="466090"/>
          </a:xfrm>
          <a:custGeom>
            <a:avLst/>
            <a:gdLst/>
            <a:ahLst/>
            <a:cxnLst/>
            <a:rect l="l" t="t" r="r" b="b"/>
            <a:pathLst>
              <a:path w="1776095" h="466089">
                <a:moveTo>
                  <a:pt x="1775841" y="0"/>
                </a:moveTo>
                <a:lnTo>
                  <a:pt x="0" y="0"/>
                </a:lnTo>
                <a:lnTo>
                  <a:pt x="0" y="465836"/>
                </a:lnTo>
                <a:lnTo>
                  <a:pt x="1775841" y="465836"/>
                </a:lnTo>
                <a:lnTo>
                  <a:pt x="1775841" y="0"/>
                </a:lnTo>
                <a:close/>
              </a:path>
            </a:pathLst>
          </a:custGeom>
          <a:solidFill>
            <a:srgbClr val="C9ED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9633331" y="5321795"/>
            <a:ext cx="1776095" cy="466090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FF0000"/>
                </a:solidFill>
                <a:latin typeface="Consolas"/>
                <a:cs typeface="Consolas"/>
              </a:rPr>
              <a:t>['doc1.pdf',</a:t>
            </a:r>
            <a:r>
              <a:rPr sz="900" spc="-10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Consolas"/>
                <a:cs typeface="Consolas"/>
              </a:rPr>
              <a:t>'doc2.pdf',</a:t>
            </a:r>
            <a:endParaRPr sz="900">
              <a:latin typeface="Consolas"/>
              <a:cs typeface="Consolas"/>
            </a:endParaRPr>
          </a:p>
          <a:p>
            <a:pPr marL="158115">
              <a:lnSpc>
                <a:spcPct val="100000"/>
              </a:lnSpc>
            </a:pPr>
            <a:r>
              <a:rPr sz="900" dirty="0">
                <a:solidFill>
                  <a:srgbClr val="FF0000"/>
                </a:solidFill>
                <a:latin typeface="Consolas"/>
                <a:cs typeface="Consolas"/>
              </a:rPr>
              <a:t>'doc3.pdf',</a:t>
            </a:r>
            <a:r>
              <a:rPr sz="900" spc="-8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Consolas"/>
                <a:cs typeface="Consolas"/>
              </a:rPr>
              <a:t>'doc2.pdf',</a:t>
            </a:r>
            <a:endParaRPr sz="900">
              <a:latin typeface="Consolas"/>
              <a:cs typeface="Consolas"/>
            </a:endParaRPr>
          </a:p>
          <a:p>
            <a:pPr marL="158115">
              <a:lnSpc>
                <a:spcPct val="100000"/>
              </a:lnSpc>
            </a:pPr>
            <a:r>
              <a:rPr sz="900" dirty="0">
                <a:solidFill>
                  <a:srgbClr val="FF0000"/>
                </a:solidFill>
                <a:latin typeface="Consolas"/>
                <a:cs typeface="Consolas"/>
              </a:rPr>
              <a:t>'doc4.pdf',</a:t>
            </a:r>
            <a:r>
              <a:rPr sz="900" spc="-8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Consolas"/>
                <a:cs typeface="Consolas"/>
              </a:rPr>
              <a:t>'doc5.pdf']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321168" y="6055410"/>
            <a:ext cx="2055495" cy="234315"/>
          </a:xfrm>
          <a:custGeom>
            <a:avLst/>
            <a:gdLst/>
            <a:ahLst/>
            <a:cxnLst/>
            <a:rect l="l" t="t" r="r" b="b"/>
            <a:pathLst>
              <a:path w="2055495" h="234314">
                <a:moveTo>
                  <a:pt x="2055495" y="0"/>
                </a:moveTo>
                <a:lnTo>
                  <a:pt x="0" y="0"/>
                </a:lnTo>
                <a:lnTo>
                  <a:pt x="0" y="234289"/>
                </a:lnTo>
                <a:lnTo>
                  <a:pt x="2055495" y="234289"/>
                </a:lnTo>
                <a:lnTo>
                  <a:pt x="2055495" y="0"/>
                </a:lnTo>
                <a:close/>
              </a:path>
            </a:pathLst>
          </a:custGeom>
          <a:solidFill>
            <a:srgbClr val="4EA7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7321168" y="6055410"/>
            <a:ext cx="2055495" cy="234315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371475">
              <a:lnSpc>
                <a:spcPct val="100000"/>
              </a:lnSpc>
              <a:spcBef>
                <a:spcPts val="284"/>
              </a:spcBef>
            </a:pPr>
            <a:r>
              <a:rPr sz="1050" b="1" dirty="0">
                <a:solidFill>
                  <a:srgbClr val="FFFFFF"/>
                </a:solidFill>
                <a:latin typeface="맑은 고딕"/>
                <a:cs typeface="맑은 고딕"/>
              </a:rPr>
              <a:t>node</a:t>
            </a:r>
            <a:r>
              <a:rPr sz="1050" b="1" spc="-2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050" b="1" dirty="0">
                <a:solidFill>
                  <a:srgbClr val="FFFFFF"/>
                </a:solidFill>
                <a:latin typeface="맑은 고딕"/>
                <a:cs typeface="맑은 고딕"/>
              </a:rPr>
              <a:t>출력</a:t>
            </a:r>
            <a:r>
              <a:rPr sz="1050" b="1" spc="-1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050" b="1" dirty="0">
                <a:solidFill>
                  <a:srgbClr val="FFFFFF"/>
                </a:solidFill>
                <a:latin typeface="맑은 고딕"/>
                <a:cs typeface="맑은 고딕"/>
              </a:rPr>
              <a:t>(상태 </a:t>
            </a:r>
            <a:r>
              <a:rPr sz="1050" b="1" spc="-25" dirty="0">
                <a:solidFill>
                  <a:srgbClr val="FFFFFF"/>
                </a:solidFill>
                <a:latin typeface="맑은 고딕"/>
                <a:cs typeface="맑은 고딕"/>
              </a:rPr>
              <a:t>추가)</a:t>
            </a:r>
            <a:endParaRPr sz="1050">
              <a:latin typeface="맑은 고딕"/>
              <a:cs typeface="맑은 고딕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9699497" y="6055410"/>
            <a:ext cx="1524635" cy="234315"/>
          </a:xfrm>
          <a:custGeom>
            <a:avLst/>
            <a:gdLst/>
            <a:ahLst/>
            <a:cxnLst/>
            <a:rect l="l" t="t" r="r" b="b"/>
            <a:pathLst>
              <a:path w="1524634" h="234314">
                <a:moveTo>
                  <a:pt x="1524380" y="0"/>
                </a:moveTo>
                <a:lnTo>
                  <a:pt x="0" y="0"/>
                </a:lnTo>
                <a:lnTo>
                  <a:pt x="0" y="234289"/>
                </a:lnTo>
                <a:lnTo>
                  <a:pt x="1524380" y="234289"/>
                </a:lnTo>
                <a:lnTo>
                  <a:pt x="1524380" y="0"/>
                </a:lnTo>
                <a:close/>
              </a:path>
            </a:pathLst>
          </a:custGeom>
          <a:solidFill>
            <a:srgbClr val="4EA7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9699497" y="6055410"/>
            <a:ext cx="1524635" cy="234315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276860">
              <a:lnSpc>
                <a:spcPct val="100000"/>
              </a:lnSpc>
              <a:spcBef>
                <a:spcPts val="284"/>
              </a:spcBef>
            </a:pPr>
            <a:r>
              <a:rPr sz="1050" b="1" dirty="0">
                <a:solidFill>
                  <a:srgbClr val="FFFFFF"/>
                </a:solidFill>
                <a:latin typeface="맑은 고딕"/>
                <a:cs typeface="맑은 고딕"/>
              </a:rPr>
              <a:t>documents</a:t>
            </a:r>
            <a:r>
              <a:rPr sz="1050" b="1" spc="-3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050" b="1" spc="-25" dirty="0">
                <a:solidFill>
                  <a:srgbClr val="FFFFFF"/>
                </a:solidFill>
                <a:latin typeface="맑은 고딕"/>
                <a:cs typeface="맑은 고딕"/>
              </a:rPr>
              <a:t>상태</a:t>
            </a:r>
            <a:endParaRPr sz="105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MessageGraph</a:t>
            </a:r>
            <a:r>
              <a:rPr spc="-35" dirty="0"/>
              <a:t> </a:t>
            </a:r>
            <a:r>
              <a:rPr spc="-25" dirty="0"/>
              <a:t>개요</a:t>
            </a:r>
          </a:p>
        </p:txBody>
      </p:sp>
      <p:sp>
        <p:nvSpPr>
          <p:cNvPr id="3" name="object 3"/>
          <p:cNvSpPr/>
          <p:nvPr/>
        </p:nvSpPr>
        <p:spPr>
          <a:xfrm>
            <a:off x="500748" y="1756282"/>
            <a:ext cx="10987405" cy="1114425"/>
          </a:xfrm>
          <a:custGeom>
            <a:avLst/>
            <a:gdLst/>
            <a:ahLst/>
            <a:cxnLst/>
            <a:rect l="l" t="t" r="r" b="b"/>
            <a:pathLst>
              <a:path w="10987405" h="1114425">
                <a:moveTo>
                  <a:pt x="10867021" y="0"/>
                </a:moveTo>
                <a:lnTo>
                  <a:pt x="120281" y="0"/>
                </a:lnTo>
                <a:lnTo>
                  <a:pt x="73460" y="9451"/>
                </a:lnTo>
                <a:lnTo>
                  <a:pt x="35228" y="35226"/>
                </a:lnTo>
                <a:lnTo>
                  <a:pt x="9451" y="73455"/>
                </a:lnTo>
                <a:lnTo>
                  <a:pt x="0" y="120268"/>
                </a:lnTo>
                <a:lnTo>
                  <a:pt x="0" y="993647"/>
                </a:lnTo>
                <a:lnTo>
                  <a:pt x="9451" y="1040461"/>
                </a:lnTo>
                <a:lnTo>
                  <a:pt x="35228" y="1078690"/>
                </a:lnTo>
                <a:lnTo>
                  <a:pt x="73460" y="1104465"/>
                </a:lnTo>
                <a:lnTo>
                  <a:pt x="120281" y="1113916"/>
                </a:lnTo>
                <a:lnTo>
                  <a:pt x="10867021" y="1113916"/>
                </a:lnTo>
                <a:lnTo>
                  <a:pt x="10913835" y="1104465"/>
                </a:lnTo>
                <a:lnTo>
                  <a:pt x="10952064" y="1078690"/>
                </a:lnTo>
                <a:lnTo>
                  <a:pt x="10977839" y="1040461"/>
                </a:lnTo>
                <a:lnTo>
                  <a:pt x="10987290" y="993647"/>
                </a:lnTo>
                <a:lnTo>
                  <a:pt x="10987290" y="120268"/>
                </a:lnTo>
                <a:lnTo>
                  <a:pt x="10977839" y="73455"/>
                </a:lnTo>
                <a:lnTo>
                  <a:pt x="10952064" y="35226"/>
                </a:lnTo>
                <a:lnTo>
                  <a:pt x="10913835" y="9451"/>
                </a:lnTo>
                <a:lnTo>
                  <a:pt x="10867021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4883" y="1884934"/>
            <a:ext cx="939546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정의: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LangChain의</a:t>
            </a:r>
            <a:r>
              <a:rPr sz="1800" spc="-3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ChatModel을</a:t>
            </a:r>
            <a:r>
              <a:rPr sz="1800" spc="-2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위한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특수한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형태의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StateGraph</a:t>
            </a:r>
            <a:endParaRPr sz="1800">
              <a:latin typeface="맑은 고딕"/>
              <a:cs typeface="맑은 고딕"/>
            </a:endParaRPr>
          </a:p>
          <a:p>
            <a:pPr marL="172085" indent="-159385">
              <a:lnSpc>
                <a:spcPct val="100000"/>
              </a:lnSpc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특징:</a:t>
            </a:r>
            <a:r>
              <a:rPr sz="18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Message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객체</a:t>
            </a:r>
            <a:r>
              <a:rPr sz="1800" spc="-2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목록(HumanMessage,</a:t>
            </a:r>
            <a:r>
              <a:rPr sz="1800" spc="-4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AIMessage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등)을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입력으로</a:t>
            </a:r>
            <a:r>
              <a:rPr sz="1800" spc="-2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처리</a:t>
            </a:r>
            <a:endParaRPr sz="1800">
              <a:latin typeface="맑은 고딕"/>
              <a:cs typeface="맑은 고딕"/>
            </a:endParaRPr>
          </a:p>
          <a:p>
            <a:pPr marL="172085" indent="-159385">
              <a:lnSpc>
                <a:spcPct val="100000"/>
              </a:lnSpc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목적:</a:t>
            </a:r>
            <a:r>
              <a:rPr sz="18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대화 기록을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효과적으로 관리하고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활용할 수 있음 </a:t>
            </a:r>
            <a:r>
              <a:rPr sz="1400" dirty="0">
                <a:solidFill>
                  <a:srgbClr val="006FC0"/>
                </a:solidFill>
                <a:latin typeface="맑은 고딕"/>
                <a:cs typeface="맑은 고딕"/>
              </a:rPr>
              <a:t>(자연스러운</a:t>
            </a:r>
            <a:r>
              <a:rPr sz="1400" spc="-30" dirty="0">
                <a:solidFill>
                  <a:srgbClr val="006FC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006FC0"/>
                </a:solidFill>
                <a:latin typeface="맑은 고딕"/>
                <a:cs typeface="맑은 고딕"/>
              </a:rPr>
              <a:t>대화</a:t>
            </a:r>
            <a:r>
              <a:rPr sz="1400" spc="-15" dirty="0">
                <a:solidFill>
                  <a:srgbClr val="006FC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006FC0"/>
                </a:solidFill>
                <a:latin typeface="맑은 고딕"/>
                <a:cs typeface="맑은 고딕"/>
              </a:rPr>
              <a:t>흐름,</a:t>
            </a:r>
            <a:r>
              <a:rPr sz="1400" spc="-10" dirty="0">
                <a:solidFill>
                  <a:srgbClr val="006FC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006FC0"/>
                </a:solidFill>
                <a:latin typeface="맑은 고딕"/>
                <a:cs typeface="맑은 고딕"/>
              </a:rPr>
              <a:t>컨텍스트</a:t>
            </a:r>
            <a:r>
              <a:rPr sz="1400" spc="-25" dirty="0">
                <a:solidFill>
                  <a:srgbClr val="006FC0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006FC0"/>
                </a:solidFill>
                <a:latin typeface="맑은 고딕"/>
                <a:cs typeface="맑은 고딕"/>
              </a:rPr>
              <a:t>활용</a:t>
            </a:r>
            <a:r>
              <a:rPr sz="1400" spc="-15" dirty="0">
                <a:solidFill>
                  <a:srgbClr val="006FC0"/>
                </a:solidFill>
                <a:latin typeface="맑은 고딕"/>
                <a:cs typeface="맑은 고딕"/>
              </a:rPr>
              <a:t> </a:t>
            </a:r>
            <a:r>
              <a:rPr sz="1400" spc="-25" dirty="0">
                <a:solidFill>
                  <a:srgbClr val="006FC0"/>
                </a:solidFill>
                <a:latin typeface="맑은 고딕"/>
                <a:cs typeface="맑은 고딕"/>
              </a:rPr>
              <a:t>답변)</a:t>
            </a:r>
            <a:endParaRPr sz="140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5551" y="659638"/>
            <a:ext cx="156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MessageGraph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74283" y="2994786"/>
            <a:ext cx="5457190" cy="3615690"/>
          </a:xfrm>
          <a:custGeom>
            <a:avLst/>
            <a:gdLst/>
            <a:ahLst/>
            <a:cxnLst/>
            <a:rect l="l" t="t" r="r" b="b"/>
            <a:pathLst>
              <a:path w="5457190" h="3615690">
                <a:moveTo>
                  <a:pt x="0" y="198882"/>
                </a:moveTo>
                <a:lnTo>
                  <a:pt x="5251" y="153275"/>
                </a:lnTo>
                <a:lnTo>
                  <a:pt x="20208" y="111411"/>
                </a:lnTo>
                <a:lnTo>
                  <a:pt x="43677" y="74484"/>
                </a:lnTo>
                <a:lnTo>
                  <a:pt x="74461" y="43687"/>
                </a:lnTo>
                <a:lnTo>
                  <a:pt x="111365" y="20211"/>
                </a:lnTo>
                <a:lnTo>
                  <a:pt x="153195" y="5251"/>
                </a:lnTo>
                <a:lnTo>
                  <a:pt x="198754" y="0"/>
                </a:lnTo>
                <a:lnTo>
                  <a:pt x="5258053" y="0"/>
                </a:lnTo>
                <a:lnTo>
                  <a:pt x="5303660" y="5251"/>
                </a:lnTo>
                <a:lnTo>
                  <a:pt x="5345524" y="20211"/>
                </a:lnTo>
                <a:lnTo>
                  <a:pt x="5382451" y="43687"/>
                </a:lnTo>
                <a:lnTo>
                  <a:pt x="5413248" y="74484"/>
                </a:lnTo>
                <a:lnTo>
                  <a:pt x="5436724" y="111411"/>
                </a:lnTo>
                <a:lnTo>
                  <a:pt x="5451684" y="153275"/>
                </a:lnTo>
                <a:lnTo>
                  <a:pt x="5456936" y="198882"/>
                </a:lnTo>
                <a:lnTo>
                  <a:pt x="5456936" y="3416300"/>
                </a:lnTo>
                <a:lnTo>
                  <a:pt x="5451684" y="3461901"/>
                </a:lnTo>
                <a:lnTo>
                  <a:pt x="5436724" y="3503761"/>
                </a:lnTo>
                <a:lnTo>
                  <a:pt x="5413248" y="3540686"/>
                </a:lnTo>
                <a:lnTo>
                  <a:pt x="5382451" y="3571483"/>
                </a:lnTo>
                <a:lnTo>
                  <a:pt x="5345524" y="3594957"/>
                </a:lnTo>
                <a:lnTo>
                  <a:pt x="5303660" y="3609917"/>
                </a:lnTo>
                <a:lnTo>
                  <a:pt x="5258053" y="3615169"/>
                </a:lnTo>
                <a:lnTo>
                  <a:pt x="198754" y="3615169"/>
                </a:lnTo>
                <a:lnTo>
                  <a:pt x="153195" y="3609917"/>
                </a:lnTo>
                <a:lnTo>
                  <a:pt x="111365" y="3594957"/>
                </a:lnTo>
                <a:lnTo>
                  <a:pt x="74461" y="3571483"/>
                </a:lnTo>
                <a:lnTo>
                  <a:pt x="43677" y="3540686"/>
                </a:lnTo>
                <a:lnTo>
                  <a:pt x="20208" y="3503761"/>
                </a:lnTo>
                <a:lnTo>
                  <a:pt x="5251" y="3461901"/>
                </a:lnTo>
                <a:lnTo>
                  <a:pt x="0" y="3416300"/>
                </a:lnTo>
                <a:lnTo>
                  <a:pt x="0" y="198882"/>
                </a:lnTo>
                <a:close/>
              </a:path>
            </a:pathLst>
          </a:custGeom>
          <a:ln w="95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95985" y="2990024"/>
            <a:ext cx="5510530" cy="3625215"/>
            <a:chOff x="495985" y="2990024"/>
            <a:chExt cx="5510530" cy="3625215"/>
          </a:xfrm>
        </p:grpSpPr>
        <p:sp>
          <p:nvSpPr>
            <p:cNvPr id="9" name="object 9"/>
            <p:cNvSpPr/>
            <p:nvPr/>
          </p:nvSpPr>
          <p:spPr>
            <a:xfrm>
              <a:off x="500748" y="2994786"/>
              <a:ext cx="5501005" cy="3615690"/>
            </a:xfrm>
            <a:custGeom>
              <a:avLst/>
              <a:gdLst/>
              <a:ahLst/>
              <a:cxnLst/>
              <a:rect l="l" t="t" r="r" b="b"/>
              <a:pathLst>
                <a:path w="5501005" h="3615690">
                  <a:moveTo>
                    <a:pt x="0" y="198882"/>
                  </a:moveTo>
                  <a:lnTo>
                    <a:pt x="5251" y="153275"/>
                  </a:lnTo>
                  <a:lnTo>
                    <a:pt x="20211" y="111411"/>
                  </a:lnTo>
                  <a:lnTo>
                    <a:pt x="43685" y="74484"/>
                  </a:lnTo>
                  <a:lnTo>
                    <a:pt x="74480" y="43687"/>
                  </a:lnTo>
                  <a:lnTo>
                    <a:pt x="111402" y="20211"/>
                  </a:lnTo>
                  <a:lnTo>
                    <a:pt x="153259" y="5251"/>
                  </a:lnTo>
                  <a:lnTo>
                    <a:pt x="198856" y="0"/>
                  </a:lnTo>
                  <a:lnTo>
                    <a:pt x="5302008" y="0"/>
                  </a:lnTo>
                  <a:lnTo>
                    <a:pt x="5347615" y="5251"/>
                  </a:lnTo>
                  <a:lnTo>
                    <a:pt x="5389478" y="20211"/>
                  </a:lnTo>
                  <a:lnTo>
                    <a:pt x="5426405" y="43687"/>
                  </a:lnTo>
                  <a:lnTo>
                    <a:pt x="5457203" y="74484"/>
                  </a:lnTo>
                  <a:lnTo>
                    <a:pt x="5480678" y="111411"/>
                  </a:lnTo>
                  <a:lnTo>
                    <a:pt x="5495638" y="153275"/>
                  </a:lnTo>
                  <a:lnTo>
                    <a:pt x="5500890" y="198882"/>
                  </a:lnTo>
                  <a:lnTo>
                    <a:pt x="5500890" y="3416300"/>
                  </a:lnTo>
                  <a:lnTo>
                    <a:pt x="5495638" y="3461901"/>
                  </a:lnTo>
                  <a:lnTo>
                    <a:pt x="5480678" y="3503761"/>
                  </a:lnTo>
                  <a:lnTo>
                    <a:pt x="5457203" y="3540686"/>
                  </a:lnTo>
                  <a:lnTo>
                    <a:pt x="5426405" y="3571483"/>
                  </a:lnTo>
                  <a:lnTo>
                    <a:pt x="5389478" y="3594957"/>
                  </a:lnTo>
                  <a:lnTo>
                    <a:pt x="5347615" y="3609917"/>
                  </a:lnTo>
                  <a:lnTo>
                    <a:pt x="5302008" y="3615169"/>
                  </a:lnTo>
                  <a:lnTo>
                    <a:pt x="198856" y="3615169"/>
                  </a:lnTo>
                  <a:lnTo>
                    <a:pt x="153259" y="3609917"/>
                  </a:lnTo>
                  <a:lnTo>
                    <a:pt x="111402" y="3594957"/>
                  </a:lnTo>
                  <a:lnTo>
                    <a:pt x="74480" y="3571483"/>
                  </a:lnTo>
                  <a:lnTo>
                    <a:pt x="43685" y="3540686"/>
                  </a:lnTo>
                  <a:lnTo>
                    <a:pt x="20211" y="3503761"/>
                  </a:lnTo>
                  <a:lnTo>
                    <a:pt x="5251" y="3461901"/>
                  </a:lnTo>
                  <a:lnTo>
                    <a:pt x="0" y="3416300"/>
                  </a:lnTo>
                  <a:lnTo>
                    <a:pt x="0" y="198882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9719" y="3122040"/>
              <a:ext cx="5118100" cy="1892935"/>
            </a:xfrm>
            <a:custGeom>
              <a:avLst/>
              <a:gdLst/>
              <a:ahLst/>
              <a:cxnLst/>
              <a:rect l="l" t="t" r="r" b="b"/>
              <a:pathLst>
                <a:path w="5118100" h="1892935">
                  <a:moveTo>
                    <a:pt x="5118100" y="0"/>
                  </a:moveTo>
                  <a:lnTo>
                    <a:pt x="0" y="0"/>
                  </a:lnTo>
                  <a:lnTo>
                    <a:pt x="0" y="1892807"/>
                  </a:lnTo>
                  <a:lnTo>
                    <a:pt x="5118100" y="1892807"/>
                  </a:lnTo>
                  <a:lnTo>
                    <a:pt x="5118100" y="0"/>
                  </a:lnTo>
                  <a:close/>
                </a:path>
              </a:pathLst>
            </a:custGeom>
            <a:solidFill>
              <a:srgbClr val="FAE2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78560" y="3152343"/>
            <a:ext cx="4880610" cy="1809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맑은 고딕"/>
                <a:cs typeface="맑은 고딕"/>
              </a:rPr>
              <a:t>Messages</a:t>
            </a:r>
            <a:r>
              <a:rPr sz="1400" b="1" spc="-40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State</a:t>
            </a:r>
            <a:r>
              <a:rPr sz="1400" b="1" spc="-55" dirty="0">
                <a:latin typeface="맑은 고딕"/>
                <a:cs typeface="맑은 고딕"/>
              </a:rPr>
              <a:t> </a:t>
            </a:r>
            <a:r>
              <a:rPr sz="1400" b="1" spc="-25" dirty="0">
                <a:latin typeface="맑은 고딕"/>
                <a:cs typeface="맑은 고딕"/>
              </a:rPr>
              <a:t>정의</a:t>
            </a:r>
            <a:endParaRPr sz="1400">
              <a:latin typeface="맑은 고딕"/>
              <a:cs typeface="맑은 고딕"/>
            </a:endParaRPr>
          </a:p>
          <a:p>
            <a:pPr marL="212090" indent="-19939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12090" algn="l"/>
              </a:tabLst>
            </a:pPr>
            <a:r>
              <a:rPr sz="1400" dirty="0">
                <a:latin typeface="맑은 고딕"/>
                <a:cs typeface="맑은 고딕"/>
              </a:rPr>
              <a:t>대화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기록을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그래프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상태에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메시지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목록으로</a:t>
            </a:r>
            <a:r>
              <a:rPr sz="1400" spc="-25" dirty="0">
                <a:latin typeface="맑은 고딕"/>
                <a:cs typeface="맑은 고딕"/>
              </a:rPr>
              <a:t> 저장</a:t>
            </a:r>
            <a:endParaRPr sz="1400">
              <a:latin typeface="맑은 고딕"/>
              <a:cs typeface="맑은 고딕"/>
            </a:endParaRPr>
          </a:p>
          <a:p>
            <a:pPr marL="212090" indent="-199390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212090" algn="l"/>
              </a:tabLst>
            </a:pPr>
            <a:r>
              <a:rPr sz="1400" dirty="0">
                <a:latin typeface="맑은 고딕"/>
                <a:cs typeface="맑은 고딕"/>
              </a:rPr>
              <a:t>Message</a:t>
            </a:r>
            <a:r>
              <a:rPr sz="1400" spc="-4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객체</a:t>
            </a:r>
            <a:r>
              <a:rPr sz="1400" spc="-3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목록을</a:t>
            </a:r>
            <a:r>
              <a:rPr sz="1400" spc="-4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저장하는</a:t>
            </a:r>
            <a:r>
              <a:rPr sz="1400" spc="-35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Consolas"/>
                <a:cs typeface="Consolas"/>
              </a:rPr>
              <a:t>messages</a:t>
            </a:r>
            <a:r>
              <a:rPr sz="1400" b="1" spc="10" dirty="0">
                <a:latin typeface="Consolas"/>
                <a:cs typeface="Consolas"/>
              </a:rPr>
              <a:t> </a:t>
            </a:r>
            <a:r>
              <a:rPr sz="1400" dirty="0">
                <a:latin typeface="맑은 고딕"/>
                <a:cs typeface="맑은 고딕"/>
              </a:rPr>
              <a:t>키를</a:t>
            </a:r>
            <a:r>
              <a:rPr sz="1400" spc="-35" dirty="0">
                <a:latin typeface="맑은 고딕"/>
                <a:cs typeface="맑은 고딕"/>
              </a:rPr>
              <a:t> </a:t>
            </a:r>
            <a:r>
              <a:rPr sz="1400" spc="-25" dirty="0">
                <a:latin typeface="맑은 고딕"/>
                <a:cs typeface="맑은 고딕"/>
              </a:rPr>
              <a:t>추가</a:t>
            </a:r>
            <a:endParaRPr sz="1400">
              <a:latin typeface="맑은 고딕"/>
              <a:cs typeface="맑은 고딕"/>
            </a:endParaRPr>
          </a:p>
          <a:p>
            <a:pPr marL="212090" indent="-199390">
              <a:lnSpc>
                <a:spcPct val="100000"/>
              </a:lnSpc>
              <a:spcBef>
                <a:spcPts val="885"/>
              </a:spcBef>
              <a:buAutoNum type="arabicPeriod"/>
              <a:tabLst>
                <a:tab pos="212090" algn="l"/>
              </a:tabLst>
            </a:pPr>
            <a:r>
              <a:rPr sz="1400" dirty="0">
                <a:latin typeface="맑은 고딕"/>
                <a:cs typeface="맑은 고딕"/>
              </a:rPr>
              <a:t>이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키에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리듀서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함수를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추가하여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메시지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업데이트를</a:t>
            </a:r>
            <a:r>
              <a:rPr sz="1400" spc="-25" dirty="0">
                <a:latin typeface="맑은 고딕"/>
                <a:cs typeface="맑은 고딕"/>
              </a:rPr>
              <a:t> 관리</a:t>
            </a:r>
            <a:endParaRPr sz="1400">
              <a:latin typeface="맑은 고딕"/>
              <a:cs typeface="맑은 고딕"/>
            </a:endParaRPr>
          </a:p>
          <a:p>
            <a:pPr marL="344170" lvl="1" indent="-115570">
              <a:lnSpc>
                <a:spcPct val="100000"/>
              </a:lnSpc>
              <a:spcBef>
                <a:spcPts val="960"/>
              </a:spcBef>
              <a:buChar char="-"/>
              <a:tabLst>
                <a:tab pos="344170" algn="l"/>
              </a:tabLst>
            </a:pPr>
            <a:r>
              <a:rPr sz="1200" spc="-10" dirty="0">
                <a:latin typeface="맑은 고딕"/>
                <a:cs typeface="맑은 고딕"/>
              </a:rPr>
              <a:t>operator.add: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새</a:t>
            </a:r>
            <a:r>
              <a:rPr sz="1200" spc="-3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메시지를</a:t>
            </a:r>
            <a:r>
              <a:rPr sz="1200" spc="-2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기존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목록에</a:t>
            </a:r>
            <a:r>
              <a:rPr sz="1200" spc="-3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단순히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spc="-35" dirty="0">
                <a:latin typeface="맑은 고딕"/>
                <a:cs typeface="맑은 고딕"/>
              </a:rPr>
              <a:t>추가</a:t>
            </a:r>
            <a:endParaRPr sz="1200">
              <a:latin typeface="맑은 고딕"/>
              <a:cs typeface="맑은 고딕"/>
            </a:endParaRPr>
          </a:p>
          <a:p>
            <a:pPr marL="344170" lvl="1" indent="-115570">
              <a:lnSpc>
                <a:spcPct val="100000"/>
              </a:lnSpc>
              <a:buChar char="-"/>
              <a:tabLst>
                <a:tab pos="344170" algn="l"/>
              </a:tabLst>
            </a:pPr>
            <a:r>
              <a:rPr sz="1200" dirty="0">
                <a:latin typeface="맑은 고딕"/>
                <a:cs typeface="맑은 고딕"/>
              </a:rPr>
              <a:t>add_messages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함수:기존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메시지</a:t>
            </a:r>
            <a:r>
              <a:rPr sz="1200" spc="-2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업데이트</a:t>
            </a:r>
            <a:r>
              <a:rPr sz="1200" spc="-2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처리(메시지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ID를</a:t>
            </a:r>
            <a:r>
              <a:rPr sz="1200" spc="-25" dirty="0">
                <a:latin typeface="맑은 고딕"/>
                <a:cs typeface="맑은 고딕"/>
              </a:rPr>
              <a:t> </a:t>
            </a:r>
            <a:r>
              <a:rPr sz="1200" spc="-20" dirty="0">
                <a:latin typeface="맑은 고딕"/>
                <a:cs typeface="맑은 고딕"/>
              </a:rPr>
              <a:t>추적).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9719" y="5087975"/>
            <a:ext cx="5118100" cy="1384935"/>
          </a:xfrm>
          <a:prstGeom prst="rect">
            <a:avLst/>
          </a:prstGeom>
          <a:ln w="6350">
            <a:solidFill>
              <a:srgbClr val="A6A6A6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2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typing</a:t>
            </a:r>
            <a:r>
              <a:rPr sz="1200" spc="-2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20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Annotated</a:t>
            </a:r>
            <a:endParaRPr sz="1200">
              <a:latin typeface="Consolas"/>
              <a:cs typeface="Consolas"/>
            </a:endParaRPr>
          </a:p>
          <a:p>
            <a:pPr marL="91440" marR="981075">
              <a:lnSpc>
                <a:spcPct val="100000"/>
              </a:lnSpc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2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langchain_core.messages</a:t>
            </a:r>
            <a:r>
              <a:rPr sz="1200" spc="-4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2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AnyMessage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200" spc="-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langgraph.graph.message</a:t>
            </a:r>
            <a:r>
              <a:rPr sz="1200" spc="-4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2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add_messages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onsolas"/>
              <a:cs typeface="Consolas"/>
            </a:endParaRPr>
          </a:p>
          <a:p>
            <a:pPr marL="91440">
              <a:lnSpc>
                <a:spcPts val="1435"/>
              </a:lnSpc>
              <a:spcBef>
                <a:spcPts val="5"/>
              </a:spcBef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기본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State</a:t>
            </a:r>
            <a:r>
              <a:rPr sz="120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초기화</a:t>
            </a:r>
            <a:r>
              <a:rPr sz="1200" spc="229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방법을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사용</a:t>
            </a:r>
            <a:endParaRPr sz="1200">
              <a:latin typeface="맑은 고딕"/>
              <a:cs typeface="맑은 고딕"/>
            </a:endParaRPr>
          </a:p>
          <a:p>
            <a:pPr marL="91440">
              <a:lnSpc>
                <a:spcPts val="1435"/>
              </a:lnSpc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2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GraphState(TypedDict):</a:t>
            </a:r>
            <a:endParaRPr sz="1200">
              <a:latin typeface="Consolas"/>
              <a:cs typeface="Consolas"/>
            </a:endParaRPr>
          </a:p>
          <a:p>
            <a:pPr marL="426720">
              <a:lnSpc>
                <a:spcPct val="100000"/>
              </a:lnSpc>
            </a:pPr>
            <a:r>
              <a:rPr sz="1200" b="1" dirty="0">
                <a:latin typeface="Consolas"/>
                <a:cs typeface="Consolas"/>
              </a:rPr>
              <a:t>messages</a:t>
            </a:r>
            <a:r>
              <a:rPr sz="1200" dirty="0">
                <a:latin typeface="Consolas"/>
                <a:cs typeface="Consolas"/>
              </a:rPr>
              <a:t>:</a:t>
            </a:r>
            <a:r>
              <a:rPr sz="1200" spc="15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Annotated[list[AnyMessage],</a:t>
            </a:r>
            <a:r>
              <a:rPr sz="1200" spc="10" dirty="0">
                <a:latin typeface="Consolas"/>
                <a:cs typeface="Consolas"/>
              </a:rPr>
              <a:t> </a:t>
            </a:r>
            <a:r>
              <a:rPr sz="1200" b="1" spc="-10" dirty="0">
                <a:latin typeface="Consolas"/>
                <a:cs typeface="Consolas"/>
              </a:rPr>
              <a:t>add_messages</a:t>
            </a:r>
            <a:r>
              <a:rPr sz="1200" spc="-10" dirty="0">
                <a:latin typeface="Consolas"/>
                <a:cs typeface="Consolas"/>
              </a:rPr>
              <a:t>]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46748" y="3227209"/>
            <a:ext cx="5112385" cy="2493010"/>
          </a:xfrm>
          <a:prstGeom prst="rect">
            <a:avLst/>
          </a:prstGeom>
          <a:ln w="9525">
            <a:solidFill>
              <a:srgbClr val="A6A6A6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LangGraph</a:t>
            </a:r>
            <a:r>
              <a:rPr sz="12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MessagesState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라는</a:t>
            </a:r>
            <a:r>
              <a:rPr sz="1200" spc="24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미리</a:t>
            </a:r>
            <a:r>
              <a:rPr sz="1200" spc="22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만들어진</a:t>
            </a:r>
            <a:r>
              <a:rPr sz="1200" spc="21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상태를</a:t>
            </a:r>
            <a:r>
              <a:rPr sz="1200" spc="204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사용</a:t>
            </a:r>
            <a:endParaRPr sz="1200">
              <a:latin typeface="맑은 고딕"/>
              <a:cs typeface="맑은 고딕"/>
            </a:endParaRPr>
          </a:p>
          <a:p>
            <a:pPr marL="92075" marR="1563370">
              <a:lnSpc>
                <a:spcPct val="100000"/>
              </a:lnSpc>
              <a:spcBef>
                <a:spcPts val="1430"/>
              </a:spcBef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2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langgraph.graph</a:t>
            </a:r>
            <a:r>
              <a:rPr sz="1200" spc="-3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2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MessagesState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2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typing</a:t>
            </a:r>
            <a:r>
              <a:rPr sz="1200" spc="-1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2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latin typeface="Consolas"/>
                <a:cs typeface="Consolas"/>
              </a:rPr>
              <a:t>List</a:t>
            </a:r>
            <a:endParaRPr sz="12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2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langchain_core.documents</a:t>
            </a:r>
            <a:r>
              <a:rPr sz="1200" spc="-4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2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Document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Consolas"/>
              <a:cs typeface="Consolas"/>
            </a:endParaRPr>
          </a:p>
          <a:p>
            <a:pPr marR="2228215"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2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GraphState(</a:t>
            </a:r>
            <a:r>
              <a:rPr sz="1200" b="1" spc="-10" dirty="0">
                <a:latin typeface="Consolas"/>
                <a:cs typeface="Consolas"/>
              </a:rPr>
              <a:t>MessagesState</a:t>
            </a:r>
            <a:r>
              <a:rPr sz="1200" spc="-10" dirty="0">
                <a:latin typeface="Consolas"/>
                <a:cs typeface="Consolas"/>
              </a:rPr>
              <a:t>):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onsolas"/>
              <a:cs typeface="Consolas"/>
            </a:endParaRPr>
          </a:p>
          <a:p>
            <a:pPr marR="2237105"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messages</a:t>
            </a:r>
            <a:r>
              <a:rPr sz="1200" spc="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키는</a:t>
            </a:r>
            <a:r>
              <a:rPr sz="1200" spc="22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기본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제공</a:t>
            </a:r>
            <a:endParaRPr sz="1200">
              <a:latin typeface="맑은 고딕"/>
              <a:cs typeface="맑은 고딕"/>
            </a:endParaRPr>
          </a:p>
          <a:p>
            <a:pPr marL="428625">
              <a:lnSpc>
                <a:spcPts val="1435"/>
              </a:lnSpc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다른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키를</a:t>
            </a:r>
            <a:r>
              <a:rPr sz="1200" spc="254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추가하고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싶을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경우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아래</a:t>
            </a:r>
            <a:r>
              <a:rPr sz="1200" spc="25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주석과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같이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적용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가능</a:t>
            </a:r>
            <a:endParaRPr sz="1200">
              <a:latin typeface="맑은 고딕"/>
              <a:cs typeface="맑은 고딕"/>
            </a:endParaRPr>
          </a:p>
          <a:p>
            <a:pPr marL="427355" marR="2574290">
              <a:lnSpc>
                <a:spcPts val="1440"/>
              </a:lnSpc>
              <a:spcBef>
                <a:spcPts val="40"/>
              </a:spcBef>
            </a:pPr>
            <a:r>
              <a:rPr sz="1200" dirty="0">
                <a:latin typeface="Consolas"/>
                <a:cs typeface="Consolas"/>
              </a:rPr>
              <a:t>documents:</a:t>
            </a:r>
            <a:r>
              <a:rPr sz="1200" spc="-5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List[Document] </a:t>
            </a:r>
            <a:r>
              <a:rPr sz="1200" dirty="0">
                <a:latin typeface="Consolas"/>
                <a:cs typeface="Consolas"/>
              </a:rPr>
              <a:t>grade:</a:t>
            </a:r>
            <a:r>
              <a:rPr sz="1200" spc="-3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float </a:t>
            </a:r>
            <a:r>
              <a:rPr sz="1200" dirty="0">
                <a:latin typeface="Consolas"/>
                <a:cs typeface="Consolas"/>
              </a:rPr>
              <a:t>num_generation:</a:t>
            </a:r>
            <a:r>
              <a:rPr sz="1200" spc="-55" dirty="0">
                <a:latin typeface="Consolas"/>
                <a:cs typeface="Consolas"/>
              </a:rPr>
              <a:t> </a:t>
            </a:r>
            <a:r>
              <a:rPr sz="1200" spc="-25" dirty="0">
                <a:latin typeface="Consolas"/>
                <a:cs typeface="Consolas"/>
              </a:rPr>
              <a:t>int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85103" y="5877255"/>
            <a:ext cx="4607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맑은 고딕"/>
                <a:cs typeface="맑은 고딕"/>
              </a:rPr>
              <a:t>주의사항:</a:t>
            </a:r>
            <a:endParaRPr sz="1000">
              <a:latin typeface="맑은 고딕"/>
              <a:cs typeface="맑은 고딕"/>
            </a:endParaRPr>
          </a:p>
          <a:p>
            <a:pPr marL="183515" indent="-170815">
              <a:lnSpc>
                <a:spcPct val="100000"/>
              </a:lnSpc>
              <a:spcBef>
                <a:spcPts val="5"/>
              </a:spcBef>
              <a:buChar char="-"/>
              <a:tabLst>
                <a:tab pos="183515" algn="l"/>
              </a:tabLst>
            </a:pPr>
            <a:r>
              <a:rPr sz="1000" dirty="0">
                <a:latin typeface="맑은 고딕"/>
                <a:cs typeface="맑은 고딕"/>
              </a:rPr>
              <a:t>메모리</a:t>
            </a:r>
            <a:r>
              <a:rPr sz="1000" spc="-2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관리:</a:t>
            </a:r>
            <a:r>
              <a:rPr sz="1000" spc="-2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대화</a:t>
            </a:r>
            <a:r>
              <a:rPr sz="1000" spc="-2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기록이</a:t>
            </a:r>
            <a:r>
              <a:rPr sz="1000" spc="-2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길어질</a:t>
            </a:r>
            <a:r>
              <a:rPr sz="1000" spc="-2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경우</a:t>
            </a:r>
            <a:r>
              <a:rPr sz="1000" spc="-2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오래된</a:t>
            </a:r>
            <a:r>
              <a:rPr sz="1000" spc="-2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메시지를</a:t>
            </a:r>
            <a:r>
              <a:rPr sz="1000" spc="-2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제거하는</a:t>
            </a:r>
            <a:r>
              <a:rPr sz="1000" spc="-1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로직을</a:t>
            </a:r>
            <a:r>
              <a:rPr sz="1000" spc="-25" dirty="0">
                <a:latin typeface="맑은 고딕"/>
                <a:cs typeface="맑은 고딕"/>
              </a:rPr>
              <a:t> 추가</a:t>
            </a:r>
            <a:endParaRPr sz="1000">
              <a:latin typeface="맑은 고딕"/>
              <a:cs typeface="맑은 고딕"/>
            </a:endParaRPr>
          </a:p>
          <a:p>
            <a:pPr marL="183515" indent="-170815">
              <a:lnSpc>
                <a:spcPct val="100000"/>
              </a:lnSpc>
              <a:buChar char="-"/>
              <a:tabLst>
                <a:tab pos="183515" algn="l"/>
              </a:tabLst>
            </a:pPr>
            <a:r>
              <a:rPr sz="1000" dirty="0">
                <a:latin typeface="맑은 고딕"/>
                <a:cs typeface="맑은 고딕"/>
              </a:rPr>
              <a:t>프라이버시:</a:t>
            </a:r>
            <a:r>
              <a:rPr sz="1000" spc="-1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민감한</a:t>
            </a:r>
            <a:r>
              <a:rPr sz="1000" spc="-3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정보가</a:t>
            </a:r>
            <a:r>
              <a:rPr sz="1000" spc="-3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포함된</a:t>
            </a:r>
            <a:r>
              <a:rPr sz="1000" spc="-3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메시지는</a:t>
            </a:r>
            <a:r>
              <a:rPr sz="1000" spc="-1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적절히</a:t>
            </a:r>
            <a:r>
              <a:rPr sz="1000" spc="-30" dirty="0">
                <a:latin typeface="맑은 고딕"/>
                <a:cs typeface="맑은 고딕"/>
              </a:rPr>
              <a:t> </a:t>
            </a:r>
            <a:r>
              <a:rPr sz="1000" spc="-25" dirty="0">
                <a:latin typeface="맑은 고딕"/>
                <a:cs typeface="맑은 고딕"/>
              </a:rPr>
              <a:t>처리</a:t>
            </a:r>
            <a:endParaRPr sz="1000">
              <a:latin typeface="맑은 고딕"/>
              <a:cs typeface="맑은 고딕"/>
            </a:endParaRPr>
          </a:p>
          <a:p>
            <a:pPr marL="183515" indent="-170815">
              <a:lnSpc>
                <a:spcPct val="100000"/>
              </a:lnSpc>
              <a:buChar char="-"/>
              <a:tabLst>
                <a:tab pos="183515" algn="l"/>
              </a:tabLst>
            </a:pPr>
            <a:r>
              <a:rPr sz="1000" dirty="0">
                <a:latin typeface="맑은 고딕"/>
                <a:cs typeface="맑은 고딕"/>
              </a:rPr>
              <a:t>성능</a:t>
            </a:r>
            <a:r>
              <a:rPr sz="1000" spc="-2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최적화:</a:t>
            </a:r>
            <a:r>
              <a:rPr sz="1000" spc="-1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메시지</a:t>
            </a:r>
            <a:r>
              <a:rPr sz="1000" spc="-2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처리</a:t>
            </a:r>
            <a:r>
              <a:rPr sz="1000" spc="-2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로직이</a:t>
            </a:r>
            <a:r>
              <a:rPr sz="1000" spc="-2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복잡해질</a:t>
            </a:r>
            <a:r>
              <a:rPr sz="1000" spc="-2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경우</a:t>
            </a:r>
            <a:r>
              <a:rPr sz="1000" spc="-2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성능</a:t>
            </a:r>
            <a:r>
              <a:rPr sz="1000" spc="-2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최적화</a:t>
            </a:r>
            <a:r>
              <a:rPr sz="1000" spc="-20" dirty="0">
                <a:latin typeface="맑은 고딕"/>
                <a:cs typeface="맑은 고딕"/>
              </a:rPr>
              <a:t> </a:t>
            </a:r>
            <a:r>
              <a:rPr sz="1000" spc="-25" dirty="0">
                <a:latin typeface="맑은 고딕"/>
                <a:cs typeface="맑은 고딕"/>
              </a:rPr>
              <a:t>필요</a:t>
            </a:r>
            <a:endParaRPr sz="1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dirty="0"/>
              <a:t>조건부</a:t>
            </a:r>
            <a:r>
              <a:rPr spc="-20" dirty="0"/>
              <a:t> </a:t>
            </a:r>
            <a:r>
              <a:rPr dirty="0"/>
              <a:t>엣지(Edge)를</a:t>
            </a:r>
            <a:r>
              <a:rPr spc="-35" dirty="0"/>
              <a:t> </a:t>
            </a:r>
            <a:r>
              <a:rPr spc="-25" dirty="0"/>
              <a:t>활용 </a:t>
            </a:r>
            <a:r>
              <a:rPr dirty="0"/>
              <a:t>반복(Iteration/</a:t>
            </a:r>
            <a:r>
              <a:rPr spc="-120" dirty="0"/>
              <a:t> </a:t>
            </a:r>
            <a:r>
              <a:rPr dirty="0"/>
              <a:t>Feedback</a:t>
            </a:r>
            <a:r>
              <a:rPr spc="-90" dirty="0"/>
              <a:t> </a:t>
            </a:r>
            <a:r>
              <a:rPr spc="-10" dirty="0"/>
              <a:t>Loop)</a:t>
            </a:r>
          </a:p>
        </p:txBody>
      </p:sp>
      <p:sp>
        <p:nvSpPr>
          <p:cNvPr id="3" name="object 3"/>
          <p:cNvSpPr/>
          <p:nvPr/>
        </p:nvSpPr>
        <p:spPr>
          <a:xfrm>
            <a:off x="500748" y="1756282"/>
            <a:ext cx="10987405" cy="1114425"/>
          </a:xfrm>
          <a:custGeom>
            <a:avLst/>
            <a:gdLst/>
            <a:ahLst/>
            <a:cxnLst/>
            <a:rect l="l" t="t" r="r" b="b"/>
            <a:pathLst>
              <a:path w="10987405" h="1114425">
                <a:moveTo>
                  <a:pt x="10867021" y="0"/>
                </a:moveTo>
                <a:lnTo>
                  <a:pt x="120281" y="0"/>
                </a:lnTo>
                <a:lnTo>
                  <a:pt x="73460" y="9451"/>
                </a:lnTo>
                <a:lnTo>
                  <a:pt x="35228" y="35226"/>
                </a:lnTo>
                <a:lnTo>
                  <a:pt x="9451" y="73455"/>
                </a:lnTo>
                <a:lnTo>
                  <a:pt x="0" y="120268"/>
                </a:lnTo>
                <a:lnTo>
                  <a:pt x="0" y="993647"/>
                </a:lnTo>
                <a:lnTo>
                  <a:pt x="9451" y="1040461"/>
                </a:lnTo>
                <a:lnTo>
                  <a:pt x="35228" y="1078690"/>
                </a:lnTo>
                <a:lnTo>
                  <a:pt x="73460" y="1104465"/>
                </a:lnTo>
                <a:lnTo>
                  <a:pt x="120281" y="1113916"/>
                </a:lnTo>
                <a:lnTo>
                  <a:pt x="10867021" y="1113916"/>
                </a:lnTo>
                <a:lnTo>
                  <a:pt x="10913835" y="1104465"/>
                </a:lnTo>
                <a:lnTo>
                  <a:pt x="10952064" y="1078690"/>
                </a:lnTo>
                <a:lnTo>
                  <a:pt x="10977839" y="1040461"/>
                </a:lnTo>
                <a:lnTo>
                  <a:pt x="10987290" y="993647"/>
                </a:lnTo>
                <a:lnTo>
                  <a:pt x="10987290" y="120268"/>
                </a:lnTo>
                <a:lnTo>
                  <a:pt x="10977839" y="73455"/>
                </a:lnTo>
                <a:lnTo>
                  <a:pt x="10952064" y="35226"/>
                </a:lnTo>
                <a:lnTo>
                  <a:pt x="10913835" y="9451"/>
                </a:lnTo>
                <a:lnTo>
                  <a:pt x="10867021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4883" y="1884934"/>
            <a:ext cx="83966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조건부 엣지를 활용하여</a:t>
            </a:r>
            <a:r>
              <a:rPr sz="1800" spc="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반복적인 작업을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수행하는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그래프</a:t>
            </a:r>
            <a:endParaRPr sz="1800">
              <a:latin typeface="맑은 고딕"/>
              <a:cs typeface="맑은 고딕"/>
            </a:endParaRPr>
          </a:p>
          <a:p>
            <a:pPr marL="172085" indent="-159385">
              <a:lnSpc>
                <a:spcPct val="100000"/>
              </a:lnSpc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평가 결과를 바탕으로</a:t>
            </a:r>
            <a:r>
              <a:rPr sz="1800" spc="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다시 응답을 생성하는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과정이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반복</a:t>
            </a:r>
            <a:endParaRPr sz="1800">
              <a:latin typeface="맑은 고딕"/>
              <a:cs typeface="맑은 고딕"/>
            </a:endParaRPr>
          </a:p>
          <a:p>
            <a:pPr marL="172085" indent="-159385">
              <a:lnSpc>
                <a:spcPct val="100000"/>
              </a:lnSpc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grade_answer에서</a:t>
            </a:r>
            <a:r>
              <a:rPr sz="1800" spc="-2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retrieve_and_respond로</a:t>
            </a:r>
            <a:r>
              <a:rPr sz="1800" spc="-6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돌아가는</a:t>
            </a:r>
            <a:r>
              <a:rPr sz="1800" spc="-4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구조는</a:t>
            </a:r>
            <a:r>
              <a:rPr sz="1800" spc="-3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피드백</a:t>
            </a:r>
            <a:r>
              <a:rPr sz="1800" spc="-3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루프를</a:t>
            </a:r>
            <a:r>
              <a:rPr sz="1800" spc="-4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형성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5551" y="659638"/>
            <a:ext cx="156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MessageGraph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95985" y="2992437"/>
            <a:ext cx="10996930" cy="3622675"/>
            <a:chOff x="495985" y="2992437"/>
            <a:chExt cx="10996930" cy="3622675"/>
          </a:xfrm>
        </p:grpSpPr>
        <p:sp>
          <p:nvSpPr>
            <p:cNvPr id="8" name="object 8"/>
            <p:cNvSpPr/>
            <p:nvPr/>
          </p:nvSpPr>
          <p:spPr>
            <a:xfrm>
              <a:off x="500748" y="2997200"/>
              <a:ext cx="10987405" cy="3613150"/>
            </a:xfrm>
            <a:custGeom>
              <a:avLst/>
              <a:gdLst/>
              <a:ahLst/>
              <a:cxnLst/>
              <a:rect l="l" t="t" r="r" b="b"/>
              <a:pathLst>
                <a:path w="10987405" h="3613150">
                  <a:moveTo>
                    <a:pt x="0" y="198754"/>
                  </a:moveTo>
                  <a:lnTo>
                    <a:pt x="5248" y="153195"/>
                  </a:lnTo>
                  <a:lnTo>
                    <a:pt x="20199" y="111365"/>
                  </a:lnTo>
                  <a:lnTo>
                    <a:pt x="43660" y="74461"/>
                  </a:lnTo>
                  <a:lnTo>
                    <a:pt x="74437" y="43677"/>
                  </a:lnTo>
                  <a:lnTo>
                    <a:pt x="111338" y="20208"/>
                  </a:lnTo>
                  <a:lnTo>
                    <a:pt x="153171" y="5251"/>
                  </a:lnTo>
                  <a:lnTo>
                    <a:pt x="198742" y="0"/>
                  </a:lnTo>
                  <a:lnTo>
                    <a:pt x="10788535" y="0"/>
                  </a:lnTo>
                  <a:lnTo>
                    <a:pt x="10834135" y="5251"/>
                  </a:lnTo>
                  <a:lnTo>
                    <a:pt x="10875980" y="20208"/>
                  </a:lnTo>
                  <a:lnTo>
                    <a:pt x="10912882" y="43677"/>
                  </a:lnTo>
                  <a:lnTo>
                    <a:pt x="10943653" y="74461"/>
                  </a:lnTo>
                  <a:lnTo>
                    <a:pt x="10967103" y="111365"/>
                  </a:lnTo>
                  <a:lnTo>
                    <a:pt x="10982045" y="153195"/>
                  </a:lnTo>
                  <a:lnTo>
                    <a:pt x="10987290" y="198754"/>
                  </a:lnTo>
                  <a:lnTo>
                    <a:pt x="10987290" y="3414014"/>
                  </a:lnTo>
                  <a:lnTo>
                    <a:pt x="10982045" y="3459584"/>
                  </a:lnTo>
                  <a:lnTo>
                    <a:pt x="10967103" y="3501417"/>
                  </a:lnTo>
                  <a:lnTo>
                    <a:pt x="10943653" y="3538318"/>
                  </a:lnTo>
                  <a:lnTo>
                    <a:pt x="10912882" y="3569096"/>
                  </a:lnTo>
                  <a:lnTo>
                    <a:pt x="10875980" y="3592556"/>
                  </a:lnTo>
                  <a:lnTo>
                    <a:pt x="10834135" y="3607507"/>
                  </a:lnTo>
                  <a:lnTo>
                    <a:pt x="10788535" y="3612756"/>
                  </a:lnTo>
                  <a:lnTo>
                    <a:pt x="198742" y="3612756"/>
                  </a:lnTo>
                  <a:lnTo>
                    <a:pt x="153171" y="3607507"/>
                  </a:lnTo>
                  <a:lnTo>
                    <a:pt x="111338" y="3592556"/>
                  </a:lnTo>
                  <a:lnTo>
                    <a:pt x="74437" y="3569096"/>
                  </a:lnTo>
                  <a:lnTo>
                    <a:pt x="43660" y="3538318"/>
                  </a:lnTo>
                  <a:lnTo>
                    <a:pt x="20199" y="3501417"/>
                  </a:lnTo>
                  <a:lnTo>
                    <a:pt x="5248" y="3459584"/>
                  </a:lnTo>
                  <a:lnTo>
                    <a:pt x="0" y="3414014"/>
                  </a:lnTo>
                  <a:lnTo>
                    <a:pt x="0" y="198754"/>
                  </a:lnTo>
                  <a:close/>
                </a:path>
              </a:pathLst>
            </a:custGeom>
            <a:ln w="952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4729" y="3133534"/>
              <a:ext cx="6326632" cy="334008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07711" y="3318090"/>
              <a:ext cx="5787390" cy="1016000"/>
            </a:xfrm>
            <a:custGeom>
              <a:avLst/>
              <a:gdLst/>
              <a:ahLst/>
              <a:cxnLst/>
              <a:rect l="l" t="t" r="r" b="b"/>
              <a:pathLst>
                <a:path w="5787390" h="1016000">
                  <a:moveTo>
                    <a:pt x="5787009" y="0"/>
                  </a:moveTo>
                  <a:lnTo>
                    <a:pt x="0" y="0"/>
                  </a:lnTo>
                  <a:lnTo>
                    <a:pt x="0" y="1015657"/>
                  </a:lnTo>
                  <a:lnTo>
                    <a:pt x="5787009" y="1015657"/>
                  </a:lnTo>
                  <a:lnTo>
                    <a:pt x="5787009" y="0"/>
                  </a:lnTo>
                  <a:close/>
                </a:path>
              </a:pathLst>
            </a:custGeom>
            <a:solidFill>
              <a:srgbClr val="F6C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87085" y="3342894"/>
            <a:ext cx="31394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345" marR="173990" indent="-3352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def</a:t>
            </a:r>
            <a:r>
              <a:rPr sz="12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should_retry(state:</a:t>
            </a:r>
            <a:r>
              <a:rPr sz="1200" spc="-5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GraphState)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12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state[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"grade"</a:t>
            </a:r>
            <a:r>
              <a:rPr sz="1200" dirty="0">
                <a:latin typeface="Consolas"/>
                <a:cs typeface="Consolas"/>
              </a:rPr>
              <a:t>]</a:t>
            </a:r>
            <a:r>
              <a:rPr sz="1200" spc="-3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&lt;</a:t>
            </a:r>
            <a:r>
              <a:rPr sz="1200" spc="-25" dirty="0"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098557"/>
                </a:solidFill>
                <a:latin typeface="Consolas"/>
                <a:cs typeface="Consolas"/>
              </a:rPr>
              <a:t>0.7</a:t>
            </a:r>
            <a:r>
              <a:rPr sz="1200" spc="-20" dirty="0">
                <a:latin typeface="Consolas"/>
                <a:cs typeface="Consolas"/>
              </a:rPr>
              <a:t>:</a:t>
            </a:r>
            <a:endParaRPr sz="1200">
              <a:latin typeface="Consolas"/>
              <a:cs typeface="Consolas"/>
            </a:endParaRPr>
          </a:p>
          <a:p>
            <a:pPr marL="347345" marR="5080" indent="336550">
              <a:lnSpc>
                <a:spcPct val="100000"/>
              </a:lnSpc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2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"retrieve_and_respond" </a:t>
            </a:r>
            <a:r>
              <a:rPr sz="1200" spc="-1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sz="1200" spc="-10" dirty="0">
                <a:latin typeface="Consolas"/>
                <a:cs typeface="Consolas"/>
              </a:rPr>
              <a:t>:</a:t>
            </a:r>
            <a:endParaRPr sz="1200">
              <a:latin typeface="Consolas"/>
              <a:cs typeface="Consolas"/>
            </a:endParaRPr>
          </a:p>
          <a:p>
            <a:pPr marL="684530">
              <a:lnSpc>
                <a:spcPct val="100000"/>
              </a:lnSpc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2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"generate"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07710" y="4540694"/>
            <a:ext cx="5787390" cy="1754505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2075">
              <a:lnSpc>
                <a:spcPts val="1435"/>
              </a:lnSpc>
              <a:spcBef>
                <a:spcPts val="305"/>
              </a:spcBef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조건부</a:t>
            </a:r>
            <a:r>
              <a:rPr sz="1200" spc="25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엣지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추가</a:t>
            </a:r>
            <a:endParaRPr sz="1200">
              <a:latin typeface="맑은 고딕"/>
              <a:cs typeface="맑은 고딕"/>
            </a:endParaRPr>
          </a:p>
          <a:p>
            <a:pPr marL="426720" marR="3164205" indent="-335280">
              <a:lnSpc>
                <a:spcPts val="1440"/>
              </a:lnSpc>
              <a:spcBef>
                <a:spcPts val="45"/>
              </a:spcBef>
            </a:pPr>
            <a:r>
              <a:rPr sz="1200" spc="-10" dirty="0">
                <a:latin typeface="Consolas"/>
                <a:cs typeface="Consolas"/>
              </a:rPr>
              <a:t>builder.add_conditional_edges(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"grade_answer"</a:t>
            </a:r>
            <a:r>
              <a:rPr sz="1200" spc="-10" dirty="0">
                <a:latin typeface="Consolas"/>
                <a:cs typeface="Consolas"/>
              </a:rPr>
              <a:t>, should_retry,</a:t>
            </a:r>
            <a:endParaRPr sz="1200">
              <a:latin typeface="Consolas"/>
              <a:cs typeface="Consolas"/>
            </a:endParaRPr>
          </a:p>
          <a:p>
            <a:pPr marL="426720">
              <a:lnSpc>
                <a:spcPts val="1395"/>
              </a:lnSpc>
            </a:pPr>
            <a:r>
              <a:rPr sz="1200" spc="-50" dirty="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763905" marR="1057910">
              <a:lnSpc>
                <a:spcPct val="100000"/>
              </a:lnSpc>
            </a:pP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"retrieve_and_respond"</a:t>
            </a:r>
            <a:r>
              <a:rPr sz="1200" dirty="0">
                <a:latin typeface="Consolas"/>
                <a:cs typeface="Consolas"/>
              </a:rPr>
              <a:t>:</a:t>
            </a:r>
            <a:r>
              <a:rPr sz="1200" spc="-125" dirty="0"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"retrieve_and_respond"</a:t>
            </a:r>
            <a:r>
              <a:rPr sz="1200" spc="-10" dirty="0">
                <a:latin typeface="Consolas"/>
                <a:cs typeface="Consolas"/>
              </a:rPr>
              <a:t>, </a:t>
            </a:r>
            <a:r>
              <a:rPr sz="1200" dirty="0">
                <a:solidFill>
                  <a:srgbClr val="A21515"/>
                </a:solidFill>
                <a:latin typeface="Consolas"/>
                <a:cs typeface="Consolas"/>
              </a:rPr>
              <a:t>"generate"</a:t>
            </a:r>
            <a:r>
              <a:rPr sz="1200" dirty="0">
                <a:latin typeface="Consolas"/>
                <a:cs typeface="Consolas"/>
              </a:rPr>
              <a:t>:</a:t>
            </a:r>
            <a:r>
              <a:rPr sz="1200" spc="-40" dirty="0">
                <a:latin typeface="Consolas"/>
                <a:cs typeface="Consolas"/>
              </a:rPr>
              <a:t> </a:t>
            </a:r>
            <a:r>
              <a:rPr sz="1200" spc="-25" dirty="0">
                <a:latin typeface="Consolas"/>
                <a:cs typeface="Consolas"/>
              </a:rPr>
              <a:t>END</a:t>
            </a:r>
            <a:endParaRPr sz="1200">
              <a:latin typeface="Consolas"/>
              <a:cs typeface="Consolas"/>
            </a:endParaRPr>
          </a:p>
          <a:p>
            <a:pPr marL="426720">
              <a:lnSpc>
                <a:spcPct val="100000"/>
              </a:lnSpc>
            </a:pPr>
            <a:r>
              <a:rPr sz="1200" spc="-50" dirty="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200" spc="-50" dirty="0"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0"/>
              </a:spcBef>
            </a:pPr>
            <a:r>
              <a:rPr dirty="0"/>
              <a:t>ReAct(Reasoning</a:t>
            </a:r>
            <a:r>
              <a:rPr spc="-155" dirty="0"/>
              <a:t> </a:t>
            </a:r>
            <a:r>
              <a:rPr dirty="0"/>
              <a:t>+</a:t>
            </a:r>
            <a:r>
              <a:rPr spc="-120" dirty="0"/>
              <a:t> </a:t>
            </a:r>
            <a:r>
              <a:rPr spc="-10" dirty="0"/>
              <a:t>Acting)</a:t>
            </a:r>
          </a:p>
          <a:p>
            <a:pPr marL="12700">
              <a:lnSpc>
                <a:spcPts val="3650"/>
              </a:lnSpc>
            </a:pPr>
            <a:r>
              <a:rPr spc="-25" dirty="0"/>
              <a:t>개념</a:t>
            </a:r>
          </a:p>
        </p:txBody>
      </p:sp>
      <p:sp>
        <p:nvSpPr>
          <p:cNvPr id="3" name="object 3"/>
          <p:cNvSpPr/>
          <p:nvPr/>
        </p:nvSpPr>
        <p:spPr>
          <a:xfrm>
            <a:off x="500748" y="1756282"/>
            <a:ext cx="10987405" cy="796925"/>
          </a:xfrm>
          <a:custGeom>
            <a:avLst/>
            <a:gdLst/>
            <a:ahLst/>
            <a:cxnLst/>
            <a:rect l="l" t="t" r="r" b="b"/>
            <a:pathLst>
              <a:path w="10987405" h="796925">
                <a:moveTo>
                  <a:pt x="10901311" y="0"/>
                </a:moveTo>
                <a:lnTo>
                  <a:pt x="86029" y="0"/>
                </a:lnTo>
                <a:lnTo>
                  <a:pt x="52544" y="6754"/>
                </a:lnTo>
                <a:lnTo>
                  <a:pt x="25198" y="25177"/>
                </a:lnTo>
                <a:lnTo>
                  <a:pt x="6760" y="52506"/>
                </a:lnTo>
                <a:lnTo>
                  <a:pt x="0" y="85978"/>
                </a:lnTo>
                <a:lnTo>
                  <a:pt x="0" y="710691"/>
                </a:lnTo>
                <a:lnTo>
                  <a:pt x="6760" y="744164"/>
                </a:lnTo>
                <a:lnTo>
                  <a:pt x="25198" y="771493"/>
                </a:lnTo>
                <a:lnTo>
                  <a:pt x="52544" y="789916"/>
                </a:lnTo>
                <a:lnTo>
                  <a:pt x="86029" y="796670"/>
                </a:lnTo>
                <a:lnTo>
                  <a:pt x="10901311" y="796670"/>
                </a:lnTo>
                <a:lnTo>
                  <a:pt x="10934784" y="789916"/>
                </a:lnTo>
                <a:lnTo>
                  <a:pt x="10962112" y="771493"/>
                </a:lnTo>
                <a:lnTo>
                  <a:pt x="10980535" y="744164"/>
                </a:lnTo>
                <a:lnTo>
                  <a:pt x="10987290" y="710691"/>
                </a:lnTo>
                <a:lnTo>
                  <a:pt x="10987290" y="85978"/>
                </a:lnTo>
                <a:lnTo>
                  <a:pt x="10980535" y="52506"/>
                </a:lnTo>
                <a:lnTo>
                  <a:pt x="10962112" y="25177"/>
                </a:lnTo>
                <a:lnTo>
                  <a:pt x="10934784" y="6754"/>
                </a:lnTo>
                <a:lnTo>
                  <a:pt x="10901311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45551" y="659638"/>
            <a:ext cx="61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ReAct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0748" y="2713354"/>
            <a:ext cx="5501005" cy="3796665"/>
          </a:xfrm>
          <a:custGeom>
            <a:avLst/>
            <a:gdLst/>
            <a:ahLst/>
            <a:cxnLst/>
            <a:rect l="l" t="t" r="r" b="b"/>
            <a:pathLst>
              <a:path w="5501005" h="3796665">
                <a:moveTo>
                  <a:pt x="0" y="208915"/>
                </a:moveTo>
                <a:lnTo>
                  <a:pt x="5515" y="160993"/>
                </a:lnTo>
                <a:lnTo>
                  <a:pt x="21226" y="117012"/>
                </a:lnTo>
                <a:lnTo>
                  <a:pt x="45879" y="78223"/>
                </a:lnTo>
                <a:lnTo>
                  <a:pt x="78221" y="45876"/>
                </a:lnTo>
                <a:lnTo>
                  <a:pt x="117000" y="21223"/>
                </a:lnTo>
                <a:lnTo>
                  <a:pt x="160961" y="5514"/>
                </a:lnTo>
                <a:lnTo>
                  <a:pt x="208851" y="0"/>
                </a:lnTo>
                <a:lnTo>
                  <a:pt x="5292102" y="0"/>
                </a:lnTo>
                <a:lnTo>
                  <a:pt x="5339977" y="5514"/>
                </a:lnTo>
                <a:lnTo>
                  <a:pt x="5383924" y="21223"/>
                </a:lnTo>
                <a:lnTo>
                  <a:pt x="5422691" y="45876"/>
                </a:lnTo>
                <a:lnTo>
                  <a:pt x="5455024" y="78223"/>
                </a:lnTo>
                <a:lnTo>
                  <a:pt x="5479670" y="117012"/>
                </a:lnTo>
                <a:lnTo>
                  <a:pt x="5495376" y="160993"/>
                </a:lnTo>
                <a:lnTo>
                  <a:pt x="5500890" y="208915"/>
                </a:lnTo>
                <a:lnTo>
                  <a:pt x="5500890" y="3587750"/>
                </a:lnTo>
                <a:lnTo>
                  <a:pt x="5495376" y="3635636"/>
                </a:lnTo>
                <a:lnTo>
                  <a:pt x="5479670" y="3679595"/>
                </a:lnTo>
                <a:lnTo>
                  <a:pt x="5455024" y="3718374"/>
                </a:lnTo>
                <a:lnTo>
                  <a:pt x="5422691" y="3750717"/>
                </a:lnTo>
                <a:lnTo>
                  <a:pt x="5383924" y="3775372"/>
                </a:lnTo>
                <a:lnTo>
                  <a:pt x="5339977" y="3791085"/>
                </a:lnTo>
                <a:lnTo>
                  <a:pt x="5292102" y="3796601"/>
                </a:lnTo>
                <a:lnTo>
                  <a:pt x="208851" y="3796601"/>
                </a:lnTo>
                <a:lnTo>
                  <a:pt x="160961" y="3791085"/>
                </a:lnTo>
                <a:lnTo>
                  <a:pt x="117000" y="3775372"/>
                </a:lnTo>
                <a:lnTo>
                  <a:pt x="78221" y="3750717"/>
                </a:lnTo>
                <a:lnTo>
                  <a:pt x="45879" y="3718374"/>
                </a:lnTo>
                <a:lnTo>
                  <a:pt x="21226" y="3679595"/>
                </a:lnTo>
                <a:lnTo>
                  <a:pt x="5515" y="3635636"/>
                </a:lnTo>
                <a:lnTo>
                  <a:pt x="0" y="3587750"/>
                </a:lnTo>
                <a:lnTo>
                  <a:pt x="0" y="208915"/>
                </a:lnTo>
                <a:close/>
              </a:path>
            </a:pathLst>
          </a:custGeom>
          <a:ln w="95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74283" y="2713354"/>
            <a:ext cx="5457190" cy="3796665"/>
          </a:xfrm>
          <a:custGeom>
            <a:avLst/>
            <a:gdLst/>
            <a:ahLst/>
            <a:cxnLst/>
            <a:rect l="l" t="t" r="r" b="b"/>
            <a:pathLst>
              <a:path w="5457190" h="3796665">
                <a:moveTo>
                  <a:pt x="0" y="208915"/>
                </a:moveTo>
                <a:lnTo>
                  <a:pt x="5513" y="160993"/>
                </a:lnTo>
                <a:lnTo>
                  <a:pt x="21220" y="117012"/>
                </a:lnTo>
                <a:lnTo>
                  <a:pt x="45866" y="78223"/>
                </a:lnTo>
                <a:lnTo>
                  <a:pt x="78199" y="45876"/>
                </a:lnTo>
                <a:lnTo>
                  <a:pt x="116965" y="21223"/>
                </a:lnTo>
                <a:lnTo>
                  <a:pt x="160913" y="5514"/>
                </a:lnTo>
                <a:lnTo>
                  <a:pt x="208787" y="0"/>
                </a:lnTo>
                <a:lnTo>
                  <a:pt x="5248147" y="0"/>
                </a:lnTo>
                <a:lnTo>
                  <a:pt x="5296022" y="5514"/>
                </a:lnTo>
                <a:lnTo>
                  <a:pt x="5339970" y="21223"/>
                </a:lnTo>
                <a:lnTo>
                  <a:pt x="5378736" y="45876"/>
                </a:lnTo>
                <a:lnTo>
                  <a:pt x="5411069" y="78223"/>
                </a:lnTo>
                <a:lnTo>
                  <a:pt x="5435715" y="117012"/>
                </a:lnTo>
                <a:lnTo>
                  <a:pt x="5451422" y="160993"/>
                </a:lnTo>
                <a:lnTo>
                  <a:pt x="5456936" y="208915"/>
                </a:lnTo>
                <a:lnTo>
                  <a:pt x="5456936" y="3587750"/>
                </a:lnTo>
                <a:lnTo>
                  <a:pt x="5451422" y="3635636"/>
                </a:lnTo>
                <a:lnTo>
                  <a:pt x="5435715" y="3679595"/>
                </a:lnTo>
                <a:lnTo>
                  <a:pt x="5411069" y="3718374"/>
                </a:lnTo>
                <a:lnTo>
                  <a:pt x="5378736" y="3750717"/>
                </a:lnTo>
                <a:lnTo>
                  <a:pt x="5339970" y="3775372"/>
                </a:lnTo>
                <a:lnTo>
                  <a:pt x="5296022" y="3791085"/>
                </a:lnTo>
                <a:lnTo>
                  <a:pt x="5248147" y="3796601"/>
                </a:lnTo>
                <a:lnTo>
                  <a:pt x="208787" y="3796601"/>
                </a:lnTo>
                <a:lnTo>
                  <a:pt x="160913" y="3791085"/>
                </a:lnTo>
                <a:lnTo>
                  <a:pt x="116965" y="3775372"/>
                </a:lnTo>
                <a:lnTo>
                  <a:pt x="78199" y="3750717"/>
                </a:lnTo>
                <a:lnTo>
                  <a:pt x="45866" y="3718374"/>
                </a:lnTo>
                <a:lnTo>
                  <a:pt x="21220" y="3679595"/>
                </a:lnTo>
                <a:lnTo>
                  <a:pt x="5513" y="3635636"/>
                </a:lnTo>
                <a:lnTo>
                  <a:pt x="0" y="3587750"/>
                </a:lnTo>
                <a:lnTo>
                  <a:pt x="0" y="208915"/>
                </a:lnTo>
                <a:close/>
              </a:path>
            </a:pathLst>
          </a:custGeom>
          <a:ln w="95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4824" y="1863039"/>
            <a:ext cx="9608820" cy="4836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정의:</a:t>
            </a:r>
            <a:r>
              <a:rPr sz="1800" spc="-3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ReAct는</a:t>
            </a:r>
            <a:r>
              <a:rPr sz="1800" spc="-4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'추론(Reasoning)'과</a:t>
            </a:r>
            <a:r>
              <a:rPr sz="1800" spc="-7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'행동(Acting)'을</a:t>
            </a:r>
            <a:r>
              <a:rPr sz="1800" spc="-7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결합한</a:t>
            </a:r>
            <a:r>
              <a:rPr sz="1800" spc="-5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접근</a:t>
            </a:r>
            <a:r>
              <a:rPr sz="1800" spc="-5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방식</a:t>
            </a:r>
            <a:endParaRPr sz="1800">
              <a:latin typeface="맑은 고딕"/>
              <a:cs typeface="맑은 고딕"/>
            </a:endParaRPr>
          </a:p>
          <a:p>
            <a:pPr marL="172085" indent="-1593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목적:</a:t>
            </a:r>
            <a:r>
              <a:rPr sz="18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LLM이</a:t>
            </a:r>
            <a:r>
              <a:rPr sz="18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단순히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텍스트를 생성하는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것을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넘어,</a:t>
            </a:r>
            <a:r>
              <a:rPr sz="1800" spc="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환경과 상호작용하며</a:t>
            </a:r>
            <a:r>
              <a:rPr sz="1800" spc="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0D0D0D"/>
                </a:solidFill>
                <a:latin typeface="맑은 고딕"/>
                <a:cs typeface="맑은 고딕"/>
              </a:rPr>
              <a:t>복잡한 작업을</a:t>
            </a:r>
            <a:r>
              <a:rPr sz="18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맑은 고딕"/>
                <a:cs typeface="맑은 고딕"/>
              </a:rPr>
              <a:t>수행</a:t>
            </a:r>
            <a:endParaRPr sz="1800">
              <a:latin typeface="맑은 고딕"/>
              <a:cs typeface="맑은 고딕"/>
            </a:endParaRPr>
          </a:p>
          <a:p>
            <a:pPr marL="186055">
              <a:lnSpc>
                <a:spcPct val="100000"/>
              </a:lnSpc>
              <a:spcBef>
                <a:spcPts val="3110"/>
              </a:spcBef>
            </a:pPr>
            <a:r>
              <a:rPr sz="1400" b="1" spc="-10" dirty="0">
                <a:latin typeface="맑은 고딕"/>
                <a:cs typeface="맑은 고딕"/>
              </a:rPr>
              <a:t>ReAct(Reasoning</a:t>
            </a:r>
            <a:r>
              <a:rPr sz="1400" b="1" spc="-20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+</a:t>
            </a:r>
            <a:r>
              <a:rPr sz="1400" b="1" spc="-10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Acting)</a:t>
            </a:r>
            <a:r>
              <a:rPr sz="1400" b="1" spc="-15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동작</a:t>
            </a:r>
            <a:r>
              <a:rPr sz="1400" b="1" spc="-15" dirty="0">
                <a:latin typeface="맑은 고딕"/>
                <a:cs typeface="맑은 고딕"/>
              </a:rPr>
              <a:t> </a:t>
            </a:r>
            <a:r>
              <a:rPr sz="1400" b="1" spc="-25" dirty="0">
                <a:latin typeface="맑은 고딕"/>
                <a:cs typeface="맑은 고딕"/>
              </a:rPr>
              <a:t>방식</a:t>
            </a:r>
            <a:endParaRPr sz="1400">
              <a:latin typeface="맑은 고딕"/>
              <a:cs typeface="맑은 고딕"/>
            </a:endParaRPr>
          </a:p>
          <a:p>
            <a:pPr marL="396240" lvl="1" indent="-21018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396240" algn="l"/>
              </a:tabLst>
            </a:pPr>
            <a:r>
              <a:rPr sz="1400" b="1" dirty="0">
                <a:latin typeface="맑은 고딕"/>
                <a:cs typeface="맑은 고딕"/>
              </a:rPr>
              <a:t>행동</a:t>
            </a:r>
            <a:r>
              <a:rPr sz="1400" b="1" spc="-15" dirty="0">
                <a:latin typeface="맑은 고딕"/>
                <a:cs typeface="맑은 고딕"/>
              </a:rPr>
              <a:t> </a:t>
            </a:r>
            <a:r>
              <a:rPr sz="1400" b="1" spc="-10" dirty="0">
                <a:latin typeface="맑은 고딕"/>
                <a:cs typeface="맑은 고딕"/>
              </a:rPr>
              <a:t>(Act):</a:t>
            </a:r>
            <a:endParaRPr sz="1400">
              <a:latin typeface="맑은 고딕"/>
              <a:cs typeface="맑은 고딕"/>
            </a:endParaRPr>
          </a:p>
          <a:p>
            <a:pPr marL="929640" lvl="2" indent="-286385">
              <a:lnSpc>
                <a:spcPct val="100000"/>
              </a:lnSpc>
              <a:buFont typeface="Arial"/>
              <a:buChar char="•"/>
              <a:tabLst>
                <a:tab pos="929640" algn="l"/>
              </a:tabLst>
            </a:pPr>
            <a:r>
              <a:rPr sz="1400" dirty="0">
                <a:latin typeface="맑은 고딕"/>
                <a:cs typeface="맑은 고딕"/>
              </a:rPr>
              <a:t>모델이</a:t>
            </a:r>
            <a:r>
              <a:rPr sz="1400" spc="-1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주어진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상황을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분석하고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적절한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도구를</a:t>
            </a:r>
            <a:r>
              <a:rPr sz="1400" spc="-25" dirty="0">
                <a:latin typeface="맑은 고딕"/>
                <a:cs typeface="맑은 고딕"/>
              </a:rPr>
              <a:t> 선택</a:t>
            </a:r>
            <a:endParaRPr sz="1400">
              <a:latin typeface="맑은 고딕"/>
              <a:cs typeface="맑은 고딕"/>
            </a:endParaRPr>
          </a:p>
          <a:p>
            <a:pPr marL="929640" lvl="2" indent="-286385">
              <a:lnSpc>
                <a:spcPct val="100000"/>
              </a:lnSpc>
              <a:buFont typeface="Arial"/>
              <a:buChar char="•"/>
              <a:tabLst>
                <a:tab pos="929640" algn="l"/>
              </a:tabLst>
            </a:pPr>
            <a:r>
              <a:rPr sz="1400" dirty="0">
                <a:latin typeface="맑은 고딕"/>
                <a:cs typeface="맑은 고딕"/>
              </a:rPr>
              <a:t>선택한</a:t>
            </a:r>
            <a:r>
              <a:rPr sz="1400" spc="-1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도구를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호출하고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필요한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입력을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spc="-25" dirty="0">
                <a:latin typeface="맑은 고딕"/>
                <a:cs typeface="맑은 고딕"/>
              </a:rPr>
              <a:t>제공</a:t>
            </a:r>
            <a:endParaRPr sz="1400">
              <a:latin typeface="맑은 고딕"/>
              <a:cs typeface="맑은 고딕"/>
            </a:endParaRPr>
          </a:p>
          <a:p>
            <a:pPr marL="334645" lvl="1" indent="-16192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334645" algn="l"/>
              </a:tabLst>
            </a:pPr>
            <a:r>
              <a:rPr sz="1400" b="1" dirty="0">
                <a:latin typeface="맑은 고딕"/>
                <a:cs typeface="맑은 고딕"/>
              </a:rPr>
              <a:t>관찰</a:t>
            </a:r>
            <a:r>
              <a:rPr sz="1400" b="1" spc="-15" dirty="0">
                <a:latin typeface="맑은 고딕"/>
                <a:cs typeface="맑은 고딕"/>
              </a:rPr>
              <a:t> </a:t>
            </a:r>
            <a:r>
              <a:rPr sz="1400" b="1" spc="-10" dirty="0">
                <a:latin typeface="맑은 고딕"/>
                <a:cs typeface="맑은 고딕"/>
              </a:rPr>
              <a:t>(Observe):</a:t>
            </a:r>
            <a:endParaRPr sz="1400">
              <a:latin typeface="맑은 고딕"/>
              <a:cs typeface="맑은 고딕"/>
            </a:endParaRPr>
          </a:p>
          <a:p>
            <a:pPr marL="929640" lvl="2" indent="-286385">
              <a:lnSpc>
                <a:spcPct val="100000"/>
              </a:lnSpc>
              <a:buFont typeface="Arial"/>
              <a:buChar char="•"/>
              <a:tabLst>
                <a:tab pos="929640" algn="l"/>
              </a:tabLst>
            </a:pPr>
            <a:r>
              <a:rPr sz="1400" dirty="0">
                <a:latin typeface="맑은 고딕"/>
                <a:cs typeface="맑은 고딕"/>
              </a:rPr>
              <a:t>호출된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도구의</a:t>
            </a:r>
            <a:r>
              <a:rPr sz="1400" spc="-4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실행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결과나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출력을</a:t>
            </a:r>
            <a:r>
              <a:rPr sz="1400" spc="-4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모델에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다시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spc="-25" dirty="0">
                <a:latin typeface="맑은 고딕"/>
                <a:cs typeface="맑은 고딕"/>
              </a:rPr>
              <a:t>전달</a:t>
            </a:r>
            <a:endParaRPr sz="1400">
              <a:latin typeface="맑은 고딕"/>
              <a:cs typeface="맑은 고딕"/>
            </a:endParaRPr>
          </a:p>
          <a:p>
            <a:pPr marL="929640" lvl="2" indent="-2863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929640" algn="l"/>
              </a:tabLst>
            </a:pPr>
            <a:r>
              <a:rPr sz="1400" dirty="0">
                <a:latin typeface="맑은 고딕"/>
                <a:cs typeface="맑은 고딕"/>
              </a:rPr>
              <a:t>에이전트가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자신의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행동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결과를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spc="-10" dirty="0">
                <a:latin typeface="맑은 고딕"/>
                <a:cs typeface="맑은 고딕"/>
              </a:rPr>
              <a:t>이해/학습</a:t>
            </a:r>
            <a:endParaRPr sz="1400">
              <a:latin typeface="맑은 고딕"/>
              <a:cs typeface="맑은 고딕"/>
            </a:endParaRPr>
          </a:p>
          <a:p>
            <a:pPr marL="334645" lvl="1" indent="-16192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334645" algn="l"/>
              </a:tabLst>
            </a:pPr>
            <a:r>
              <a:rPr sz="1400" b="1" dirty="0">
                <a:latin typeface="맑은 고딕"/>
                <a:cs typeface="맑은 고딕"/>
              </a:rPr>
              <a:t>추론</a:t>
            </a:r>
            <a:r>
              <a:rPr sz="1400" b="1" spc="-15" dirty="0">
                <a:latin typeface="맑은 고딕"/>
                <a:cs typeface="맑은 고딕"/>
              </a:rPr>
              <a:t> </a:t>
            </a:r>
            <a:r>
              <a:rPr sz="1400" b="1" spc="-10" dirty="0">
                <a:latin typeface="맑은 고딕"/>
                <a:cs typeface="맑은 고딕"/>
              </a:rPr>
              <a:t>(Reason):</a:t>
            </a:r>
            <a:endParaRPr sz="1400">
              <a:latin typeface="맑은 고딕"/>
              <a:cs typeface="맑은 고딕"/>
            </a:endParaRPr>
          </a:p>
          <a:p>
            <a:pPr marL="929640" lvl="2" indent="-286385">
              <a:lnSpc>
                <a:spcPct val="100000"/>
              </a:lnSpc>
              <a:buFont typeface="Arial"/>
              <a:buChar char="•"/>
              <a:tabLst>
                <a:tab pos="929640" algn="l"/>
              </a:tabLst>
            </a:pPr>
            <a:r>
              <a:rPr sz="1400" dirty="0">
                <a:latin typeface="맑은 고딕"/>
                <a:cs typeface="맑은 고딕"/>
              </a:rPr>
              <a:t>이전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단계의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관찰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결과를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분석하여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다음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행동을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spc="-25" dirty="0">
                <a:latin typeface="맑은 고딕"/>
                <a:cs typeface="맑은 고딕"/>
              </a:rPr>
              <a:t>결정</a:t>
            </a:r>
            <a:endParaRPr sz="1400">
              <a:latin typeface="맑은 고딕"/>
              <a:cs typeface="맑은 고딕"/>
            </a:endParaRPr>
          </a:p>
          <a:p>
            <a:pPr marL="929640" lvl="2" indent="-286385">
              <a:lnSpc>
                <a:spcPct val="100000"/>
              </a:lnSpc>
              <a:buFont typeface="Arial"/>
              <a:buChar char="•"/>
              <a:tabLst>
                <a:tab pos="929640" algn="l"/>
              </a:tabLst>
            </a:pPr>
            <a:r>
              <a:rPr sz="1400" dirty="0">
                <a:latin typeface="맑은 고딕"/>
                <a:cs typeface="맑은 고딕"/>
              </a:rPr>
              <a:t>다른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도구를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호출하거나,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또는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직접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응답을</a:t>
            </a:r>
            <a:r>
              <a:rPr sz="1400" spc="-25" dirty="0">
                <a:latin typeface="맑은 고딕"/>
                <a:cs typeface="맑은 고딕"/>
              </a:rPr>
              <a:t> 생성</a:t>
            </a:r>
            <a:endParaRPr sz="1400">
              <a:latin typeface="맑은 고딕"/>
              <a:cs typeface="맑은 고딕"/>
            </a:endParaRPr>
          </a:p>
          <a:p>
            <a:pPr marL="929640" lvl="2" indent="-286385">
              <a:lnSpc>
                <a:spcPct val="100000"/>
              </a:lnSpc>
              <a:buFont typeface="Arial"/>
              <a:buChar char="•"/>
              <a:tabLst>
                <a:tab pos="929640" algn="l"/>
              </a:tabLst>
            </a:pPr>
            <a:r>
              <a:rPr sz="1400" dirty="0">
                <a:latin typeface="맑은 고딕"/>
                <a:cs typeface="맑은 고딕"/>
              </a:rPr>
              <a:t>현재</a:t>
            </a:r>
            <a:r>
              <a:rPr sz="1400" spc="-3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상황을</a:t>
            </a:r>
            <a:r>
              <a:rPr sz="1400" spc="-3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평가하고</a:t>
            </a:r>
            <a:r>
              <a:rPr sz="1400" spc="-3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최선의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다음</a:t>
            </a:r>
            <a:r>
              <a:rPr sz="1400" spc="-3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단계를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spc="-25" dirty="0">
                <a:latin typeface="맑은 고딕"/>
                <a:cs typeface="맑은 고딕"/>
              </a:rPr>
              <a:t>선택</a:t>
            </a:r>
            <a:endParaRPr sz="1400">
              <a:latin typeface="맑은 고딕"/>
              <a:cs typeface="맑은 고딕"/>
            </a:endParaRPr>
          </a:p>
          <a:p>
            <a:pPr marL="681355" marR="4641850" indent="-248920">
              <a:lnSpc>
                <a:spcPct val="100000"/>
              </a:lnSpc>
              <a:spcBef>
                <a:spcPts val="1440"/>
              </a:spcBef>
            </a:pPr>
            <a:r>
              <a:rPr sz="1400" b="1" dirty="0">
                <a:solidFill>
                  <a:srgbClr val="006FC0"/>
                </a:solidFill>
                <a:latin typeface="맑은 고딕"/>
                <a:cs typeface="맑은 고딕"/>
              </a:rPr>
              <a:t>→</a:t>
            </a:r>
            <a:r>
              <a:rPr sz="1400" b="1" spc="-5" dirty="0">
                <a:solidFill>
                  <a:srgbClr val="006FC0"/>
                </a:solidFill>
                <a:latin typeface="맑은 고딕"/>
                <a:cs typeface="맑은 고딕"/>
              </a:rPr>
              <a:t> </a:t>
            </a:r>
            <a:r>
              <a:rPr sz="1400" b="1" dirty="0">
                <a:solidFill>
                  <a:srgbClr val="006FC0"/>
                </a:solidFill>
                <a:latin typeface="맑은 고딕"/>
                <a:cs typeface="맑은 고딕"/>
              </a:rPr>
              <a:t>추론과</a:t>
            </a:r>
            <a:r>
              <a:rPr sz="1400" b="1" spc="-25" dirty="0">
                <a:solidFill>
                  <a:srgbClr val="006FC0"/>
                </a:solidFill>
                <a:latin typeface="맑은 고딕"/>
                <a:cs typeface="맑은 고딕"/>
              </a:rPr>
              <a:t> </a:t>
            </a:r>
            <a:r>
              <a:rPr sz="1400" b="1" dirty="0">
                <a:solidFill>
                  <a:srgbClr val="006FC0"/>
                </a:solidFill>
                <a:latin typeface="맑은 고딕"/>
                <a:cs typeface="맑은 고딕"/>
              </a:rPr>
              <a:t>행동의</a:t>
            </a:r>
            <a:r>
              <a:rPr sz="1400" b="1" spc="-10" dirty="0">
                <a:solidFill>
                  <a:srgbClr val="006FC0"/>
                </a:solidFill>
                <a:latin typeface="맑은 고딕"/>
                <a:cs typeface="맑은 고딕"/>
              </a:rPr>
              <a:t> </a:t>
            </a:r>
            <a:r>
              <a:rPr sz="1400" b="1" dirty="0">
                <a:solidFill>
                  <a:srgbClr val="006FC0"/>
                </a:solidFill>
                <a:latin typeface="맑은 고딕"/>
                <a:cs typeface="맑은 고딕"/>
              </a:rPr>
              <a:t>반복적인</a:t>
            </a:r>
            <a:r>
              <a:rPr sz="1400" b="1" spc="-25" dirty="0">
                <a:solidFill>
                  <a:srgbClr val="006FC0"/>
                </a:solidFill>
                <a:latin typeface="맑은 고딕"/>
                <a:cs typeface="맑은 고딕"/>
              </a:rPr>
              <a:t> </a:t>
            </a:r>
            <a:r>
              <a:rPr sz="1400" b="1" dirty="0">
                <a:solidFill>
                  <a:srgbClr val="006FC0"/>
                </a:solidFill>
                <a:latin typeface="맑은 고딕"/>
                <a:cs typeface="맑은 고딕"/>
              </a:rPr>
              <a:t>사이클을</a:t>
            </a:r>
            <a:r>
              <a:rPr sz="1400" b="1" spc="-15" dirty="0">
                <a:solidFill>
                  <a:srgbClr val="006FC0"/>
                </a:solidFill>
                <a:latin typeface="맑은 고딕"/>
                <a:cs typeface="맑은 고딕"/>
              </a:rPr>
              <a:t> </a:t>
            </a:r>
            <a:r>
              <a:rPr sz="1400" b="1" dirty="0">
                <a:solidFill>
                  <a:srgbClr val="006FC0"/>
                </a:solidFill>
                <a:latin typeface="맑은 고딕"/>
                <a:cs typeface="맑은 고딕"/>
              </a:rPr>
              <a:t>통해</a:t>
            </a:r>
            <a:r>
              <a:rPr sz="1400" b="1" spc="-15" dirty="0">
                <a:solidFill>
                  <a:srgbClr val="006FC0"/>
                </a:solidFill>
                <a:latin typeface="맑은 고딕"/>
                <a:cs typeface="맑은 고딕"/>
              </a:rPr>
              <a:t> </a:t>
            </a:r>
            <a:r>
              <a:rPr sz="1400" b="1" dirty="0">
                <a:solidFill>
                  <a:srgbClr val="006FC0"/>
                </a:solidFill>
                <a:latin typeface="맑은 고딕"/>
                <a:cs typeface="맑은 고딕"/>
              </a:rPr>
              <a:t>복잡한</a:t>
            </a:r>
            <a:r>
              <a:rPr sz="1400" b="1" spc="-30" dirty="0">
                <a:solidFill>
                  <a:srgbClr val="006FC0"/>
                </a:solidFill>
                <a:latin typeface="맑은 고딕"/>
                <a:cs typeface="맑은 고딕"/>
              </a:rPr>
              <a:t> </a:t>
            </a:r>
            <a:r>
              <a:rPr sz="1400" b="1" spc="-25" dirty="0">
                <a:solidFill>
                  <a:srgbClr val="006FC0"/>
                </a:solidFill>
                <a:latin typeface="맑은 고딕"/>
                <a:cs typeface="맑은 고딕"/>
              </a:rPr>
              <a:t>작업을 </a:t>
            </a:r>
            <a:r>
              <a:rPr sz="1400" b="1" dirty="0">
                <a:solidFill>
                  <a:srgbClr val="006FC0"/>
                </a:solidFill>
                <a:latin typeface="맑은 고딕"/>
                <a:cs typeface="맑은 고딕"/>
              </a:rPr>
              <a:t>단계적으로</a:t>
            </a:r>
            <a:r>
              <a:rPr sz="1400" b="1" spc="-25" dirty="0">
                <a:solidFill>
                  <a:srgbClr val="006FC0"/>
                </a:solidFill>
                <a:latin typeface="맑은 고딕"/>
                <a:cs typeface="맑은 고딕"/>
              </a:rPr>
              <a:t> 해결</a:t>
            </a:r>
            <a:endParaRPr sz="1400">
              <a:latin typeface="맑은 고딕"/>
              <a:cs typeface="맑은 고딕"/>
            </a:endParaRPr>
          </a:p>
          <a:p>
            <a:pPr marL="73660">
              <a:lnSpc>
                <a:spcPct val="100000"/>
              </a:lnSpc>
              <a:spcBef>
                <a:spcPts val="920"/>
              </a:spcBef>
            </a:pPr>
            <a:r>
              <a:rPr sz="1000" dirty="0">
                <a:latin typeface="맑은 고딕"/>
                <a:cs typeface="맑은 고딕"/>
              </a:rPr>
              <a:t>출처:</a:t>
            </a:r>
            <a:r>
              <a:rPr sz="1000" spc="-4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ReAct:</a:t>
            </a:r>
            <a:r>
              <a:rPr sz="1000" spc="-4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Synergizing</a:t>
            </a:r>
            <a:r>
              <a:rPr sz="1000" spc="-2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Reasoning</a:t>
            </a:r>
            <a:r>
              <a:rPr sz="1000" spc="-3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and</a:t>
            </a:r>
            <a:r>
              <a:rPr sz="1000" spc="-4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Acting</a:t>
            </a:r>
            <a:r>
              <a:rPr sz="1000" spc="-50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in</a:t>
            </a:r>
            <a:r>
              <a:rPr sz="1000" spc="-4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Language</a:t>
            </a:r>
            <a:r>
              <a:rPr sz="1000" spc="-4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Models</a:t>
            </a:r>
            <a:r>
              <a:rPr sz="1000" spc="-25" dirty="0">
                <a:latin typeface="맑은 고딕"/>
                <a:cs typeface="맑은 고딕"/>
              </a:rPr>
              <a:t> </a:t>
            </a:r>
            <a:r>
              <a:rPr sz="1000" spc="-10" dirty="0">
                <a:latin typeface="맑은 고딕"/>
                <a:cs typeface="맑은 고딕"/>
              </a:rPr>
              <a:t>(https://arxiv.org/abs/2210.03629)</a:t>
            </a:r>
            <a:endParaRPr sz="1000">
              <a:latin typeface="맑은 고딕"/>
              <a:cs typeface="맑은 고딕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5373" y="2861221"/>
            <a:ext cx="4235958" cy="359384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0"/>
              </a:spcBef>
            </a:pPr>
            <a:r>
              <a:rPr dirty="0"/>
              <a:t>랭그래프(LangGraph)에</a:t>
            </a:r>
            <a:r>
              <a:rPr spc="-65" dirty="0"/>
              <a:t> </a:t>
            </a:r>
            <a:r>
              <a:rPr spc="-25" dirty="0"/>
              <a:t>내장된</a:t>
            </a:r>
          </a:p>
          <a:p>
            <a:pPr marL="12700">
              <a:lnSpc>
                <a:spcPts val="3650"/>
              </a:lnSpc>
            </a:pPr>
            <a:r>
              <a:rPr dirty="0"/>
              <a:t>ReAct</a:t>
            </a:r>
            <a:r>
              <a:rPr spc="-70" dirty="0"/>
              <a:t> </a:t>
            </a:r>
            <a:r>
              <a:rPr dirty="0"/>
              <a:t>에이전트</a:t>
            </a:r>
            <a:r>
              <a:rPr spc="-75" dirty="0"/>
              <a:t> </a:t>
            </a:r>
            <a:r>
              <a:rPr spc="-25" dirty="0"/>
              <a:t>사용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5551" y="659638"/>
            <a:ext cx="61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ReAct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01637" y="1822373"/>
            <a:ext cx="5605145" cy="4792345"/>
            <a:chOff x="401637" y="1822373"/>
            <a:chExt cx="5605145" cy="4792345"/>
          </a:xfrm>
        </p:grpSpPr>
        <p:sp>
          <p:nvSpPr>
            <p:cNvPr id="6" name="object 6"/>
            <p:cNvSpPr/>
            <p:nvPr/>
          </p:nvSpPr>
          <p:spPr>
            <a:xfrm>
              <a:off x="406400" y="1973961"/>
              <a:ext cx="5595620" cy="4636135"/>
            </a:xfrm>
            <a:custGeom>
              <a:avLst/>
              <a:gdLst/>
              <a:ahLst/>
              <a:cxnLst/>
              <a:rect l="l" t="t" r="r" b="b"/>
              <a:pathLst>
                <a:path w="5595620" h="4636134">
                  <a:moveTo>
                    <a:pt x="0" y="255015"/>
                  </a:moveTo>
                  <a:lnTo>
                    <a:pt x="4109" y="209176"/>
                  </a:lnTo>
                  <a:lnTo>
                    <a:pt x="15955" y="166032"/>
                  </a:lnTo>
                  <a:lnTo>
                    <a:pt x="34820" y="126303"/>
                  </a:lnTo>
                  <a:lnTo>
                    <a:pt x="59981" y="90711"/>
                  </a:lnTo>
                  <a:lnTo>
                    <a:pt x="90719" y="59976"/>
                  </a:lnTo>
                  <a:lnTo>
                    <a:pt x="126313" y="34816"/>
                  </a:lnTo>
                  <a:lnTo>
                    <a:pt x="166043" y="15954"/>
                  </a:lnTo>
                  <a:lnTo>
                    <a:pt x="209188" y="4108"/>
                  </a:lnTo>
                  <a:lnTo>
                    <a:pt x="255028" y="0"/>
                  </a:lnTo>
                  <a:lnTo>
                    <a:pt x="5340223" y="0"/>
                  </a:lnTo>
                  <a:lnTo>
                    <a:pt x="5386062" y="4108"/>
                  </a:lnTo>
                  <a:lnTo>
                    <a:pt x="5429206" y="15954"/>
                  </a:lnTo>
                  <a:lnTo>
                    <a:pt x="5468935" y="34816"/>
                  </a:lnTo>
                  <a:lnTo>
                    <a:pt x="5504527" y="59976"/>
                  </a:lnTo>
                  <a:lnTo>
                    <a:pt x="5535262" y="90711"/>
                  </a:lnTo>
                  <a:lnTo>
                    <a:pt x="5560422" y="126303"/>
                  </a:lnTo>
                  <a:lnTo>
                    <a:pt x="5579284" y="166032"/>
                  </a:lnTo>
                  <a:lnTo>
                    <a:pt x="5591130" y="209176"/>
                  </a:lnTo>
                  <a:lnTo>
                    <a:pt x="5595239" y="255015"/>
                  </a:lnTo>
                  <a:lnTo>
                    <a:pt x="5595239" y="4380966"/>
                  </a:lnTo>
                  <a:lnTo>
                    <a:pt x="5591130" y="4426810"/>
                  </a:lnTo>
                  <a:lnTo>
                    <a:pt x="5579284" y="4469957"/>
                  </a:lnTo>
                  <a:lnTo>
                    <a:pt x="5560422" y="4509687"/>
                  </a:lnTo>
                  <a:lnTo>
                    <a:pt x="5535262" y="4545281"/>
                  </a:lnTo>
                  <a:lnTo>
                    <a:pt x="5504527" y="4576018"/>
                  </a:lnTo>
                  <a:lnTo>
                    <a:pt x="5468935" y="4601178"/>
                  </a:lnTo>
                  <a:lnTo>
                    <a:pt x="5429206" y="4620040"/>
                  </a:lnTo>
                  <a:lnTo>
                    <a:pt x="5386062" y="4631886"/>
                  </a:lnTo>
                  <a:lnTo>
                    <a:pt x="5340223" y="4635995"/>
                  </a:lnTo>
                  <a:lnTo>
                    <a:pt x="255028" y="4635995"/>
                  </a:lnTo>
                  <a:lnTo>
                    <a:pt x="209188" y="4631886"/>
                  </a:lnTo>
                  <a:lnTo>
                    <a:pt x="166043" y="4620040"/>
                  </a:lnTo>
                  <a:lnTo>
                    <a:pt x="126313" y="4601178"/>
                  </a:lnTo>
                  <a:lnTo>
                    <a:pt x="90719" y="4576018"/>
                  </a:lnTo>
                  <a:lnTo>
                    <a:pt x="59981" y="4545281"/>
                  </a:lnTo>
                  <a:lnTo>
                    <a:pt x="34820" y="4509687"/>
                  </a:lnTo>
                  <a:lnTo>
                    <a:pt x="15955" y="4469957"/>
                  </a:lnTo>
                  <a:lnTo>
                    <a:pt x="4109" y="4426810"/>
                  </a:lnTo>
                  <a:lnTo>
                    <a:pt x="0" y="4380966"/>
                  </a:lnTo>
                  <a:lnTo>
                    <a:pt x="0" y="255015"/>
                  </a:lnTo>
                  <a:close/>
                </a:path>
              </a:pathLst>
            </a:custGeom>
            <a:ln w="952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0900" y="1822373"/>
              <a:ext cx="4470400" cy="391160"/>
            </a:xfrm>
            <a:custGeom>
              <a:avLst/>
              <a:gdLst/>
              <a:ahLst/>
              <a:cxnLst/>
              <a:rect l="l" t="t" r="r" b="b"/>
              <a:pathLst>
                <a:path w="4470400" h="391160">
                  <a:moveTo>
                    <a:pt x="4470400" y="0"/>
                  </a:moveTo>
                  <a:lnTo>
                    <a:pt x="0" y="0"/>
                  </a:lnTo>
                  <a:lnTo>
                    <a:pt x="0" y="390982"/>
                  </a:lnTo>
                  <a:lnTo>
                    <a:pt x="4470400" y="390982"/>
                  </a:lnTo>
                  <a:lnTo>
                    <a:pt x="44704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069520" y="1809673"/>
            <a:ext cx="5605145" cy="4805045"/>
            <a:chOff x="6069520" y="1809673"/>
            <a:chExt cx="5605145" cy="4805045"/>
          </a:xfrm>
        </p:grpSpPr>
        <p:sp>
          <p:nvSpPr>
            <p:cNvPr id="9" name="object 9"/>
            <p:cNvSpPr/>
            <p:nvPr/>
          </p:nvSpPr>
          <p:spPr>
            <a:xfrm>
              <a:off x="6074283" y="1973961"/>
              <a:ext cx="5595620" cy="4636135"/>
            </a:xfrm>
            <a:custGeom>
              <a:avLst/>
              <a:gdLst/>
              <a:ahLst/>
              <a:cxnLst/>
              <a:rect l="l" t="t" r="r" b="b"/>
              <a:pathLst>
                <a:path w="5595620" h="4636134">
                  <a:moveTo>
                    <a:pt x="0" y="255015"/>
                  </a:moveTo>
                  <a:lnTo>
                    <a:pt x="4108" y="209176"/>
                  </a:lnTo>
                  <a:lnTo>
                    <a:pt x="15954" y="166032"/>
                  </a:lnTo>
                  <a:lnTo>
                    <a:pt x="34816" y="126303"/>
                  </a:lnTo>
                  <a:lnTo>
                    <a:pt x="59976" y="90711"/>
                  </a:lnTo>
                  <a:lnTo>
                    <a:pt x="90711" y="59976"/>
                  </a:lnTo>
                  <a:lnTo>
                    <a:pt x="126303" y="34816"/>
                  </a:lnTo>
                  <a:lnTo>
                    <a:pt x="166032" y="15954"/>
                  </a:lnTo>
                  <a:lnTo>
                    <a:pt x="209176" y="4108"/>
                  </a:lnTo>
                  <a:lnTo>
                    <a:pt x="255015" y="0"/>
                  </a:lnTo>
                  <a:lnTo>
                    <a:pt x="5340222" y="0"/>
                  </a:lnTo>
                  <a:lnTo>
                    <a:pt x="5386062" y="4108"/>
                  </a:lnTo>
                  <a:lnTo>
                    <a:pt x="5429206" y="15954"/>
                  </a:lnTo>
                  <a:lnTo>
                    <a:pt x="5468935" y="34816"/>
                  </a:lnTo>
                  <a:lnTo>
                    <a:pt x="5504527" y="59976"/>
                  </a:lnTo>
                  <a:lnTo>
                    <a:pt x="5535262" y="90711"/>
                  </a:lnTo>
                  <a:lnTo>
                    <a:pt x="5560422" y="126303"/>
                  </a:lnTo>
                  <a:lnTo>
                    <a:pt x="5579284" y="166032"/>
                  </a:lnTo>
                  <a:lnTo>
                    <a:pt x="5591130" y="209176"/>
                  </a:lnTo>
                  <a:lnTo>
                    <a:pt x="5595239" y="255015"/>
                  </a:lnTo>
                  <a:lnTo>
                    <a:pt x="5595239" y="4380966"/>
                  </a:lnTo>
                  <a:lnTo>
                    <a:pt x="5591130" y="4426810"/>
                  </a:lnTo>
                  <a:lnTo>
                    <a:pt x="5579284" y="4469957"/>
                  </a:lnTo>
                  <a:lnTo>
                    <a:pt x="5560422" y="4509687"/>
                  </a:lnTo>
                  <a:lnTo>
                    <a:pt x="5535262" y="4545281"/>
                  </a:lnTo>
                  <a:lnTo>
                    <a:pt x="5504527" y="4576018"/>
                  </a:lnTo>
                  <a:lnTo>
                    <a:pt x="5468935" y="4601178"/>
                  </a:lnTo>
                  <a:lnTo>
                    <a:pt x="5429206" y="4620040"/>
                  </a:lnTo>
                  <a:lnTo>
                    <a:pt x="5386062" y="4631886"/>
                  </a:lnTo>
                  <a:lnTo>
                    <a:pt x="5340222" y="4635995"/>
                  </a:lnTo>
                  <a:lnTo>
                    <a:pt x="255015" y="4635995"/>
                  </a:lnTo>
                  <a:lnTo>
                    <a:pt x="209176" y="4631886"/>
                  </a:lnTo>
                  <a:lnTo>
                    <a:pt x="166032" y="4620040"/>
                  </a:lnTo>
                  <a:lnTo>
                    <a:pt x="126303" y="4601178"/>
                  </a:lnTo>
                  <a:lnTo>
                    <a:pt x="90711" y="4576018"/>
                  </a:lnTo>
                  <a:lnTo>
                    <a:pt x="59976" y="4545281"/>
                  </a:lnTo>
                  <a:lnTo>
                    <a:pt x="34816" y="4509687"/>
                  </a:lnTo>
                  <a:lnTo>
                    <a:pt x="15954" y="4469957"/>
                  </a:lnTo>
                  <a:lnTo>
                    <a:pt x="4108" y="4426810"/>
                  </a:lnTo>
                  <a:lnTo>
                    <a:pt x="0" y="4380966"/>
                  </a:lnTo>
                  <a:lnTo>
                    <a:pt x="0" y="255015"/>
                  </a:lnTo>
                  <a:close/>
                </a:path>
              </a:pathLst>
            </a:custGeom>
            <a:ln w="952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45402" y="1822373"/>
              <a:ext cx="4470400" cy="391160"/>
            </a:xfrm>
            <a:custGeom>
              <a:avLst/>
              <a:gdLst/>
              <a:ahLst/>
              <a:cxnLst/>
              <a:rect l="l" t="t" r="r" b="b"/>
              <a:pathLst>
                <a:path w="4470400" h="391160">
                  <a:moveTo>
                    <a:pt x="4470400" y="0"/>
                  </a:moveTo>
                  <a:lnTo>
                    <a:pt x="0" y="0"/>
                  </a:lnTo>
                  <a:lnTo>
                    <a:pt x="0" y="390982"/>
                  </a:lnTo>
                  <a:lnTo>
                    <a:pt x="4470400" y="390982"/>
                  </a:lnTo>
                  <a:lnTo>
                    <a:pt x="44704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45402" y="1822373"/>
              <a:ext cx="4470400" cy="391160"/>
            </a:xfrm>
            <a:custGeom>
              <a:avLst/>
              <a:gdLst/>
              <a:ahLst/>
              <a:cxnLst/>
              <a:rect l="l" t="t" r="r" b="b"/>
              <a:pathLst>
                <a:path w="4470400" h="391160">
                  <a:moveTo>
                    <a:pt x="0" y="390982"/>
                  </a:moveTo>
                  <a:lnTo>
                    <a:pt x="4470400" y="390982"/>
                  </a:lnTo>
                  <a:lnTo>
                    <a:pt x="4470400" y="0"/>
                  </a:lnTo>
                  <a:lnTo>
                    <a:pt x="0" y="0"/>
                  </a:lnTo>
                  <a:lnTo>
                    <a:pt x="0" y="39098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50900" y="1822373"/>
            <a:ext cx="4470400" cy="3911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81280" algn="ctr">
              <a:lnSpc>
                <a:spcPct val="100000"/>
              </a:lnSpc>
              <a:spcBef>
                <a:spcPts val="425"/>
              </a:spcBef>
            </a:pP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create_react_agent</a:t>
            </a:r>
            <a:r>
              <a:rPr sz="1800" b="1" spc="-13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함수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58102" y="1863978"/>
            <a:ext cx="4445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코드 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예시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336474" y="2226881"/>
            <a:ext cx="5041900" cy="2122805"/>
            <a:chOff x="6336474" y="2226881"/>
            <a:chExt cx="5041900" cy="2122805"/>
          </a:xfrm>
        </p:grpSpPr>
        <p:sp>
          <p:nvSpPr>
            <p:cNvPr id="15" name="object 15"/>
            <p:cNvSpPr/>
            <p:nvPr/>
          </p:nvSpPr>
          <p:spPr>
            <a:xfrm>
              <a:off x="6341236" y="2231644"/>
              <a:ext cx="5032375" cy="2113280"/>
            </a:xfrm>
            <a:custGeom>
              <a:avLst/>
              <a:gdLst/>
              <a:ahLst/>
              <a:cxnLst/>
              <a:rect l="l" t="t" r="r" b="b"/>
              <a:pathLst>
                <a:path w="5032375" h="2113279">
                  <a:moveTo>
                    <a:pt x="0" y="2113279"/>
                  </a:moveTo>
                  <a:lnTo>
                    <a:pt x="5032120" y="2113279"/>
                  </a:lnTo>
                  <a:lnTo>
                    <a:pt x="5032120" y="0"/>
                  </a:lnTo>
                  <a:lnTo>
                    <a:pt x="0" y="0"/>
                  </a:lnTo>
                  <a:lnTo>
                    <a:pt x="0" y="2113279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13093" y="2891535"/>
              <a:ext cx="349250" cy="302260"/>
            </a:xfrm>
            <a:custGeom>
              <a:avLst/>
              <a:gdLst/>
              <a:ahLst/>
              <a:cxnLst/>
              <a:rect l="l" t="t" r="r" b="b"/>
              <a:pathLst>
                <a:path w="349250" h="302260">
                  <a:moveTo>
                    <a:pt x="210312" y="0"/>
                  </a:moveTo>
                  <a:lnTo>
                    <a:pt x="0" y="0"/>
                  </a:lnTo>
                  <a:lnTo>
                    <a:pt x="0" y="149352"/>
                  </a:lnTo>
                  <a:lnTo>
                    <a:pt x="210312" y="149352"/>
                  </a:lnTo>
                  <a:lnTo>
                    <a:pt x="210312" y="0"/>
                  </a:lnTo>
                  <a:close/>
                </a:path>
                <a:path w="349250" h="302260">
                  <a:moveTo>
                    <a:pt x="348996" y="152400"/>
                  </a:moveTo>
                  <a:lnTo>
                    <a:pt x="0" y="152400"/>
                  </a:lnTo>
                  <a:lnTo>
                    <a:pt x="0" y="301752"/>
                  </a:lnTo>
                  <a:lnTo>
                    <a:pt x="348996" y="301752"/>
                  </a:lnTo>
                  <a:lnTo>
                    <a:pt x="348996" y="15240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701155" y="3021329"/>
            <a:ext cx="862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onsolas"/>
                <a:cs typeface="Consolas"/>
              </a:rPr>
              <a:t>tools=tools,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5395" y="2596133"/>
            <a:ext cx="4244340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맑은 고딕"/>
                <a:cs typeface="맑은 고딕"/>
              </a:rPr>
              <a:t>가장</a:t>
            </a:r>
            <a:r>
              <a:rPr sz="1600" spc="-50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쉽게</a:t>
            </a:r>
            <a:r>
              <a:rPr sz="1600" spc="-60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ReAct</a:t>
            </a:r>
            <a:r>
              <a:rPr sz="1600" spc="-4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에이전트를</a:t>
            </a:r>
            <a:r>
              <a:rPr sz="1600" spc="-4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생성하는</a:t>
            </a:r>
            <a:r>
              <a:rPr sz="1600" spc="-35" dirty="0">
                <a:latin typeface="맑은 고딕"/>
                <a:cs typeface="맑은 고딕"/>
              </a:rPr>
              <a:t> </a:t>
            </a:r>
            <a:r>
              <a:rPr sz="1600" spc="-25" dirty="0">
                <a:latin typeface="맑은 고딕"/>
                <a:cs typeface="맑은 고딕"/>
              </a:rPr>
              <a:t>방법</a:t>
            </a:r>
            <a:endParaRPr sz="1600">
              <a:latin typeface="맑은 고딕"/>
              <a:cs typeface="맑은 고딕"/>
            </a:endParaRPr>
          </a:p>
          <a:p>
            <a:pPr marL="299085" indent="-286385">
              <a:lnSpc>
                <a:spcPct val="100000"/>
              </a:lnSpc>
              <a:spcBef>
                <a:spcPts val="1920"/>
              </a:spcBef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맑은 고딕"/>
                <a:cs typeface="맑은 고딕"/>
              </a:rPr>
              <a:t>주요</a:t>
            </a:r>
            <a:r>
              <a:rPr sz="1600" spc="-25" dirty="0">
                <a:latin typeface="맑은 고딕"/>
                <a:cs typeface="맑은 고딕"/>
              </a:rPr>
              <a:t> 단계:</a:t>
            </a:r>
            <a:endParaRPr sz="1600">
              <a:latin typeface="맑은 고딕"/>
              <a:cs typeface="맑은 고딕"/>
            </a:endParaRPr>
          </a:p>
          <a:p>
            <a:pPr marL="812165" lvl="1" indent="-342265">
              <a:lnSpc>
                <a:spcPct val="100000"/>
              </a:lnSpc>
              <a:buAutoNum type="arabicPeriod"/>
              <a:tabLst>
                <a:tab pos="812165" algn="l"/>
              </a:tabLst>
            </a:pPr>
            <a:r>
              <a:rPr sz="1600" dirty="0">
                <a:latin typeface="맑은 고딕"/>
                <a:cs typeface="맑은 고딕"/>
              </a:rPr>
              <a:t>필요한</a:t>
            </a:r>
            <a:r>
              <a:rPr sz="1600" spc="-70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라이브러리</a:t>
            </a:r>
            <a:r>
              <a:rPr sz="1600" spc="-70" dirty="0">
                <a:latin typeface="맑은 고딕"/>
                <a:cs typeface="맑은 고딕"/>
              </a:rPr>
              <a:t> </a:t>
            </a:r>
            <a:r>
              <a:rPr sz="1600" spc="-25" dirty="0">
                <a:latin typeface="맑은 고딕"/>
                <a:cs typeface="맑은 고딕"/>
              </a:rPr>
              <a:t>임포트</a:t>
            </a:r>
            <a:endParaRPr sz="1600">
              <a:latin typeface="맑은 고딕"/>
              <a:cs typeface="맑은 고딕"/>
            </a:endParaRPr>
          </a:p>
          <a:p>
            <a:pPr marL="812165" lvl="1" indent="-342265">
              <a:lnSpc>
                <a:spcPct val="100000"/>
              </a:lnSpc>
              <a:buAutoNum type="arabicPeriod"/>
              <a:tabLst>
                <a:tab pos="812165" algn="l"/>
              </a:tabLst>
            </a:pPr>
            <a:r>
              <a:rPr sz="1600" dirty="0">
                <a:latin typeface="맑은 고딕"/>
                <a:cs typeface="맑은 고딕"/>
              </a:rPr>
              <a:t>언어</a:t>
            </a:r>
            <a:r>
              <a:rPr sz="1600" spc="-20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모델</a:t>
            </a:r>
            <a:r>
              <a:rPr sz="1600" spc="-30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(LLM)</a:t>
            </a:r>
            <a:r>
              <a:rPr sz="1600" spc="-45" dirty="0">
                <a:latin typeface="맑은 고딕"/>
                <a:cs typeface="맑은 고딕"/>
              </a:rPr>
              <a:t> </a:t>
            </a:r>
            <a:r>
              <a:rPr sz="1600" spc="-25" dirty="0">
                <a:latin typeface="맑은 고딕"/>
                <a:cs typeface="맑은 고딕"/>
              </a:rPr>
              <a:t>설정</a:t>
            </a:r>
            <a:endParaRPr sz="1600">
              <a:latin typeface="맑은 고딕"/>
              <a:cs typeface="맑은 고딕"/>
            </a:endParaRPr>
          </a:p>
          <a:p>
            <a:pPr marL="812165" lvl="1" indent="-342265">
              <a:lnSpc>
                <a:spcPct val="100000"/>
              </a:lnSpc>
              <a:buAutoNum type="arabicPeriod"/>
              <a:tabLst>
                <a:tab pos="812165" algn="l"/>
              </a:tabLst>
            </a:pPr>
            <a:r>
              <a:rPr sz="1600" dirty="0">
                <a:latin typeface="맑은 고딕"/>
                <a:cs typeface="맑은 고딕"/>
              </a:rPr>
              <a:t>도구</a:t>
            </a:r>
            <a:r>
              <a:rPr sz="1600" spc="-25" dirty="0">
                <a:latin typeface="맑은 고딕"/>
                <a:cs typeface="맑은 고딕"/>
              </a:rPr>
              <a:t> 정의</a:t>
            </a:r>
            <a:endParaRPr sz="1600">
              <a:latin typeface="맑은 고딕"/>
              <a:cs typeface="맑은 고딕"/>
            </a:endParaRPr>
          </a:p>
          <a:p>
            <a:pPr marL="812165" lvl="1" indent="-342265">
              <a:lnSpc>
                <a:spcPct val="100000"/>
              </a:lnSpc>
              <a:buAutoNum type="arabicPeriod"/>
              <a:tabLst>
                <a:tab pos="812165" algn="l"/>
              </a:tabLst>
            </a:pPr>
            <a:r>
              <a:rPr sz="1600" dirty="0">
                <a:latin typeface="맑은 고딕"/>
                <a:cs typeface="맑은 고딕"/>
              </a:rPr>
              <a:t>ReAct</a:t>
            </a:r>
            <a:r>
              <a:rPr sz="1600" spc="-6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에이전트</a:t>
            </a:r>
            <a:r>
              <a:rPr sz="1600" spc="-60" dirty="0">
                <a:latin typeface="맑은 고딕"/>
                <a:cs typeface="맑은 고딕"/>
              </a:rPr>
              <a:t> </a:t>
            </a:r>
            <a:r>
              <a:rPr sz="1600" spc="-25" dirty="0">
                <a:latin typeface="맑은 고딕"/>
                <a:cs typeface="맑은 고딕"/>
              </a:rPr>
              <a:t>생성</a:t>
            </a:r>
            <a:endParaRPr sz="1600">
              <a:latin typeface="맑은 고딕"/>
              <a:cs typeface="맑은 고딕"/>
            </a:endParaRPr>
          </a:p>
          <a:p>
            <a:pPr marL="812165" lvl="1" indent="-342265">
              <a:lnSpc>
                <a:spcPct val="100000"/>
              </a:lnSpc>
              <a:buAutoNum type="arabicPeriod"/>
              <a:tabLst>
                <a:tab pos="812165" algn="l"/>
              </a:tabLst>
            </a:pPr>
            <a:r>
              <a:rPr sz="1600" dirty="0">
                <a:latin typeface="맑은 고딕"/>
                <a:cs typeface="맑은 고딕"/>
              </a:rPr>
              <a:t>에이전트</a:t>
            </a:r>
            <a:r>
              <a:rPr sz="1600" spc="-55" dirty="0">
                <a:latin typeface="맑은 고딕"/>
                <a:cs typeface="맑은 고딕"/>
              </a:rPr>
              <a:t> </a:t>
            </a:r>
            <a:r>
              <a:rPr sz="1600" spc="-25" dirty="0">
                <a:latin typeface="맑은 고딕"/>
                <a:cs typeface="맑은 고딕"/>
              </a:rPr>
              <a:t>실행</a:t>
            </a:r>
            <a:endParaRPr sz="1600">
              <a:latin typeface="맑은 고딕"/>
              <a:cs typeface="맑은 고딕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4297" y="3997096"/>
            <a:ext cx="2225040" cy="2213991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6341236" y="4366424"/>
            <a:ext cx="5032375" cy="2185670"/>
            <a:chOff x="6341236" y="4366424"/>
            <a:chExt cx="5032375" cy="2185670"/>
          </a:xfrm>
        </p:grpSpPr>
        <p:sp>
          <p:nvSpPr>
            <p:cNvPr id="21" name="object 21"/>
            <p:cNvSpPr/>
            <p:nvPr/>
          </p:nvSpPr>
          <p:spPr>
            <a:xfrm>
              <a:off x="6341236" y="4366424"/>
              <a:ext cx="5032375" cy="2185670"/>
            </a:xfrm>
            <a:custGeom>
              <a:avLst/>
              <a:gdLst/>
              <a:ahLst/>
              <a:cxnLst/>
              <a:rect l="l" t="t" r="r" b="b"/>
              <a:pathLst>
                <a:path w="5032375" h="2185670">
                  <a:moveTo>
                    <a:pt x="5032120" y="0"/>
                  </a:moveTo>
                  <a:lnTo>
                    <a:pt x="0" y="0"/>
                  </a:lnTo>
                  <a:lnTo>
                    <a:pt x="0" y="2185162"/>
                  </a:lnTo>
                  <a:lnTo>
                    <a:pt x="5032120" y="2185162"/>
                  </a:lnTo>
                  <a:lnTo>
                    <a:pt x="503212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32677" y="4779390"/>
              <a:ext cx="2112645" cy="364490"/>
            </a:xfrm>
            <a:custGeom>
              <a:avLst/>
              <a:gdLst/>
              <a:ahLst/>
              <a:cxnLst/>
              <a:rect l="l" t="t" r="r" b="b"/>
              <a:pathLst>
                <a:path w="2112645" h="364489">
                  <a:moveTo>
                    <a:pt x="611124" y="0"/>
                  </a:moveTo>
                  <a:lnTo>
                    <a:pt x="0" y="0"/>
                  </a:lnTo>
                  <a:lnTo>
                    <a:pt x="0" y="120396"/>
                  </a:lnTo>
                  <a:lnTo>
                    <a:pt x="611124" y="120396"/>
                  </a:lnTo>
                  <a:lnTo>
                    <a:pt x="611124" y="0"/>
                  </a:lnTo>
                  <a:close/>
                </a:path>
                <a:path w="2112645" h="364489">
                  <a:moveTo>
                    <a:pt x="2112251" y="243840"/>
                  </a:moveTo>
                  <a:lnTo>
                    <a:pt x="0" y="243840"/>
                  </a:lnTo>
                  <a:lnTo>
                    <a:pt x="0" y="364236"/>
                  </a:lnTo>
                  <a:lnTo>
                    <a:pt x="2112251" y="364236"/>
                  </a:lnTo>
                  <a:lnTo>
                    <a:pt x="2112251" y="24384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420739" y="2258948"/>
            <a:ext cx="4773295" cy="2527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0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langgraph.prebuilt</a:t>
            </a:r>
            <a:r>
              <a:rPr sz="1000" spc="-45" dirty="0"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000" spc="-7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create_react_agent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0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그래프</a:t>
            </a:r>
            <a:r>
              <a:rPr sz="1000" spc="17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spc="-25" dirty="0">
                <a:solidFill>
                  <a:srgbClr val="008000"/>
                </a:solidFill>
                <a:latin typeface="맑은 고딕"/>
                <a:cs typeface="맑은 고딕"/>
              </a:rPr>
              <a:t>생성</a:t>
            </a:r>
            <a:endParaRPr sz="1000">
              <a:latin typeface="맑은 고딕"/>
              <a:cs typeface="맑은 고딕"/>
            </a:endParaRPr>
          </a:p>
          <a:p>
            <a:pPr marL="292735" marR="2866390" indent="-280670">
              <a:lnSpc>
                <a:spcPct val="100000"/>
              </a:lnSpc>
            </a:pPr>
            <a:r>
              <a:rPr sz="1000" dirty="0">
                <a:latin typeface="Consolas"/>
                <a:cs typeface="Consolas"/>
              </a:rPr>
              <a:t>graph</a:t>
            </a:r>
            <a:r>
              <a:rPr sz="1000" spc="-1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2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create_react_agent( </a:t>
            </a:r>
            <a:r>
              <a:rPr sz="1000" spc="-20" dirty="0">
                <a:latin typeface="Consolas"/>
                <a:cs typeface="Consolas"/>
              </a:rPr>
              <a:t>llm,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nsolas"/>
              <a:cs typeface="Consolas"/>
            </a:endParaRPr>
          </a:p>
          <a:p>
            <a:pPr marL="292735">
              <a:lnSpc>
                <a:spcPct val="100000"/>
              </a:lnSpc>
            </a:pPr>
            <a:r>
              <a:rPr sz="1000" spc="-10" dirty="0">
                <a:latin typeface="Consolas"/>
                <a:cs typeface="Consolas"/>
              </a:rPr>
              <a:t>state_modifier=system_prompt)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0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그래프</a:t>
            </a:r>
            <a:r>
              <a:rPr sz="1000" spc="17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spc="-25" dirty="0">
                <a:solidFill>
                  <a:srgbClr val="008000"/>
                </a:solidFill>
                <a:latin typeface="맑은 고딕"/>
                <a:cs typeface="맑은 고딕"/>
              </a:rPr>
              <a:t>실행</a:t>
            </a:r>
            <a:endParaRPr sz="10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000" spc="-90" dirty="0">
                <a:latin typeface="Consolas"/>
                <a:cs typeface="Consolas"/>
              </a:rPr>
              <a:t>inputs</a:t>
            </a:r>
            <a:r>
              <a:rPr sz="1000" spc="-204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=</a:t>
            </a:r>
            <a:r>
              <a:rPr sz="1000" spc="-170" dirty="0">
                <a:latin typeface="Consolas"/>
                <a:cs typeface="Consolas"/>
              </a:rPr>
              <a:t> </a:t>
            </a:r>
            <a:r>
              <a:rPr sz="1000" spc="-100" dirty="0">
                <a:latin typeface="Consolas"/>
                <a:cs typeface="Consolas"/>
              </a:rPr>
              <a:t>{</a:t>
            </a:r>
            <a:r>
              <a:rPr sz="1000" spc="-100" dirty="0">
                <a:solidFill>
                  <a:srgbClr val="A21515"/>
                </a:solidFill>
                <a:latin typeface="Consolas"/>
                <a:cs typeface="Consolas"/>
              </a:rPr>
              <a:t>"messages"</a:t>
            </a:r>
            <a:r>
              <a:rPr sz="1000" spc="-100" dirty="0">
                <a:latin typeface="Consolas"/>
                <a:cs typeface="Consolas"/>
              </a:rPr>
              <a:t>:</a:t>
            </a:r>
            <a:r>
              <a:rPr sz="1000" spc="-200" dirty="0">
                <a:latin typeface="Consolas"/>
                <a:cs typeface="Consolas"/>
              </a:rPr>
              <a:t> </a:t>
            </a:r>
            <a:r>
              <a:rPr sz="1000" spc="-105" dirty="0">
                <a:latin typeface="Consolas"/>
                <a:cs typeface="Consolas"/>
              </a:rPr>
              <a:t>[HumanMessage(content=</a:t>
            </a:r>
            <a:r>
              <a:rPr sz="1000" spc="-10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1000" spc="-105" dirty="0">
                <a:solidFill>
                  <a:srgbClr val="A21515"/>
                </a:solidFill>
                <a:latin typeface="맑은 고딕"/>
                <a:cs typeface="맑은 고딕"/>
              </a:rPr>
              <a:t>스테이크</a:t>
            </a:r>
            <a:r>
              <a:rPr sz="1000" spc="-1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000" spc="-70" dirty="0">
                <a:solidFill>
                  <a:srgbClr val="A21515"/>
                </a:solidFill>
                <a:latin typeface="맑은 고딕"/>
                <a:cs typeface="맑은 고딕"/>
              </a:rPr>
              <a:t>메뉴의</a:t>
            </a:r>
            <a:r>
              <a:rPr sz="1000" spc="4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000" spc="-80" dirty="0">
                <a:solidFill>
                  <a:srgbClr val="A21515"/>
                </a:solidFill>
                <a:latin typeface="맑은 고딕"/>
                <a:cs typeface="맑은 고딕"/>
              </a:rPr>
              <a:t>가격은</a:t>
            </a:r>
            <a:r>
              <a:rPr sz="1000" spc="2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000" spc="-65" dirty="0">
                <a:solidFill>
                  <a:srgbClr val="A21515"/>
                </a:solidFill>
                <a:latin typeface="맑은 고딕"/>
                <a:cs typeface="맑은 고딕"/>
              </a:rPr>
              <a:t>얼마인가요</a:t>
            </a:r>
            <a:r>
              <a:rPr sz="1000" spc="-65" dirty="0">
                <a:solidFill>
                  <a:srgbClr val="A21515"/>
                </a:solidFill>
                <a:latin typeface="Consolas"/>
                <a:cs typeface="Consolas"/>
              </a:rPr>
              <a:t>?"</a:t>
            </a:r>
            <a:r>
              <a:rPr sz="1000" spc="-65" dirty="0">
                <a:latin typeface="Consolas"/>
                <a:cs typeface="Consolas"/>
              </a:rPr>
              <a:t>)]}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Consolas"/>
                <a:cs typeface="Consolas"/>
              </a:rPr>
              <a:t>messages</a:t>
            </a:r>
            <a:r>
              <a:rPr sz="1000" spc="-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2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graph.invoke(inputs)</a:t>
            </a:r>
            <a:endParaRPr sz="1000">
              <a:latin typeface="Consolas"/>
              <a:cs typeface="Consolas"/>
            </a:endParaRPr>
          </a:p>
          <a:p>
            <a:pPr marL="292735" marR="2655570" indent="-280670">
              <a:lnSpc>
                <a:spcPct val="100000"/>
              </a:lnSpc>
            </a:pP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10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m</a:t>
            </a:r>
            <a:r>
              <a:rPr sz="1000" spc="-5" dirty="0"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10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messages[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'messages'</a:t>
            </a:r>
            <a:r>
              <a:rPr sz="1000" spc="-10" dirty="0">
                <a:latin typeface="Consolas"/>
                <a:cs typeface="Consolas"/>
              </a:rPr>
              <a:t>]: m.pretty_print()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================================</a:t>
            </a:r>
            <a:r>
              <a:rPr sz="800" spc="-25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Human</a:t>
            </a:r>
            <a:r>
              <a:rPr sz="800" b="1" spc="-30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Message</a:t>
            </a:r>
            <a:r>
              <a:rPr sz="800" b="1" spc="-2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=================================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latin typeface="맑은 고딕"/>
                <a:cs typeface="맑은 고딕"/>
              </a:rPr>
              <a:t>스테이크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메뉴의</a:t>
            </a:r>
            <a:r>
              <a:rPr sz="800" spc="15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가격은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spc="-10" dirty="0">
                <a:latin typeface="맑은 고딕"/>
                <a:cs typeface="맑은 고딕"/>
              </a:rPr>
              <a:t>얼마인가요</a:t>
            </a:r>
            <a:r>
              <a:rPr sz="800" spc="-10" dirty="0">
                <a:latin typeface="Consolas"/>
                <a:cs typeface="Consolas"/>
              </a:rPr>
              <a:t>?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==================================</a:t>
            </a:r>
            <a:r>
              <a:rPr sz="800" spc="-25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Ai</a:t>
            </a:r>
            <a:r>
              <a:rPr sz="800" b="1" spc="-25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Message</a:t>
            </a:r>
            <a:r>
              <a:rPr sz="800" b="1" spc="-2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==================================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20739" y="4760214"/>
            <a:ext cx="6381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onsolas"/>
                <a:cs typeface="Consolas"/>
              </a:rPr>
              <a:t>Tool</a:t>
            </a:r>
            <a:r>
              <a:rPr sz="800" spc="-5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Calls: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32677" y="4901310"/>
            <a:ext cx="2625090" cy="1206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22885">
              <a:lnSpc>
                <a:spcPts val="915"/>
              </a:lnSpc>
            </a:pPr>
            <a:r>
              <a:rPr sz="800" dirty="0">
                <a:latin typeface="Consolas"/>
                <a:cs typeface="Consolas"/>
              </a:rPr>
              <a:t>search_menu</a:t>
            </a:r>
            <a:r>
              <a:rPr sz="800" spc="-2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(call_jUlg9K9UGANFb3NE4bGwNYRe)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32677" y="5145151"/>
            <a:ext cx="514350" cy="1206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22885">
              <a:lnSpc>
                <a:spcPts val="915"/>
              </a:lnSpc>
            </a:pPr>
            <a:r>
              <a:rPr sz="800" spc="-10" dirty="0">
                <a:latin typeface="Consolas"/>
                <a:cs typeface="Consolas"/>
              </a:rPr>
              <a:t>Args: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32677" y="5265546"/>
            <a:ext cx="1254760" cy="1219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445770">
              <a:lnSpc>
                <a:spcPts val="925"/>
              </a:lnSpc>
            </a:pPr>
            <a:r>
              <a:rPr sz="800" dirty="0">
                <a:latin typeface="Consolas"/>
                <a:cs typeface="Consolas"/>
              </a:rPr>
              <a:t>query:</a:t>
            </a:r>
            <a:r>
              <a:rPr sz="800" spc="-15" dirty="0">
                <a:latin typeface="Consolas"/>
                <a:cs typeface="Consolas"/>
              </a:rPr>
              <a:t> </a:t>
            </a:r>
            <a:r>
              <a:rPr sz="800" spc="-20" dirty="0">
                <a:latin typeface="맑은 고딕"/>
                <a:cs typeface="맑은 고딕"/>
              </a:rPr>
              <a:t>스테이크</a:t>
            </a:r>
            <a:endParaRPr sz="800">
              <a:latin typeface="맑은 고딕"/>
              <a:cs typeface="맑은 고딕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20739" y="5004053"/>
            <a:ext cx="486664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onsolas"/>
                <a:cs typeface="Consolas"/>
              </a:rPr>
              <a:t>Call</a:t>
            </a:r>
            <a:r>
              <a:rPr sz="800" spc="-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ID:</a:t>
            </a:r>
            <a:r>
              <a:rPr sz="800" spc="-5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call_jUlg9K9UGANFb3NE4bGwNYRe</a:t>
            </a:r>
            <a:endParaRPr sz="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800" spc="-10" dirty="0">
                <a:latin typeface="Consolas"/>
                <a:cs typeface="Consolas"/>
              </a:rPr>
              <a:t>=================================</a:t>
            </a:r>
            <a:r>
              <a:rPr sz="800" spc="65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Tool</a:t>
            </a:r>
            <a:r>
              <a:rPr sz="800" b="1" spc="45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Message</a:t>
            </a:r>
            <a:r>
              <a:rPr sz="800" b="1" spc="6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=================================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Name:</a:t>
            </a:r>
            <a:r>
              <a:rPr sz="800" spc="-10" dirty="0">
                <a:latin typeface="Consolas"/>
                <a:cs typeface="Consolas"/>
              </a:rPr>
              <a:t> search_menu</a:t>
            </a:r>
            <a:endParaRPr sz="8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&lt;Document</a:t>
            </a:r>
            <a:r>
              <a:rPr sz="800" spc="-4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source="./data/restaurant_menu.txt"/&gt;</a:t>
            </a:r>
            <a:r>
              <a:rPr sz="800" spc="-4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1.</a:t>
            </a:r>
            <a:r>
              <a:rPr sz="800" spc="-10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시그니처</a:t>
            </a:r>
            <a:r>
              <a:rPr sz="800" spc="16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스테이크</a:t>
            </a:r>
            <a:r>
              <a:rPr sz="800" spc="140" dirty="0">
                <a:latin typeface="맑은 고딕"/>
                <a:cs typeface="맑은 고딕"/>
              </a:rPr>
              <a:t> </a:t>
            </a:r>
            <a:r>
              <a:rPr sz="800" dirty="0">
                <a:latin typeface="Consolas"/>
                <a:cs typeface="Consolas"/>
              </a:rPr>
              <a:t>• </a:t>
            </a:r>
            <a:r>
              <a:rPr sz="800" dirty="0">
                <a:latin typeface="맑은 고딕"/>
                <a:cs typeface="맑은 고딕"/>
              </a:rPr>
              <a:t>가격</a:t>
            </a:r>
            <a:r>
              <a:rPr sz="800" dirty="0">
                <a:latin typeface="Consolas"/>
                <a:cs typeface="Consolas"/>
              </a:rPr>
              <a:t>:</a:t>
            </a:r>
            <a:r>
              <a:rPr sz="800" spc="-1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₩35,000</a:t>
            </a:r>
            <a:r>
              <a:rPr sz="800" spc="-5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• </a:t>
            </a:r>
            <a:r>
              <a:rPr sz="800" spc="-50" dirty="0">
                <a:latin typeface="맑은 고딕"/>
                <a:cs typeface="맑은 고딕"/>
              </a:rPr>
              <a:t>주 </a:t>
            </a:r>
            <a:r>
              <a:rPr sz="800" dirty="0">
                <a:latin typeface="맑은 고딕"/>
                <a:cs typeface="맑은 고딕"/>
              </a:rPr>
              <a:t>요</a:t>
            </a:r>
            <a:r>
              <a:rPr sz="800" spc="15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식재료</a:t>
            </a:r>
            <a:r>
              <a:rPr sz="800" dirty="0">
                <a:latin typeface="Consolas"/>
                <a:cs typeface="Consolas"/>
              </a:rPr>
              <a:t>:</a:t>
            </a:r>
            <a:r>
              <a:rPr sz="800" spc="-20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최상급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한우</a:t>
            </a:r>
            <a:r>
              <a:rPr sz="800" spc="15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등심</a:t>
            </a:r>
            <a:r>
              <a:rPr sz="800" dirty="0">
                <a:latin typeface="Consolas"/>
                <a:cs typeface="Consolas"/>
              </a:rPr>
              <a:t>,</a:t>
            </a:r>
            <a:r>
              <a:rPr sz="800" spc="-10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로즈메리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감자</a:t>
            </a:r>
            <a:r>
              <a:rPr sz="800" dirty="0">
                <a:latin typeface="Consolas"/>
                <a:cs typeface="Consolas"/>
              </a:rPr>
              <a:t>,</a:t>
            </a:r>
            <a:r>
              <a:rPr sz="800" spc="-20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그릴드</a:t>
            </a:r>
            <a:r>
              <a:rPr sz="800" spc="14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아스파라거스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Consolas"/>
                <a:cs typeface="Consolas"/>
              </a:rPr>
              <a:t>•</a:t>
            </a:r>
            <a:r>
              <a:rPr sz="800" spc="-10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설명</a:t>
            </a:r>
            <a:r>
              <a:rPr sz="800" dirty="0">
                <a:latin typeface="Consolas"/>
                <a:cs typeface="Consolas"/>
              </a:rPr>
              <a:t>:</a:t>
            </a:r>
            <a:r>
              <a:rPr sz="800" spc="-20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셰프의</a:t>
            </a:r>
            <a:r>
              <a:rPr sz="800" spc="14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특제</a:t>
            </a:r>
            <a:r>
              <a:rPr sz="800" spc="150" dirty="0">
                <a:latin typeface="맑은 고딕"/>
                <a:cs typeface="맑은 고딕"/>
              </a:rPr>
              <a:t> </a:t>
            </a:r>
            <a:r>
              <a:rPr sz="800" spc="-20" dirty="0">
                <a:latin typeface="맑은 고딕"/>
                <a:cs typeface="맑은 고딕"/>
              </a:rPr>
              <a:t>시그니처 </a:t>
            </a:r>
            <a:r>
              <a:rPr sz="800" dirty="0">
                <a:latin typeface="맑은 고딕"/>
                <a:cs typeface="맑은 고딕"/>
              </a:rPr>
              <a:t>메뉴로</a:t>
            </a:r>
            <a:r>
              <a:rPr sz="800" dirty="0">
                <a:latin typeface="Consolas"/>
                <a:cs typeface="Consolas"/>
              </a:rPr>
              <a:t>,</a:t>
            </a:r>
            <a:r>
              <a:rPr sz="800" spc="-2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21</a:t>
            </a:r>
            <a:r>
              <a:rPr sz="800" dirty="0">
                <a:latin typeface="맑은 고딕"/>
                <a:cs typeface="맑은 고딕"/>
              </a:rPr>
              <a:t>일간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건조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숙성한</a:t>
            </a:r>
            <a:r>
              <a:rPr sz="800" spc="16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최상급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한우</a:t>
            </a:r>
            <a:r>
              <a:rPr sz="800" spc="15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등심을</a:t>
            </a:r>
            <a:r>
              <a:rPr sz="800" spc="15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사용합니다</a:t>
            </a:r>
            <a:r>
              <a:rPr sz="800" dirty="0">
                <a:latin typeface="Consolas"/>
                <a:cs typeface="Consolas"/>
              </a:rPr>
              <a:t>.</a:t>
            </a:r>
            <a:r>
              <a:rPr sz="800" spc="-30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미디엄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레어로</a:t>
            </a:r>
            <a:r>
              <a:rPr sz="800" spc="15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조리하여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육즙을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spc="-25" dirty="0">
                <a:latin typeface="맑은 고딕"/>
                <a:cs typeface="맑은 고딕"/>
              </a:rPr>
              <a:t>최대</a:t>
            </a:r>
            <a:r>
              <a:rPr sz="800" spc="50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한</a:t>
            </a:r>
            <a:r>
              <a:rPr sz="800" spc="15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보존하며</a:t>
            </a:r>
            <a:r>
              <a:rPr sz="800" dirty="0">
                <a:latin typeface="Consolas"/>
                <a:cs typeface="Consolas"/>
              </a:rPr>
              <a:t>,</a:t>
            </a:r>
            <a:r>
              <a:rPr sz="800" spc="-20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로즈메리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향의</a:t>
            </a:r>
            <a:r>
              <a:rPr sz="800" spc="15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감자와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아삭한</a:t>
            </a:r>
            <a:r>
              <a:rPr sz="800" spc="15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그릴드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아스파라거스가</a:t>
            </a:r>
            <a:r>
              <a:rPr sz="800" spc="12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곁들여집니다</a:t>
            </a:r>
            <a:r>
              <a:rPr sz="800" dirty="0">
                <a:latin typeface="Consolas"/>
                <a:cs typeface="Consolas"/>
              </a:rPr>
              <a:t>.</a:t>
            </a:r>
            <a:r>
              <a:rPr sz="800" spc="-30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레드와인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spc="-25" dirty="0">
                <a:latin typeface="맑은 고딕"/>
                <a:cs typeface="맑은 고딕"/>
              </a:rPr>
              <a:t>소스와 </a:t>
            </a:r>
            <a:r>
              <a:rPr sz="800" dirty="0">
                <a:latin typeface="맑은 고딕"/>
                <a:cs typeface="맑은 고딕"/>
              </a:rPr>
              <a:t>함께</a:t>
            </a:r>
            <a:r>
              <a:rPr sz="800" spc="15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제공되어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풍부한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맛을</a:t>
            </a:r>
            <a:r>
              <a:rPr sz="800" spc="15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더합니다</a:t>
            </a:r>
            <a:r>
              <a:rPr sz="800" dirty="0">
                <a:latin typeface="Consolas"/>
                <a:cs typeface="Consolas"/>
              </a:rPr>
              <a:t>.</a:t>
            </a:r>
            <a:r>
              <a:rPr sz="800" spc="-2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&lt;/Document&gt;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==================================</a:t>
            </a:r>
            <a:r>
              <a:rPr sz="800" spc="-25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Ai</a:t>
            </a:r>
            <a:r>
              <a:rPr sz="800" b="1" spc="-25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Message</a:t>
            </a:r>
            <a:r>
              <a:rPr sz="800" b="1" spc="-2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==================================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latin typeface="맑은 고딕"/>
                <a:cs typeface="맑은 고딕"/>
              </a:rPr>
              <a:t>스테이크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메뉴의</a:t>
            </a:r>
            <a:r>
              <a:rPr sz="800" spc="15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가격은</a:t>
            </a:r>
            <a:r>
              <a:rPr sz="800" spc="14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다음과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같습니다</a:t>
            </a:r>
            <a:r>
              <a:rPr sz="800" dirty="0">
                <a:latin typeface="Consolas"/>
                <a:cs typeface="Consolas"/>
              </a:rPr>
              <a:t>:</a:t>
            </a:r>
            <a:r>
              <a:rPr sz="800" spc="-15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시그니처</a:t>
            </a:r>
            <a:r>
              <a:rPr sz="800" spc="14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스테이크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Consolas"/>
                <a:cs typeface="Consolas"/>
              </a:rPr>
              <a:t>-</a:t>
            </a:r>
            <a:r>
              <a:rPr sz="800" spc="-5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가격</a:t>
            </a:r>
            <a:r>
              <a:rPr sz="800" dirty="0">
                <a:latin typeface="Consolas"/>
                <a:cs typeface="Consolas"/>
              </a:rPr>
              <a:t>:</a:t>
            </a:r>
            <a:r>
              <a:rPr sz="800" spc="-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₩35,000</a:t>
            </a:r>
            <a:r>
              <a:rPr sz="800" spc="-45" dirty="0">
                <a:latin typeface="Consolas"/>
                <a:cs typeface="Consolas"/>
              </a:rPr>
              <a:t> </a:t>
            </a:r>
            <a:r>
              <a:rPr sz="800" spc="-50" dirty="0">
                <a:latin typeface="Consolas"/>
                <a:cs typeface="Consolas"/>
              </a:rPr>
              <a:t>…</a:t>
            </a:r>
            <a:endParaRPr sz="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0"/>
              </a:spcBef>
            </a:pPr>
            <a:r>
              <a:rPr dirty="0"/>
              <a:t>StateGraph</a:t>
            </a:r>
            <a:r>
              <a:rPr spc="-135" dirty="0"/>
              <a:t> </a:t>
            </a:r>
            <a:r>
              <a:rPr dirty="0"/>
              <a:t>구조를</a:t>
            </a:r>
            <a:r>
              <a:rPr spc="-130" dirty="0"/>
              <a:t> </a:t>
            </a:r>
            <a:r>
              <a:rPr spc="-20" dirty="0"/>
              <a:t>사용하여</a:t>
            </a:r>
          </a:p>
          <a:p>
            <a:pPr marL="12700">
              <a:lnSpc>
                <a:spcPts val="3650"/>
              </a:lnSpc>
            </a:pPr>
            <a:r>
              <a:rPr dirty="0"/>
              <a:t>ReAct</a:t>
            </a:r>
            <a:r>
              <a:rPr spc="-70" dirty="0"/>
              <a:t> </a:t>
            </a:r>
            <a:r>
              <a:rPr dirty="0"/>
              <a:t>에이전트</a:t>
            </a:r>
            <a:r>
              <a:rPr spc="-75" dirty="0"/>
              <a:t> </a:t>
            </a:r>
            <a:r>
              <a:rPr spc="-25" dirty="0"/>
              <a:t>만들기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5551" y="659638"/>
            <a:ext cx="61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ReAct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01637" y="1822373"/>
            <a:ext cx="5605145" cy="4792345"/>
            <a:chOff x="401637" y="1822373"/>
            <a:chExt cx="5605145" cy="4792345"/>
          </a:xfrm>
        </p:grpSpPr>
        <p:sp>
          <p:nvSpPr>
            <p:cNvPr id="6" name="object 6"/>
            <p:cNvSpPr/>
            <p:nvPr/>
          </p:nvSpPr>
          <p:spPr>
            <a:xfrm>
              <a:off x="406400" y="1973961"/>
              <a:ext cx="5595620" cy="4636135"/>
            </a:xfrm>
            <a:custGeom>
              <a:avLst/>
              <a:gdLst/>
              <a:ahLst/>
              <a:cxnLst/>
              <a:rect l="l" t="t" r="r" b="b"/>
              <a:pathLst>
                <a:path w="5595620" h="4636134">
                  <a:moveTo>
                    <a:pt x="0" y="255015"/>
                  </a:moveTo>
                  <a:lnTo>
                    <a:pt x="4109" y="209176"/>
                  </a:lnTo>
                  <a:lnTo>
                    <a:pt x="15955" y="166032"/>
                  </a:lnTo>
                  <a:lnTo>
                    <a:pt x="34820" y="126303"/>
                  </a:lnTo>
                  <a:lnTo>
                    <a:pt x="59981" y="90711"/>
                  </a:lnTo>
                  <a:lnTo>
                    <a:pt x="90719" y="59976"/>
                  </a:lnTo>
                  <a:lnTo>
                    <a:pt x="126313" y="34816"/>
                  </a:lnTo>
                  <a:lnTo>
                    <a:pt x="166043" y="15954"/>
                  </a:lnTo>
                  <a:lnTo>
                    <a:pt x="209188" y="4108"/>
                  </a:lnTo>
                  <a:lnTo>
                    <a:pt x="255028" y="0"/>
                  </a:lnTo>
                  <a:lnTo>
                    <a:pt x="5340223" y="0"/>
                  </a:lnTo>
                  <a:lnTo>
                    <a:pt x="5386062" y="4108"/>
                  </a:lnTo>
                  <a:lnTo>
                    <a:pt x="5429206" y="15954"/>
                  </a:lnTo>
                  <a:lnTo>
                    <a:pt x="5468935" y="34816"/>
                  </a:lnTo>
                  <a:lnTo>
                    <a:pt x="5504527" y="59976"/>
                  </a:lnTo>
                  <a:lnTo>
                    <a:pt x="5535262" y="90711"/>
                  </a:lnTo>
                  <a:lnTo>
                    <a:pt x="5560422" y="126303"/>
                  </a:lnTo>
                  <a:lnTo>
                    <a:pt x="5579284" y="166032"/>
                  </a:lnTo>
                  <a:lnTo>
                    <a:pt x="5591130" y="209176"/>
                  </a:lnTo>
                  <a:lnTo>
                    <a:pt x="5595239" y="255015"/>
                  </a:lnTo>
                  <a:lnTo>
                    <a:pt x="5595239" y="4380966"/>
                  </a:lnTo>
                  <a:lnTo>
                    <a:pt x="5591130" y="4426810"/>
                  </a:lnTo>
                  <a:lnTo>
                    <a:pt x="5579284" y="4469957"/>
                  </a:lnTo>
                  <a:lnTo>
                    <a:pt x="5560422" y="4509687"/>
                  </a:lnTo>
                  <a:lnTo>
                    <a:pt x="5535262" y="4545281"/>
                  </a:lnTo>
                  <a:lnTo>
                    <a:pt x="5504527" y="4576018"/>
                  </a:lnTo>
                  <a:lnTo>
                    <a:pt x="5468935" y="4601178"/>
                  </a:lnTo>
                  <a:lnTo>
                    <a:pt x="5429206" y="4620040"/>
                  </a:lnTo>
                  <a:lnTo>
                    <a:pt x="5386062" y="4631886"/>
                  </a:lnTo>
                  <a:lnTo>
                    <a:pt x="5340223" y="4635995"/>
                  </a:lnTo>
                  <a:lnTo>
                    <a:pt x="255028" y="4635995"/>
                  </a:lnTo>
                  <a:lnTo>
                    <a:pt x="209188" y="4631886"/>
                  </a:lnTo>
                  <a:lnTo>
                    <a:pt x="166043" y="4620040"/>
                  </a:lnTo>
                  <a:lnTo>
                    <a:pt x="126313" y="4601178"/>
                  </a:lnTo>
                  <a:lnTo>
                    <a:pt x="90719" y="4576018"/>
                  </a:lnTo>
                  <a:lnTo>
                    <a:pt x="59981" y="4545281"/>
                  </a:lnTo>
                  <a:lnTo>
                    <a:pt x="34820" y="4509687"/>
                  </a:lnTo>
                  <a:lnTo>
                    <a:pt x="15955" y="4469957"/>
                  </a:lnTo>
                  <a:lnTo>
                    <a:pt x="4109" y="4426810"/>
                  </a:lnTo>
                  <a:lnTo>
                    <a:pt x="0" y="4380966"/>
                  </a:lnTo>
                  <a:lnTo>
                    <a:pt x="0" y="255015"/>
                  </a:lnTo>
                  <a:close/>
                </a:path>
              </a:pathLst>
            </a:custGeom>
            <a:ln w="952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0900" y="1822373"/>
              <a:ext cx="4470400" cy="391160"/>
            </a:xfrm>
            <a:custGeom>
              <a:avLst/>
              <a:gdLst/>
              <a:ahLst/>
              <a:cxnLst/>
              <a:rect l="l" t="t" r="r" b="b"/>
              <a:pathLst>
                <a:path w="4470400" h="391160">
                  <a:moveTo>
                    <a:pt x="4470400" y="0"/>
                  </a:moveTo>
                  <a:lnTo>
                    <a:pt x="0" y="0"/>
                  </a:lnTo>
                  <a:lnTo>
                    <a:pt x="0" y="390982"/>
                  </a:lnTo>
                  <a:lnTo>
                    <a:pt x="4470400" y="390982"/>
                  </a:lnTo>
                  <a:lnTo>
                    <a:pt x="44704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069520" y="1822373"/>
            <a:ext cx="5605145" cy="4792345"/>
            <a:chOff x="6069520" y="1822373"/>
            <a:chExt cx="5605145" cy="4792345"/>
          </a:xfrm>
        </p:grpSpPr>
        <p:sp>
          <p:nvSpPr>
            <p:cNvPr id="9" name="object 9"/>
            <p:cNvSpPr/>
            <p:nvPr/>
          </p:nvSpPr>
          <p:spPr>
            <a:xfrm>
              <a:off x="6074283" y="1973961"/>
              <a:ext cx="5595620" cy="4636135"/>
            </a:xfrm>
            <a:custGeom>
              <a:avLst/>
              <a:gdLst/>
              <a:ahLst/>
              <a:cxnLst/>
              <a:rect l="l" t="t" r="r" b="b"/>
              <a:pathLst>
                <a:path w="5595620" h="4636134">
                  <a:moveTo>
                    <a:pt x="0" y="255015"/>
                  </a:moveTo>
                  <a:lnTo>
                    <a:pt x="4108" y="209176"/>
                  </a:lnTo>
                  <a:lnTo>
                    <a:pt x="15954" y="166032"/>
                  </a:lnTo>
                  <a:lnTo>
                    <a:pt x="34816" y="126303"/>
                  </a:lnTo>
                  <a:lnTo>
                    <a:pt x="59976" y="90711"/>
                  </a:lnTo>
                  <a:lnTo>
                    <a:pt x="90711" y="59976"/>
                  </a:lnTo>
                  <a:lnTo>
                    <a:pt x="126303" y="34816"/>
                  </a:lnTo>
                  <a:lnTo>
                    <a:pt x="166032" y="15954"/>
                  </a:lnTo>
                  <a:lnTo>
                    <a:pt x="209176" y="4108"/>
                  </a:lnTo>
                  <a:lnTo>
                    <a:pt x="255015" y="0"/>
                  </a:lnTo>
                  <a:lnTo>
                    <a:pt x="5340222" y="0"/>
                  </a:lnTo>
                  <a:lnTo>
                    <a:pt x="5386062" y="4108"/>
                  </a:lnTo>
                  <a:lnTo>
                    <a:pt x="5429206" y="15954"/>
                  </a:lnTo>
                  <a:lnTo>
                    <a:pt x="5468935" y="34816"/>
                  </a:lnTo>
                  <a:lnTo>
                    <a:pt x="5504527" y="59976"/>
                  </a:lnTo>
                  <a:lnTo>
                    <a:pt x="5535262" y="90711"/>
                  </a:lnTo>
                  <a:lnTo>
                    <a:pt x="5560422" y="126303"/>
                  </a:lnTo>
                  <a:lnTo>
                    <a:pt x="5579284" y="166032"/>
                  </a:lnTo>
                  <a:lnTo>
                    <a:pt x="5591130" y="209176"/>
                  </a:lnTo>
                  <a:lnTo>
                    <a:pt x="5595239" y="255015"/>
                  </a:lnTo>
                  <a:lnTo>
                    <a:pt x="5595239" y="4380966"/>
                  </a:lnTo>
                  <a:lnTo>
                    <a:pt x="5591130" y="4426810"/>
                  </a:lnTo>
                  <a:lnTo>
                    <a:pt x="5579284" y="4469957"/>
                  </a:lnTo>
                  <a:lnTo>
                    <a:pt x="5560422" y="4509687"/>
                  </a:lnTo>
                  <a:lnTo>
                    <a:pt x="5535262" y="4545281"/>
                  </a:lnTo>
                  <a:lnTo>
                    <a:pt x="5504527" y="4576018"/>
                  </a:lnTo>
                  <a:lnTo>
                    <a:pt x="5468935" y="4601178"/>
                  </a:lnTo>
                  <a:lnTo>
                    <a:pt x="5429206" y="4620040"/>
                  </a:lnTo>
                  <a:lnTo>
                    <a:pt x="5386062" y="4631886"/>
                  </a:lnTo>
                  <a:lnTo>
                    <a:pt x="5340222" y="4635995"/>
                  </a:lnTo>
                  <a:lnTo>
                    <a:pt x="255015" y="4635995"/>
                  </a:lnTo>
                  <a:lnTo>
                    <a:pt x="209176" y="4631886"/>
                  </a:lnTo>
                  <a:lnTo>
                    <a:pt x="166032" y="4620040"/>
                  </a:lnTo>
                  <a:lnTo>
                    <a:pt x="126303" y="4601178"/>
                  </a:lnTo>
                  <a:lnTo>
                    <a:pt x="90711" y="4576018"/>
                  </a:lnTo>
                  <a:lnTo>
                    <a:pt x="59976" y="4545281"/>
                  </a:lnTo>
                  <a:lnTo>
                    <a:pt x="34816" y="4509687"/>
                  </a:lnTo>
                  <a:lnTo>
                    <a:pt x="15954" y="4469957"/>
                  </a:lnTo>
                  <a:lnTo>
                    <a:pt x="4108" y="4426810"/>
                  </a:lnTo>
                  <a:lnTo>
                    <a:pt x="0" y="4380966"/>
                  </a:lnTo>
                  <a:lnTo>
                    <a:pt x="0" y="255015"/>
                  </a:lnTo>
                  <a:close/>
                </a:path>
              </a:pathLst>
            </a:custGeom>
            <a:ln w="952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45402" y="1822373"/>
              <a:ext cx="4470400" cy="391160"/>
            </a:xfrm>
            <a:custGeom>
              <a:avLst/>
              <a:gdLst/>
              <a:ahLst/>
              <a:cxnLst/>
              <a:rect l="l" t="t" r="r" b="b"/>
              <a:pathLst>
                <a:path w="4470400" h="391160">
                  <a:moveTo>
                    <a:pt x="4470400" y="0"/>
                  </a:moveTo>
                  <a:lnTo>
                    <a:pt x="0" y="0"/>
                  </a:lnTo>
                  <a:lnTo>
                    <a:pt x="0" y="390982"/>
                  </a:lnTo>
                  <a:lnTo>
                    <a:pt x="4470400" y="390982"/>
                  </a:lnTo>
                  <a:lnTo>
                    <a:pt x="44704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50900" y="1822373"/>
            <a:ext cx="4470400" cy="3911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80645" algn="ctr">
              <a:lnSpc>
                <a:spcPct val="100000"/>
              </a:lnSpc>
              <a:spcBef>
                <a:spcPts val="425"/>
              </a:spcBef>
            </a:pP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조건부</a:t>
            </a:r>
            <a:r>
              <a:rPr sz="1800" b="1" spc="-1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엣지 함수를</a:t>
            </a:r>
            <a:r>
              <a:rPr sz="1800" b="1" spc="1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사용자</a:t>
            </a:r>
            <a:r>
              <a:rPr sz="1800" b="1" spc="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정의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45402" y="1822373"/>
            <a:ext cx="4470400" cy="3911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425"/>
              </a:spcBef>
            </a:pP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도구 노드 </a:t>
            </a:r>
            <a:r>
              <a:rPr sz="1800" b="1" spc="-10" dirty="0">
                <a:solidFill>
                  <a:srgbClr val="FFFFFF"/>
                </a:solidFill>
                <a:latin typeface="맑은 고딕"/>
                <a:cs typeface="맑은 고딕"/>
              </a:rPr>
              <a:t>ToolNode(tools)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64604" y="4842979"/>
            <a:ext cx="5032375" cy="1533525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0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langgraph.prebuilt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000" spc="-6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ToolNode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0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0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도구</a:t>
            </a:r>
            <a:r>
              <a:rPr sz="1000" spc="18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spc="-25" dirty="0">
                <a:solidFill>
                  <a:srgbClr val="008000"/>
                </a:solidFill>
                <a:latin typeface="맑은 고딕"/>
                <a:cs typeface="맑은 고딕"/>
              </a:rPr>
              <a:t>목록</a:t>
            </a:r>
            <a:endParaRPr sz="1000">
              <a:latin typeface="맑은 고딕"/>
              <a:cs typeface="맑은 고딕"/>
            </a:endParaRPr>
          </a:p>
          <a:p>
            <a:pPr marL="92075">
              <a:lnSpc>
                <a:spcPct val="100000"/>
              </a:lnSpc>
            </a:pPr>
            <a:r>
              <a:rPr sz="1000" dirty="0">
                <a:latin typeface="Consolas"/>
                <a:cs typeface="Consolas"/>
              </a:rPr>
              <a:t>tools</a:t>
            </a:r>
            <a:r>
              <a:rPr sz="1000" spc="-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[search_menu,</a:t>
            </a:r>
            <a:r>
              <a:rPr sz="1000" spc="-4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search_web]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0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0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도구</a:t>
            </a:r>
            <a:r>
              <a:rPr sz="1000" spc="18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노드</a:t>
            </a:r>
            <a:r>
              <a:rPr sz="1000" spc="19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spc="-25" dirty="0">
                <a:solidFill>
                  <a:srgbClr val="008000"/>
                </a:solidFill>
                <a:latin typeface="맑은 고딕"/>
                <a:cs typeface="맑은 고딕"/>
              </a:rPr>
              <a:t>정의</a:t>
            </a:r>
            <a:endParaRPr sz="1000">
              <a:latin typeface="맑은 고딕"/>
              <a:cs typeface="맑은 고딕"/>
            </a:endParaRPr>
          </a:p>
          <a:p>
            <a:pPr marL="92075">
              <a:lnSpc>
                <a:spcPct val="100000"/>
              </a:lnSpc>
            </a:pPr>
            <a:r>
              <a:rPr sz="1000" dirty="0">
                <a:latin typeface="Consolas"/>
                <a:cs typeface="Consolas"/>
              </a:rPr>
              <a:t>tool_node</a:t>
            </a:r>
            <a:r>
              <a:rPr sz="1000" spc="-55" dirty="0">
                <a:latin typeface="Consolas"/>
                <a:cs typeface="Consolas"/>
              </a:rPr>
              <a:t> </a:t>
            </a:r>
            <a:r>
              <a:rPr sz="1000" spc="-60" dirty="0">
                <a:latin typeface="Consolas"/>
                <a:cs typeface="Consolas"/>
              </a:rPr>
              <a:t>=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95768" y="6112509"/>
            <a:ext cx="1058545" cy="149860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125"/>
              </a:lnSpc>
            </a:pPr>
            <a:r>
              <a:rPr sz="1000" spc="-10" dirty="0">
                <a:latin typeface="Consolas"/>
                <a:cs typeface="Consolas"/>
              </a:rPr>
              <a:t>ToolNode(tools)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8560" y="2320543"/>
            <a:ext cx="465010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맑은 고딕"/>
                <a:cs typeface="맑은 고딕"/>
              </a:rPr>
              <a:t>조건부</a:t>
            </a:r>
            <a:r>
              <a:rPr sz="1600" spc="-50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엣지</a:t>
            </a:r>
            <a:r>
              <a:rPr sz="1600" spc="-5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함수를</a:t>
            </a:r>
            <a:r>
              <a:rPr sz="1600" spc="-4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정의하면</a:t>
            </a:r>
            <a:r>
              <a:rPr sz="1600" spc="-30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ReAct</a:t>
            </a:r>
            <a:r>
              <a:rPr sz="1600" spc="-55" dirty="0">
                <a:latin typeface="맑은 고딕"/>
                <a:cs typeface="맑은 고딕"/>
              </a:rPr>
              <a:t> </a:t>
            </a:r>
            <a:r>
              <a:rPr sz="1600" spc="-10" dirty="0">
                <a:latin typeface="맑은 고딕"/>
                <a:cs typeface="맑은 고딕"/>
              </a:rPr>
              <a:t>에이전트의 </a:t>
            </a:r>
            <a:r>
              <a:rPr sz="1600" dirty="0">
                <a:latin typeface="맑은 고딕"/>
                <a:cs typeface="맑은 고딕"/>
              </a:rPr>
              <a:t>동작을</a:t>
            </a:r>
            <a:r>
              <a:rPr sz="1600" spc="-3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더</a:t>
            </a:r>
            <a:r>
              <a:rPr sz="1600" spc="-3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세밀하게</a:t>
            </a:r>
            <a:r>
              <a:rPr sz="1600" spc="-3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제어</a:t>
            </a:r>
            <a:r>
              <a:rPr sz="1600" spc="-30" dirty="0">
                <a:latin typeface="맑은 고딕"/>
                <a:cs typeface="맑은 고딕"/>
              </a:rPr>
              <a:t> </a:t>
            </a:r>
            <a:r>
              <a:rPr sz="1600" spc="-25" dirty="0">
                <a:latin typeface="맑은 고딕"/>
                <a:cs typeface="맑은 고딕"/>
              </a:rPr>
              <a:t>가능</a:t>
            </a:r>
            <a:endParaRPr sz="1600">
              <a:latin typeface="맑은 고딕"/>
              <a:cs typeface="맑은 고딕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맑은 고딕"/>
                <a:cs typeface="맑은 고딕"/>
              </a:rPr>
              <a:t>도구</a:t>
            </a:r>
            <a:r>
              <a:rPr sz="1600" spc="-30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호출</a:t>
            </a:r>
            <a:r>
              <a:rPr sz="1600" spc="-3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여부에</a:t>
            </a:r>
            <a:r>
              <a:rPr sz="1600" spc="-2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따라</a:t>
            </a:r>
            <a:r>
              <a:rPr sz="1600" spc="-30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실행</a:t>
            </a:r>
            <a:r>
              <a:rPr sz="1600" spc="-3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지속</a:t>
            </a:r>
            <a:r>
              <a:rPr sz="1600" spc="-2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여부를</a:t>
            </a:r>
            <a:r>
              <a:rPr sz="1600" spc="-40" dirty="0">
                <a:latin typeface="맑은 고딕"/>
                <a:cs typeface="맑은 고딕"/>
              </a:rPr>
              <a:t> </a:t>
            </a:r>
            <a:r>
              <a:rPr sz="1600" spc="-25" dirty="0">
                <a:latin typeface="맑은 고딕"/>
                <a:cs typeface="맑은 고딕"/>
              </a:rPr>
              <a:t>결정</a:t>
            </a:r>
            <a:endParaRPr sz="1600">
              <a:latin typeface="맑은 고딕"/>
              <a:cs typeface="맑은 고딕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41145" y="3248151"/>
            <a:ext cx="3142615" cy="2588260"/>
            <a:chOff x="1141145" y="3248151"/>
            <a:chExt cx="3142615" cy="2588260"/>
          </a:xfrm>
        </p:grpSpPr>
        <p:sp>
          <p:nvSpPr>
            <p:cNvPr id="17" name="object 17"/>
            <p:cNvSpPr/>
            <p:nvPr/>
          </p:nvSpPr>
          <p:spPr>
            <a:xfrm>
              <a:off x="1141145" y="3248151"/>
              <a:ext cx="1049020" cy="149860"/>
            </a:xfrm>
            <a:custGeom>
              <a:avLst/>
              <a:gdLst/>
              <a:ahLst/>
              <a:cxnLst/>
              <a:rect l="l" t="t" r="r" b="b"/>
              <a:pathLst>
                <a:path w="1049020" h="149860">
                  <a:moveTo>
                    <a:pt x="1048511" y="0"/>
                  </a:moveTo>
                  <a:lnTo>
                    <a:pt x="0" y="0"/>
                  </a:lnTo>
                  <a:lnTo>
                    <a:pt x="0" y="149351"/>
                  </a:lnTo>
                  <a:lnTo>
                    <a:pt x="1048511" y="149351"/>
                  </a:lnTo>
                  <a:lnTo>
                    <a:pt x="104851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36595" y="4924564"/>
              <a:ext cx="1047115" cy="149860"/>
            </a:xfrm>
            <a:custGeom>
              <a:avLst/>
              <a:gdLst/>
              <a:ahLst/>
              <a:cxnLst/>
              <a:rect l="l" t="t" r="r" b="b"/>
              <a:pathLst>
                <a:path w="1047114" h="149860">
                  <a:moveTo>
                    <a:pt x="1046975" y="0"/>
                  </a:moveTo>
                  <a:lnTo>
                    <a:pt x="557784" y="0"/>
                  </a:lnTo>
                  <a:lnTo>
                    <a:pt x="0" y="0"/>
                  </a:lnTo>
                  <a:lnTo>
                    <a:pt x="0" y="149339"/>
                  </a:lnTo>
                  <a:lnTo>
                    <a:pt x="557784" y="149339"/>
                  </a:lnTo>
                  <a:lnTo>
                    <a:pt x="1046975" y="149339"/>
                  </a:lnTo>
                  <a:lnTo>
                    <a:pt x="1046975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41145" y="5686539"/>
              <a:ext cx="1049020" cy="149860"/>
            </a:xfrm>
            <a:custGeom>
              <a:avLst/>
              <a:gdLst/>
              <a:ahLst/>
              <a:cxnLst/>
              <a:rect l="l" t="t" r="r" b="b"/>
              <a:pathLst>
                <a:path w="1049020" h="149860">
                  <a:moveTo>
                    <a:pt x="1048511" y="0"/>
                  </a:moveTo>
                  <a:lnTo>
                    <a:pt x="0" y="0"/>
                  </a:lnTo>
                  <a:lnTo>
                    <a:pt x="0" y="149351"/>
                  </a:lnTo>
                  <a:lnTo>
                    <a:pt x="1048511" y="149351"/>
                  </a:lnTo>
                  <a:lnTo>
                    <a:pt x="104851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69289" y="3197809"/>
            <a:ext cx="5032375" cy="3234055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370205" marR="2138045" indent="-279400">
              <a:lnSpc>
                <a:spcPct val="100000"/>
              </a:lnSpc>
              <a:spcBef>
                <a:spcPts val="315"/>
              </a:spcBef>
            </a:pP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def</a:t>
            </a:r>
            <a:r>
              <a:rPr sz="1000" spc="-7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should_continue(state:</a:t>
            </a:r>
            <a:r>
              <a:rPr sz="1000" spc="-7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GraphState): </a:t>
            </a:r>
            <a:r>
              <a:rPr sz="1000" dirty="0">
                <a:latin typeface="Consolas"/>
                <a:cs typeface="Consolas"/>
              </a:rPr>
              <a:t>last_message</a:t>
            </a:r>
            <a:r>
              <a:rPr sz="1000" spc="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1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state[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"messages"</a:t>
            </a:r>
            <a:r>
              <a:rPr sz="1000" spc="-10" dirty="0">
                <a:latin typeface="Consolas"/>
                <a:cs typeface="Consolas"/>
              </a:rPr>
              <a:t>][-</a:t>
            </a:r>
            <a:r>
              <a:rPr sz="1000" spc="-25" dirty="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sz="1000" spc="-25" dirty="0">
                <a:latin typeface="Consolas"/>
                <a:cs typeface="Consolas"/>
              </a:rPr>
              <a:t>] </a:t>
            </a:r>
            <a:r>
              <a:rPr sz="10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0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도구</a:t>
            </a:r>
            <a:r>
              <a:rPr sz="1000" spc="17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호출이</a:t>
            </a:r>
            <a:r>
              <a:rPr sz="1000" spc="18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있으면</a:t>
            </a:r>
            <a:r>
              <a:rPr sz="1000" spc="18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도구</a:t>
            </a:r>
            <a:r>
              <a:rPr sz="1000" spc="19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노드로</a:t>
            </a:r>
            <a:r>
              <a:rPr sz="1000" spc="18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spc="-25" dirty="0">
                <a:solidFill>
                  <a:srgbClr val="008000"/>
                </a:solidFill>
                <a:latin typeface="맑은 고딕"/>
                <a:cs typeface="맑은 고딕"/>
              </a:rPr>
              <a:t>이동 </a:t>
            </a: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10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last_message.tool_calls:</a:t>
            </a:r>
            <a:endParaRPr sz="1000">
              <a:latin typeface="Consolas"/>
              <a:cs typeface="Consolas"/>
            </a:endParaRPr>
          </a:p>
          <a:p>
            <a:pPr marL="650875">
              <a:lnSpc>
                <a:spcPct val="100000"/>
              </a:lnSpc>
            </a:pP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0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"execute_tools"</a:t>
            </a:r>
            <a:endParaRPr sz="1000">
              <a:latin typeface="Consolas"/>
              <a:cs typeface="Consolas"/>
            </a:endParaRPr>
          </a:p>
          <a:p>
            <a:pPr marL="370205">
              <a:lnSpc>
                <a:spcPct val="100000"/>
              </a:lnSpc>
            </a:pPr>
            <a:r>
              <a:rPr sz="10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0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도구</a:t>
            </a:r>
            <a:r>
              <a:rPr sz="1000" spc="17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호출이</a:t>
            </a:r>
            <a:r>
              <a:rPr sz="1000" spc="18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없으면</a:t>
            </a:r>
            <a:r>
              <a:rPr sz="1000" spc="18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답변</a:t>
            </a:r>
            <a:r>
              <a:rPr sz="1000" spc="18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생성하고</a:t>
            </a:r>
            <a:r>
              <a:rPr sz="1000" spc="18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spc="-25" dirty="0">
                <a:solidFill>
                  <a:srgbClr val="008000"/>
                </a:solidFill>
                <a:latin typeface="맑은 고딕"/>
                <a:cs typeface="맑은 고딕"/>
              </a:rPr>
              <a:t>종료</a:t>
            </a:r>
            <a:endParaRPr sz="1000">
              <a:latin typeface="맑은 고딕"/>
              <a:cs typeface="맑은 고딕"/>
            </a:endParaRPr>
          </a:p>
          <a:p>
            <a:pPr marL="371475">
              <a:lnSpc>
                <a:spcPct val="100000"/>
              </a:lnSpc>
            </a:pP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0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spc="-25" dirty="0">
                <a:latin typeface="Consolas"/>
                <a:cs typeface="Consolas"/>
              </a:rPr>
              <a:t>END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0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0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그래프</a:t>
            </a:r>
            <a:r>
              <a:rPr sz="1000" spc="18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spc="-25" dirty="0">
                <a:solidFill>
                  <a:srgbClr val="008000"/>
                </a:solidFill>
                <a:latin typeface="맑은 고딕"/>
                <a:cs typeface="맑은 고딕"/>
              </a:rPr>
              <a:t>구성</a:t>
            </a:r>
            <a:endParaRPr sz="1000">
              <a:latin typeface="맑은 고딕"/>
              <a:cs typeface="맑은 고딕"/>
            </a:endParaRPr>
          </a:p>
          <a:p>
            <a:pPr marL="91440" marR="1439545">
              <a:lnSpc>
                <a:spcPct val="100000"/>
              </a:lnSpc>
            </a:pPr>
            <a:r>
              <a:rPr sz="1000" dirty="0">
                <a:latin typeface="Consolas"/>
                <a:cs typeface="Consolas"/>
              </a:rPr>
              <a:t>builder</a:t>
            </a:r>
            <a:r>
              <a:rPr sz="1000" spc="-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1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StateGraph(GraphState) builder.add_node(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"call_model"</a:t>
            </a:r>
            <a:r>
              <a:rPr sz="1000" spc="-10" dirty="0">
                <a:latin typeface="Consolas"/>
                <a:cs typeface="Consolas"/>
              </a:rPr>
              <a:t>,</a:t>
            </a:r>
            <a:r>
              <a:rPr sz="1000" spc="9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call_model) builder.add_node(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"execute_tools"</a:t>
            </a:r>
            <a:r>
              <a:rPr sz="1000" spc="-10" dirty="0">
                <a:latin typeface="Consolas"/>
                <a:cs typeface="Consolas"/>
              </a:rPr>
              <a:t>,</a:t>
            </a:r>
            <a:r>
              <a:rPr sz="1000" spc="12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ToolNode(tools))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nsolas"/>
              <a:cs typeface="Consolas"/>
            </a:endParaRPr>
          </a:p>
          <a:p>
            <a:pPr marL="91440" marR="2348230">
              <a:lnSpc>
                <a:spcPct val="100000"/>
              </a:lnSpc>
            </a:pPr>
            <a:r>
              <a:rPr sz="1000" spc="-10" dirty="0">
                <a:latin typeface="Consolas"/>
                <a:cs typeface="Consolas"/>
              </a:rPr>
              <a:t>builder.add_edge(START,</a:t>
            </a:r>
            <a:r>
              <a:rPr sz="1000" spc="75" dirty="0">
                <a:latin typeface="Consolas"/>
                <a:cs typeface="Consolas"/>
              </a:rPr>
              <a:t> 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"call_model"</a:t>
            </a:r>
            <a:r>
              <a:rPr sz="1000" spc="-10" dirty="0">
                <a:latin typeface="Consolas"/>
                <a:cs typeface="Consolas"/>
              </a:rPr>
              <a:t>) builder.add_conditional_edges(</a:t>
            </a:r>
            <a:endParaRPr sz="1000">
              <a:latin typeface="Consolas"/>
              <a:cs typeface="Consolas"/>
            </a:endParaRPr>
          </a:p>
          <a:p>
            <a:pPr marL="371475" marR="3533775">
              <a:lnSpc>
                <a:spcPct val="100000"/>
              </a:lnSpc>
            </a:pP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"call_model"</a:t>
            </a:r>
            <a:r>
              <a:rPr sz="1000" spc="-10" dirty="0">
                <a:latin typeface="Consolas"/>
                <a:cs typeface="Consolas"/>
              </a:rPr>
              <a:t>, should_continue,</a:t>
            </a:r>
            <a:endParaRPr sz="10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000" spc="-50" dirty="0"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91440" marR="1649730">
              <a:lnSpc>
                <a:spcPct val="100000"/>
              </a:lnSpc>
            </a:pPr>
            <a:r>
              <a:rPr sz="1000" spc="-10" dirty="0">
                <a:latin typeface="Consolas"/>
                <a:cs typeface="Consolas"/>
              </a:rPr>
              <a:t>builder.add_edge(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"execute_tools"</a:t>
            </a:r>
            <a:r>
              <a:rPr sz="1000" spc="-10" dirty="0">
                <a:latin typeface="Consolas"/>
                <a:cs typeface="Consolas"/>
              </a:rPr>
              <a:t>,</a:t>
            </a:r>
            <a:r>
              <a:rPr sz="1000" spc="120" dirty="0">
                <a:latin typeface="Consolas"/>
                <a:cs typeface="Consolas"/>
              </a:rPr>
              <a:t> 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"call_model"</a:t>
            </a:r>
            <a:r>
              <a:rPr sz="1000" spc="-10" dirty="0">
                <a:latin typeface="Consolas"/>
                <a:cs typeface="Consolas"/>
              </a:rPr>
              <a:t>) </a:t>
            </a:r>
            <a:r>
              <a:rPr sz="1000" dirty="0">
                <a:latin typeface="Consolas"/>
                <a:cs typeface="Consolas"/>
              </a:rPr>
              <a:t>graph</a:t>
            </a:r>
            <a:r>
              <a:rPr sz="1000" spc="-1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2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builder.compile()</a:t>
            </a:r>
            <a:endParaRPr sz="1000">
              <a:latin typeface="Consolas"/>
              <a:cs typeface="Consolas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4403" y="3272663"/>
            <a:ext cx="1783588" cy="150748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374384" y="2320543"/>
            <a:ext cx="4871720" cy="2063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맑은 고딕"/>
                <a:cs typeface="맑은 고딕"/>
              </a:rPr>
              <a:t>목적:</a:t>
            </a:r>
            <a:r>
              <a:rPr sz="1600" spc="-3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모델이</a:t>
            </a:r>
            <a:r>
              <a:rPr sz="1600" spc="-3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요청한</a:t>
            </a:r>
            <a:r>
              <a:rPr sz="1600" spc="-40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도구</a:t>
            </a:r>
            <a:r>
              <a:rPr sz="1600" spc="-3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호출을</a:t>
            </a:r>
            <a:r>
              <a:rPr sz="1600" spc="-3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실제로</a:t>
            </a:r>
            <a:r>
              <a:rPr sz="1600" spc="-30" dirty="0">
                <a:latin typeface="맑은 고딕"/>
                <a:cs typeface="맑은 고딕"/>
              </a:rPr>
              <a:t> </a:t>
            </a:r>
            <a:r>
              <a:rPr sz="1600" spc="-25" dirty="0">
                <a:latin typeface="맑은 고딕"/>
                <a:cs typeface="맑은 고딕"/>
              </a:rPr>
              <a:t>실행</a:t>
            </a:r>
            <a:endParaRPr sz="1600">
              <a:latin typeface="맑은 고딕"/>
              <a:cs typeface="맑은 고딕"/>
            </a:endParaRPr>
          </a:p>
          <a:p>
            <a:pPr marL="299085" indent="-286385">
              <a:lnSpc>
                <a:spcPct val="100000"/>
              </a:lnSpc>
              <a:spcBef>
                <a:spcPts val="1920"/>
              </a:spcBef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맑은 고딕"/>
                <a:cs typeface="맑은 고딕"/>
              </a:rPr>
              <a:t>작동</a:t>
            </a:r>
            <a:r>
              <a:rPr sz="1600" spc="-25" dirty="0">
                <a:latin typeface="맑은 고딕"/>
                <a:cs typeface="맑은 고딕"/>
              </a:rPr>
              <a:t> 방식:</a:t>
            </a:r>
            <a:endParaRPr sz="1600">
              <a:latin typeface="맑은 고딕"/>
              <a:cs typeface="맑은 고딕"/>
            </a:endParaRPr>
          </a:p>
          <a:p>
            <a:pPr marL="697230" lvl="1" indent="-227965">
              <a:lnSpc>
                <a:spcPct val="100000"/>
              </a:lnSpc>
              <a:spcBef>
                <a:spcPts val="2370"/>
              </a:spcBef>
              <a:buAutoNum type="arabicPeriod"/>
              <a:tabLst>
                <a:tab pos="697230" algn="l"/>
              </a:tabLst>
            </a:pPr>
            <a:r>
              <a:rPr sz="1200" dirty="0">
                <a:latin typeface="맑은 고딕"/>
                <a:cs typeface="맑은 고딕"/>
              </a:rPr>
              <a:t>최신</a:t>
            </a:r>
            <a:r>
              <a:rPr sz="1200" spc="-2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AIMessage의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tool_calls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필드에서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도구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호출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정보</a:t>
            </a:r>
            <a:r>
              <a:rPr sz="1200" spc="-25" dirty="0">
                <a:latin typeface="맑은 고딕"/>
                <a:cs typeface="맑은 고딕"/>
              </a:rPr>
              <a:t> 추출</a:t>
            </a:r>
            <a:endParaRPr sz="1200">
              <a:latin typeface="맑은 고딕"/>
              <a:cs typeface="맑은 고딕"/>
            </a:endParaRPr>
          </a:p>
          <a:p>
            <a:pPr marL="697230" lvl="1" indent="-22796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697230" algn="l"/>
              </a:tabLst>
            </a:pPr>
            <a:r>
              <a:rPr sz="1200" dirty="0">
                <a:latin typeface="맑은 고딕"/>
                <a:cs typeface="맑은 고딕"/>
              </a:rPr>
              <a:t>추출된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도구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호출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요청들을 동시에(병렬로) </a:t>
            </a:r>
            <a:r>
              <a:rPr sz="1200" spc="-35" dirty="0">
                <a:latin typeface="맑은 고딕"/>
                <a:cs typeface="맑은 고딕"/>
              </a:rPr>
              <a:t>실행</a:t>
            </a:r>
            <a:endParaRPr sz="1200">
              <a:latin typeface="맑은 고딕"/>
              <a:cs typeface="맑은 고딕"/>
            </a:endParaRPr>
          </a:p>
          <a:p>
            <a:pPr marL="697865" lvl="1" indent="-22860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697865" algn="l"/>
              </a:tabLst>
            </a:pPr>
            <a:r>
              <a:rPr sz="1200" dirty="0">
                <a:latin typeface="맑은 고딕"/>
                <a:cs typeface="맑은 고딕"/>
              </a:rPr>
              <a:t>각</a:t>
            </a:r>
            <a:r>
              <a:rPr sz="1200" spc="-2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도구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호출의</a:t>
            </a:r>
            <a:r>
              <a:rPr sz="1200" spc="-2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결과에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대해</a:t>
            </a:r>
            <a:r>
              <a:rPr sz="1200" spc="-25" dirty="0">
                <a:latin typeface="맑은 고딕"/>
                <a:cs typeface="맑은 고딕"/>
              </a:rPr>
              <a:t> </a:t>
            </a:r>
            <a:r>
              <a:rPr sz="1200" spc="-10" dirty="0">
                <a:latin typeface="맑은 고딕"/>
                <a:cs typeface="맑은 고딕"/>
              </a:rPr>
              <a:t>ToolMessage를 </a:t>
            </a:r>
            <a:r>
              <a:rPr sz="1200" dirty="0">
                <a:latin typeface="맑은 고딕"/>
                <a:cs typeface="맑은 고딕"/>
              </a:rPr>
              <a:t>생성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(결과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포함)</a:t>
            </a:r>
            <a:endParaRPr sz="1200">
              <a:latin typeface="맑은 고딕"/>
              <a:cs typeface="맑은 고딕"/>
            </a:endParaRPr>
          </a:p>
          <a:p>
            <a:pPr marL="697230" lvl="1" indent="-227965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697230" algn="l"/>
              </a:tabLst>
            </a:pPr>
            <a:r>
              <a:rPr sz="1200" spc="-10" dirty="0">
                <a:latin typeface="맑은 고딕"/>
                <a:cs typeface="맑은 고딕"/>
              </a:rPr>
              <a:t>ToolMessage는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다시 AI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모델에게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전달</a:t>
            </a:r>
            <a:r>
              <a:rPr sz="1200" spc="409" dirty="0">
                <a:latin typeface="맑은 고딕"/>
                <a:cs typeface="맑은 고딕"/>
              </a:rPr>
              <a:t> </a:t>
            </a:r>
            <a:r>
              <a:rPr sz="1200" spc="-10" dirty="0">
                <a:latin typeface="맑은 고딕"/>
                <a:cs typeface="맑은 고딕"/>
              </a:rPr>
              <a:t>-</a:t>
            </a:r>
            <a:r>
              <a:rPr sz="1200" dirty="0">
                <a:latin typeface="맑은 고딕"/>
                <a:cs typeface="맑은 고딕"/>
              </a:rPr>
              <a:t>&gt;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답변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생성</a:t>
            </a:r>
            <a:endParaRPr sz="12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0"/>
              </a:spcBef>
            </a:pPr>
            <a:r>
              <a:rPr dirty="0"/>
              <a:t>StateGraph</a:t>
            </a:r>
            <a:r>
              <a:rPr spc="-135" dirty="0"/>
              <a:t> </a:t>
            </a:r>
            <a:r>
              <a:rPr dirty="0"/>
              <a:t>구조를</a:t>
            </a:r>
            <a:r>
              <a:rPr spc="-130" dirty="0"/>
              <a:t> </a:t>
            </a:r>
            <a:r>
              <a:rPr spc="-20" dirty="0"/>
              <a:t>사용하여</a:t>
            </a:r>
          </a:p>
          <a:p>
            <a:pPr marL="12700">
              <a:lnSpc>
                <a:spcPts val="3650"/>
              </a:lnSpc>
            </a:pPr>
            <a:r>
              <a:rPr dirty="0"/>
              <a:t>ReAct</a:t>
            </a:r>
            <a:r>
              <a:rPr spc="-70" dirty="0"/>
              <a:t> </a:t>
            </a:r>
            <a:r>
              <a:rPr dirty="0"/>
              <a:t>에이전트</a:t>
            </a:r>
            <a:r>
              <a:rPr spc="-75" dirty="0"/>
              <a:t> </a:t>
            </a:r>
            <a:r>
              <a:rPr spc="-25" dirty="0"/>
              <a:t>만들기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5551" y="659638"/>
            <a:ext cx="61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ReAct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01637" y="1822373"/>
            <a:ext cx="5605145" cy="4792345"/>
            <a:chOff x="401637" y="1822373"/>
            <a:chExt cx="5605145" cy="4792345"/>
          </a:xfrm>
        </p:grpSpPr>
        <p:sp>
          <p:nvSpPr>
            <p:cNvPr id="6" name="object 6"/>
            <p:cNvSpPr/>
            <p:nvPr/>
          </p:nvSpPr>
          <p:spPr>
            <a:xfrm>
              <a:off x="406400" y="1973961"/>
              <a:ext cx="5595620" cy="4636135"/>
            </a:xfrm>
            <a:custGeom>
              <a:avLst/>
              <a:gdLst/>
              <a:ahLst/>
              <a:cxnLst/>
              <a:rect l="l" t="t" r="r" b="b"/>
              <a:pathLst>
                <a:path w="5595620" h="4636134">
                  <a:moveTo>
                    <a:pt x="0" y="255015"/>
                  </a:moveTo>
                  <a:lnTo>
                    <a:pt x="4109" y="209176"/>
                  </a:lnTo>
                  <a:lnTo>
                    <a:pt x="15955" y="166032"/>
                  </a:lnTo>
                  <a:lnTo>
                    <a:pt x="34820" y="126303"/>
                  </a:lnTo>
                  <a:lnTo>
                    <a:pt x="59981" y="90711"/>
                  </a:lnTo>
                  <a:lnTo>
                    <a:pt x="90719" y="59976"/>
                  </a:lnTo>
                  <a:lnTo>
                    <a:pt x="126313" y="34816"/>
                  </a:lnTo>
                  <a:lnTo>
                    <a:pt x="166043" y="15954"/>
                  </a:lnTo>
                  <a:lnTo>
                    <a:pt x="209188" y="4108"/>
                  </a:lnTo>
                  <a:lnTo>
                    <a:pt x="255028" y="0"/>
                  </a:lnTo>
                  <a:lnTo>
                    <a:pt x="5340223" y="0"/>
                  </a:lnTo>
                  <a:lnTo>
                    <a:pt x="5386062" y="4108"/>
                  </a:lnTo>
                  <a:lnTo>
                    <a:pt x="5429206" y="15954"/>
                  </a:lnTo>
                  <a:lnTo>
                    <a:pt x="5468935" y="34816"/>
                  </a:lnTo>
                  <a:lnTo>
                    <a:pt x="5504527" y="59976"/>
                  </a:lnTo>
                  <a:lnTo>
                    <a:pt x="5535262" y="90711"/>
                  </a:lnTo>
                  <a:lnTo>
                    <a:pt x="5560422" y="126303"/>
                  </a:lnTo>
                  <a:lnTo>
                    <a:pt x="5579284" y="166032"/>
                  </a:lnTo>
                  <a:lnTo>
                    <a:pt x="5591130" y="209176"/>
                  </a:lnTo>
                  <a:lnTo>
                    <a:pt x="5595239" y="255015"/>
                  </a:lnTo>
                  <a:lnTo>
                    <a:pt x="5595239" y="4380966"/>
                  </a:lnTo>
                  <a:lnTo>
                    <a:pt x="5591130" y="4426810"/>
                  </a:lnTo>
                  <a:lnTo>
                    <a:pt x="5579284" y="4469957"/>
                  </a:lnTo>
                  <a:lnTo>
                    <a:pt x="5560422" y="4509687"/>
                  </a:lnTo>
                  <a:lnTo>
                    <a:pt x="5535262" y="4545281"/>
                  </a:lnTo>
                  <a:lnTo>
                    <a:pt x="5504527" y="4576018"/>
                  </a:lnTo>
                  <a:lnTo>
                    <a:pt x="5468935" y="4601178"/>
                  </a:lnTo>
                  <a:lnTo>
                    <a:pt x="5429206" y="4620040"/>
                  </a:lnTo>
                  <a:lnTo>
                    <a:pt x="5386062" y="4631886"/>
                  </a:lnTo>
                  <a:lnTo>
                    <a:pt x="5340223" y="4635995"/>
                  </a:lnTo>
                  <a:lnTo>
                    <a:pt x="255028" y="4635995"/>
                  </a:lnTo>
                  <a:lnTo>
                    <a:pt x="209188" y="4631886"/>
                  </a:lnTo>
                  <a:lnTo>
                    <a:pt x="166043" y="4620040"/>
                  </a:lnTo>
                  <a:lnTo>
                    <a:pt x="126313" y="4601178"/>
                  </a:lnTo>
                  <a:lnTo>
                    <a:pt x="90719" y="4576018"/>
                  </a:lnTo>
                  <a:lnTo>
                    <a:pt x="59981" y="4545281"/>
                  </a:lnTo>
                  <a:lnTo>
                    <a:pt x="34820" y="4509687"/>
                  </a:lnTo>
                  <a:lnTo>
                    <a:pt x="15955" y="4469957"/>
                  </a:lnTo>
                  <a:lnTo>
                    <a:pt x="4109" y="4426810"/>
                  </a:lnTo>
                  <a:lnTo>
                    <a:pt x="0" y="4380966"/>
                  </a:lnTo>
                  <a:lnTo>
                    <a:pt x="0" y="255015"/>
                  </a:lnTo>
                  <a:close/>
                </a:path>
              </a:pathLst>
            </a:custGeom>
            <a:ln w="952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0900" y="1822373"/>
              <a:ext cx="4470400" cy="391160"/>
            </a:xfrm>
            <a:custGeom>
              <a:avLst/>
              <a:gdLst/>
              <a:ahLst/>
              <a:cxnLst/>
              <a:rect l="l" t="t" r="r" b="b"/>
              <a:pathLst>
                <a:path w="4470400" h="391160">
                  <a:moveTo>
                    <a:pt x="4470400" y="0"/>
                  </a:moveTo>
                  <a:lnTo>
                    <a:pt x="0" y="0"/>
                  </a:lnTo>
                  <a:lnTo>
                    <a:pt x="0" y="390982"/>
                  </a:lnTo>
                  <a:lnTo>
                    <a:pt x="4470400" y="390982"/>
                  </a:lnTo>
                  <a:lnTo>
                    <a:pt x="44704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069520" y="1822373"/>
            <a:ext cx="5605145" cy="4792345"/>
            <a:chOff x="6069520" y="1822373"/>
            <a:chExt cx="5605145" cy="4792345"/>
          </a:xfrm>
        </p:grpSpPr>
        <p:sp>
          <p:nvSpPr>
            <p:cNvPr id="9" name="object 9"/>
            <p:cNvSpPr/>
            <p:nvPr/>
          </p:nvSpPr>
          <p:spPr>
            <a:xfrm>
              <a:off x="6074283" y="1973961"/>
              <a:ext cx="5595620" cy="4636135"/>
            </a:xfrm>
            <a:custGeom>
              <a:avLst/>
              <a:gdLst/>
              <a:ahLst/>
              <a:cxnLst/>
              <a:rect l="l" t="t" r="r" b="b"/>
              <a:pathLst>
                <a:path w="5595620" h="4636134">
                  <a:moveTo>
                    <a:pt x="0" y="255015"/>
                  </a:moveTo>
                  <a:lnTo>
                    <a:pt x="4108" y="209176"/>
                  </a:lnTo>
                  <a:lnTo>
                    <a:pt x="15954" y="166032"/>
                  </a:lnTo>
                  <a:lnTo>
                    <a:pt x="34816" y="126303"/>
                  </a:lnTo>
                  <a:lnTo>
                    <a:pt x="59976" y="90711"/>
                  </a:lnTo>
                  <a:lnTo>
                    <a:pt x="90711" y="59976"/>
                  </a:lnTo>
                  <a:lnTo>
                    <a:pt x="126303" y="34816"/>
                  </a:lnTo>
                  <a:lnTo>
                    <a:pt x="166032" y="15954"/>
                  </a:lnTo>
                  <a:lnTo>
                    <a:pt x="209176" y="4108"/>
                  </a:lnTo>
                  <a:lnTo>
                    <a:pt x="255015" y="0"/>
                  </a:lnTo>
                  <a:lnTo>
                    <a:pt x="5340222" y="0"/>
                  </a:lnTo>
                  <a:lnTo>
                    <a:pt x="5386062" y="4108"/>
                  </a:lnTo>
                  <a:lnTo>
                    <a:pt x="5429206" y="15954"/>
                  </a:lnTo>
                  <a:lnTo>
                    <a:pt x="5468935" y="34816"/>
                  </a:lnTo>
                  <a:lnTo>
                    <a:pt x="5504527" y="59976"/>
                  </a:lnTo>
                  <a:lnTo>
                    <a:pt x="5535262" y="90711"/>
                  </a:lnTo>
                  <a:lnTo>
                    <a:pt x="5560422" y="126303"/>
                  </a:lnTo>
                  <a:lnTo>
                    <a:pt x="5579284" y="166032"/>
                  </a:lnTo>
                  <a:lnTo>
                    <a:pt x="5591130" y="209176"/>
                  </a:lnTo>
                  <a:lnTo>
                    <a:pt x="5595239" y="255015"/>
                  </a:lnTo>
                  <a:lnTo>
                    <a:pt x="5595239" y="4380966"/>
                  </a:lnTo>
                  <a:lnTo>
                    <a:pt x="5591130" y="4426810"/>
                  </a:lnTo>
                  <a:lnTo>
                    <a:pt x="5579284" y="4469957"/>
                  </a:lnTo>
                  <a:lnTo>
                    <a:pt x="5560422" y="4509687"/>
                  </a:lnTo>
                  <a:lnTo>
                    <a:pt x="5535262" y="4545281"/>
                  </a:lnTo>
                  <a:lnTo>
                    <a:pt x="5504527" y="4576018"/>
                  </a:lnTo>
                  <a:lnTo>
                    <a:pt x="5468935" y="4601178"/>
                  </a:lnTo>
                  <a:lnTo>
                    <a:pt x="5429206" y="4620040"/>
                  </a:lnTo>
                  <a:lnTo>
                    <a:pt x="5386062" y="4631886"/>
                  </a:lnTo>
                  <a:lnTo>
                    <a:pt x="5340222" y="4635995"/>
                  </a:lnTo>
                  <a:lnTo>
                    <a:pt x="255015" y="4635995"/>
                  </a:lnTo>
                  <a:lnTo>
                    <a:pt x="209176" y="4631886"/>
                  </a:lnTo>
                  <a:lnTo>
                    <a:pt x="166032" y="4620040"/>
                  </a:lnTo>
                  <a:lnTo>
                    <a:pt x="126303" y="4601178"/>
                  </a:lnTo>
                  <a:lnTo>
                    <a:pt x="90711" y="4576018"/>
                  </a:lnTo>
                  <a:lnTo>
                    <a:pt x="59976" y="4545281"/>
                  </a:lnTo>
                  <a:lnTo>
                    <a:pt x="34816" y="4509687"/>
                  </a:lnTo>
                  <a:lnTo>
                    <a:pt x="15954" y="4469957"/>
                  </a:lnTo>
                  <a:lnTo>
                    <a:pt x="4108" y="4426810"/>
                  </a:lnTo>
                  <a:lnTo>
                    <a:pt x="0" y="4380966"/>
                  </a:lnTo>
                  <a:lnTo>
                    <a:pt x="0" y="255015"/>
                  </a:lnTo>
                  <a:close/>
                </a:path>
              </a:pathLst>
            </a:custGeom>
            <a:ln w="952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45402" y="1822373"/>
              <a:ext cx="4470400" cy="391160"/>
            </a:xfrm>
            <a:custGeom>
              <a:avLst/>
              <a:gdLst/>
              <a:ahLst/>
              <a:cxnLst/>
              <a:rect l="l" t="t" r="r" b="b"/>
              <a:pathLst>
                <a:path w="4470400" h="391160">
                  <a:moveTo>
                    <a:pt x="4470400" y="0"/>
                  </a:moveTo>
                  <a:lnTo>
                    <a:pt x="0" y="0"/>
                  </a:lnTo>
                  <a:lnTo>
                    <a:pt x="0" y="390982"/>
                  </a:lnTo>
                  <a:lnTo>
                    <a:pt x="4470400" y="390982"/>
                  </a:lnTo>
                  <a:lnTo>
                    <a:pt x="44704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50900" y="1822373"/>
            <a:ext cx="4470400" cy="3911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425"/>
              </a:spcBef>
            </a:pP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랭그래프</a:t>
            </a:r>
            <a:r>
              <a:rPr sz="1800" b="1" spc="-1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맑은 고딕"/>
                <a:cs typeface="맑은 고딕"/>
              </a:rPr>
              <a:t>tools_condition</a:t>
            </a: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 함수 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활용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45402" y="1822373"/>
            <a:ext cx="4470400" cy="3911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425"/>
              </a:spcBef>
            </a:pP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코드 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예시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36460" y="5558015"/>
            <a:ext cx="1049020" cy="149860"/>
          </a:xfrm>
          <a:custGeom>
            <a:avLst/>
            <a:gdLst/>
            <a:ahLst/>
            <a:cxnLst/>
            <a:rect l="l" t="t" r="r" b="b"/>
            <a:pathLst>
              <a:path w="1049020" h="149860">
                <a:moveTo>
                  <a:pt x="1048512" y="0"/>
                </a:moveTo>
                <a:lnTo>
                  <a:pt x="0" y="0"/>
                </a:lnTo>
                <a:lnTo>
                  <a:pt x="0" y="149351"/>
                </a:lnTo>
                <a:lnTo>
                  <a:pt x="1048512" y="149351"/>
                </a:lnTo>
                <a:lnTo>
                  <a:pt x="1048512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364604" y="2459697"/>
            <a:ext cx="5032375" cy="3916679"/>
          </a:xfrm>
          <a:prstGeom prst="rect">
            <a:avLst/>
          </a:prstGeom>
          <a:ln w="9525">
            <a:solidFill>
              <a:srgbClr val="7E7E7E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0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langgraph.prebuilt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000" spc="-6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tools_condition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0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0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노드</a:t>
            </a:r>
            <a:r>
              <a:rPr sz="1000" spc="18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함수</a:t>
            </a:r>
            <a:r>
              <a:rPr sz="1000" spc="19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spc="-25" dirty="0">
                <a:solidFill>
                  <a:srgbClr val="008000"/>
                </a:solidFill>
                <a:latin typeface="맑은 고딕"/>
                <a:cs typeface="맑은 고딕"/>
              </a:rPr>
              <a:t>정의</a:t>
            </a:r>
            <a:endParaRPr sz="1000">
              <a:latin typeface="맑은 고딕"/>
              <a:cs typeface="맑은 고딕"/>
            </a:endParaRPr>
          </a:p>
          <a:p>
            <a:pPr marL="92075">
              <a:lnSpc>
                <a:spcPct val="100000"/>
              </a:lnSpc>
            </a:pP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def</a:t>
            </a:r>
            <a:r>
              <a:rPr sz="1000" spc="-6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call_model(state:</a:t>
            </a:r>
            <a:r>
              <a:rPr sz="1000" spc="-6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GraphState):</a:t>
            </a:r>
            <a:endParaRPr sz="1000">
              <a:latin typeface="Consolas"/>
              <a:cs typeface="Consolas"/>
            </a:endParaRPr>
          </a:p>
          <a:p>
            <a:pPr marL="372745">
              <a:lnSpc>
                <a:spcPct val="100000"/>
              </a:lnSpc>
            </a:pPr>
            <a:r>
              <a:rPr sz="1000" dirty="0">
                <a:latin typeface="Consolas"/>
                <a:cs typeface="Consolas"/>
              </a:rPr>
              <a:t>system_prompt</a:t>
            </a:r>
            <a:r>
              <a:rPr sz="1000" spc="-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SystemMessage(content=system_prompt_template)</a:t>
            </a:r>
            <a:endParaRPr sz="1000">
              <a:latin typeface="Consolas"/>
              <a:cs typeface="Consolas"/>
            </a:endParaRPr>
          </a:p>
          <a:p>
            <a:pPr marL="372745" marR="143891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Consolas"/>
                <a:cs typeface="Consolas"/>
              </a:rPr>
              <a:t>messages</a:t>
            </a:r>
            <a:r>
              <a:rPr sz="1000" spc="-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4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[system_prompt]</a:t>
            </a:r>
            <a:r>
              <a:rPr sz="1000" spc="-4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+</a:t>
            </a:r>
            <a:r>
              <a:rPr sz="1000" spc="-3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state[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'messages'</a:t>
            </a:r>
            <a:r>
              <a:rPr sz="1000" spc="-10" dirty="0">
                <a:latin typeface="Consolas"/>
                <a:cs typeface="Consolas"/>
              </a:rPr>
              <a:t>] </a:t>
            </a:r>
            <a:r>
              <a:rPr sz="1000" dirty="0">
                <a:latin typeface="Consolas"/>
                <a:cs typeface="Consolas"/>
              </a:rPr>
              <a:t>response</a:t>
            </a:r>
            <a:r>
              <a:rPr sz="1000" spc="-3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3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llm_with_tools.invoke(messages) </a:t>
            </a: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0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{</a:t>
            </a:r>
            <a:r>
              <a:rPr sz="1000" dirty="0">
                <a:solidFill>
                  <a:srgbClr val="A21515"/>
                </a:solidFill>
                <a:latin typeface="Consolas"/>
                <a:cs typeface="Consolas"/>
              </a:rPr>
              <a:t>"messages"</a:t>
            </a:r>
            <a:r>
              <a:rPr sz="1000" dirty="0">
                <a:latin typeface="Consolas"/>
                <a:cs typeface="Consolas"/>
              </a:rPr>
              <a:t>:</a:t>
            </a:r>
            <a:r>
              <a:rPr sz="1000" spc="-6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[response]}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0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0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그래프</a:t>
            </a:r>
            <a:r>
              <a:rPr sz="1000" spc="17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spc="-25" dirty="0">
                <a:solidFill>
                  <a:srgbClr val="008000"/>
                </a:solidFill>
                <a:latin typeface="맑은 고딕"/>
                <a:cs typeface="맑은 고딕"/>
              </a:rPr>
              <a:t>구성</a:t>
            </a:r>
            <a:endParaRPr sz="1000">
              <a:latin typeface="맑은 고딕"/>
              <a:cs typeface="맑은 고딕"/>
            </a:endParaRPr>
          </a:p>
          <a:p>
            <a:pPr marL="92075">
              <a:lnSpc>
                <a:spcPct val="100000"/>
              </a:lnSpc>
            </a:pPr>
            <a:r>
              <a:rPr sz="1000" dirty="0">
                <a:latin typeface="Consolas"/>
                <a:cs typeface="Consolas"/>
              </a:rPr>
              <a:t>builder</a:t>
            </a:r>
            <a:r>
              <a:rPr sz="1000" spc="-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1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StateGraph(GraphState)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000" spc="-10" dirty="0">
                <a:latin typeface="Consolas"/>
                <a:cs typeface="Consolas"/>
              </a:rPr>
              <a:t>builder.add_node(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"agent"</a:t>
            </a:r>
            <a:r>
              <a:rPr sz="1000" spc="-10" dirty="0">
                <a:latin typeface="Consolas"/>
                <a:cs typeface="Consolas"/>
              </a:rPr>
              <a:t>,</a:t>
            </a:r>
            <a:r>
              <a:rPr sz="1000" spc="8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call_model)</a:t>
            </a:r>
            <a:endParaRPr sz="10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000" spc="-10" dirty="0">
                <a:latin typeface="Consolas"/>
                <a:cs typeface="Consolas"/>
              </a:rPr>
              <a:t>builder.add_node(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"tools"</a:t>
            </a:r>
            <a:r>
              <a:rPr sz="1000" spc="-10" dirty="0">
                <a:latin typeface="Consolas"/>
                <a:cs typeface="Consolas"/>
              </a:rPr>
              <a:t>,</a:t>
            </a:r>
            <a:r>
              <a:rPr sz="1000" spc="8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ToolNode(tools))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latin typeface="Consolas"/>
                <a:cs typeface="Consolas"/>
              </a:rPr>
              <a:t>builder.add_edge(START,</a:t>
            </a:r>
            <a:r>
              <a:rPr sz="1000" spc="70" dirty="0">
                <a:latin typeface="Consolas"/>
                <a:cs typeface="Consolas"/>
              </a:rPr>
              <a:t> 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"agent"</a:t>
            </a:r>
            <a:r>
              <a:rPr sz="1000" spc="-10" dirty="0"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0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00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8000"/>
                </a:solidFill>
                <a:latin typeface="Consolas"/>
                <a:cs typeface="Consolas"/>
              </a:rPr>
              <a:t>tools_condition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을</a:t>
            </a:r>
            <a:r>
              <a:rPr sz="1000" spc="13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사용한</a:t>
            </a:r>
            <a:r>
              <a:rPr sz="1000" spc="17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조건부</a:t>
            </a:r>
            <a:r>
              <a:rPr sz="1000" spc="17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엣지</a:t>
            </a:r>
            <a:r>
              <a:rPr sz="1000" spc="17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spc="-25" dirty="0">
                <a:solidFill>
                  <a:srgbClr val="008000"/>
                </a:solidFill>
                <a:latin typeface="맑은 고딕"/>
                <a:cs typeface="맑은 고딕"/>
              </a:rPr>
              <a:t>추가</a:t>
            </a:r>
            <a:endParaRPr sz="1000">
              <a:latin typeface="맑은 고딕"/>
              <a:cs typeface="맑은 고딕"/>
            </a:endParaRPr>
          </a:p>
          <a:p>
            <a:pPr marL="372745" marR="2835275" indent="-280670">
              <a:lnSpc>
                <a:spcPct val="100000"/>
              </a:lnSpc>
            </a:pPr>
            <a:r>
              <a:rPr sz="1000" spc="-10" dirty="0">
                <a:latin typeface="Consolas"/>
                <a:cs typeface="Consolas"/>
              </a:rPr>
              <a:t>builder.add_conditional_edges( 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"agent"</a:t>
            </a:r>
            <a:r>
              <a:rPr sz="1000" spc="-10" dirty="0"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372745">
              <a:lnSpc>
                <a:spcPct val="100000"/>
              </a:lnSpc>
            </a:pPr>
            <a:r>
              <a:rPr sz="1000" spc="-10" dirty="0">
                <a:latin typeface="Consolas"/>
                <a:cs typeface="Consolas"/>
              </a:rPr>
              <a:t>tools_condition,</a:t>
            </a:r>
            <a:endParaRPr sz="10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000" spc="-50" dirty="0"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nsolas"/>
              <a:cs typeface="Consolas"/>
            </a:endParaRPr>
          </a:p>
          <a:p>
            <a:pPr marL="92075" marR="255651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latin typeface="Consolas"/>
                <a:cs typeface="Consolas"/>
              </a:rPr>
              <a:t>builder.add_edge(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"tools"</a:t>
            </a:r>
            <a:r>
              <a:rPr sz="1000" spc="-10" dirty="0">
                <a:latin typeface="Consolas"/>
                <a:cs typeface="Consolas"/>
              </a:rPr>
              <a:t>,</a:t>
            </a:r>
            <a:r>
              <a:rPr sz="1000" spc="80" dirty="0">
                <a:latin typeface="Consolas"/>
                <a:cs typeface="Consolas"/>
              </a:rPr>
              <a:t> 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"agent"</a:t>
            </a:r>
            <a:r>
              <a:rPr sz="1000" spc="-10" dirty="0">
                <a:latin typeface="Consolas"/>
                <a:cs typeface="Consolas"/>
              </a:rPr>
              <a:t>) </a:t>
            </a:r>
            <a:r>
              <a:rPr sz="1000" dirty="0">
                <a:latin typeface="Consolas"/>
                <a:cs typeface="Consolas"/>
              </a:rPr>
              <a:t>graph</a:t>
            </a:r>
            <a:r>
              <a:rPr sz="1000" spc="-1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2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builder.compile()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8560" y="2320543"/>
            <a:ext cx="4765675" cy="2033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맑은 고딕"/>
                <a:cs typeface="맑은 고딕"/>
              </a:rPr>
              <a:t>tools_condition은</a:t>
            </a:r>
            <a:r>
              <a:rPr sz="1600" spc="-90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LangGraph에서</a:t>
            </a:r>
            <a:r>
              <a:rPr sz="1600" spc="-80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제공하는</a:t>
            </a:r>
            <a:r>
              <a:rPr sz="1600" spc="-100" dirty="0">
                <a:latin typeface="맑은 고딕"/>
                <a:cs typeface="맑은 고딕"/>
              </a:rPr>
              <a:t> </a:t>
            </a:r>
            <a:r>
              <a:rPr sz="1600" spc="-25" dirty="0">
                <a:latin typeface="맑은 고딕"/>
                <a:cs typeface="맑은 고딕"/>
              </a:rPr>
              <a:t>매우 </a:t>
            </a:r>
            <a:r>
              <a:rPr sz="1600" dirty="0">
                <a:latin typeface="맑은 고딕"/>
                <a:cs typeface="맑은 고딕"/>
              </a:rPr>
              <a:t>유용한</a:t>
            </a:r>
            <a:r>
              <a:rPr sz="1600" spc="-3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조건부</a:t>
            </a:r>
            <a:r>
              <a:rPr sz="1600" spc="-30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엣지</a:t>
            </a:r>
            <a:r>
              <a:rPr sz="1600" spc="-40" dirty="0">
                <a:latin typeface="맑은 고딕"/>
                <a:cs typeface="맑은 고딕"/>
              </a:rPr>
              <a:t> </a:t>
            </a:r>
            <a:r>
              <a:rPr sz="1600" spc="-25" dirty="0">
                <a:latin typeface="맑은 고딕"/>
                <a:cs typeface="맑은 고딕"/>
              </a:rPr>
              <a:t>함수</a:t>
            </a:r>
            <a:endParaRPr sz="1600">
              <a:latin typeface="맑은 고딕"/>
              <a:cs typeface="맑은 고딕"/>
            </a:endParaRPr>
          </a:p>
          <a:p>
            <a:pPr marL="299085" indent="-286385">
              <a:lnSpc>
                <a:spcPct val="100000"/>
              </a:lnSpc>
              <a:spcBef>
                <a:spcPts val="1920"/>
              </a:spcBef>
              <a:buFont typeface="Arial"/>
              <a:buChar char="•"/>
              <a:tabLst>
                <a:tab pos="299085" algn="l"/>
              </a:tabLst>
            </a:pPr>
            <a:r>
              <a:rPr sz="1600" dirty="0">
                <a:latin typeface="맑은 고딕"/>
                <a:cs typeface="맑은 고딕"/>
              </a:rPr>
              <a:t>작동</a:t>
            </a:r>
            <a:r>
              <a:rPr sz="1600" spc="-25" dirty="0">
                <a:latin typeface="맑은 고딕"/>
                <a:cs typeface="맑은 고딕"/>
              </a:rPr>
              <a:t> 방식:</a:t>
            </a:r>
            <a:endParaRPr sz="1600">
              <a:latin typeface="맑은 고딕"/>
              <a:cs typeface="맑은 고딕"/>
            </a:endParaRPr>
          </a:p>
          <a:p>
            <a:pPr marL="697865" lvl="1" indent="-227965">
              <a:lnSpc>
                <a:spcPct val="100000"/>
              </a:lnSpc>
              <a:spcBef>
                <a:spcPts val="2370"/>
              </a:spcBef>
              <a:buAutoNum type="arabicPeriod"/>
              <a:tabLst>
                <a:tab pos="697865" algn="l"/>
              </a:tabLst>
            </a:pPr>
            <a:r>
              <a:rPr sz="1200" dirty="0">
                <a:latin typeface="맑은 고딕"/>
                <a:cs typeface="맑은 고딕"/>
              </a:rPr>
              <a:t>최신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메시지(또는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결과)를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검사</a:t>
            </a:r>
            <a:endParaRPr sz="1200">
              <a:latin typeface="맑은 고딕"/>
              <a:cs typeface="맑은 고딕"/>
            </a:endParaRPr>
          </a:p>
          <a:p>
            <a:pPr marL="698500" lvl="1" indent="-22860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698500" algn="l"/>
              </a:tabLst>
            </a:pPr>
            <a:r>
              <a:rPr sz="1200" dirty="0">
                <a:latin typeface="맑은 고딕"/>
                <a:cs typeface="맑은 고딕"/>
              </a:rPr>
              <a:t>도구</a:t>
            </a:r>
            <a:r>
              <a:rPr sz="1200" spc="-2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호출이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포함: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tools</a:t>
            </a:r>
            <a:r>
              <a:rPr sz="1200" spc="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노드에서</a:t>
            </a:r>
            <a:r>
              <a:rPr sz="1200" spc="-2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도구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실행</a:t>
            </a:r>
            <a:endParaRPr sz="1200">
              <a:latin typeface="맑은 고딕"/>
              <a:cs typeface="맑은 고딕"/>
            </a:endParaRPr>
          </a:p>
          <a:p>
            <a:pPr marL="697865" lvl="1" indent="-227965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697865" algn="l"/>
              </a:tabLst>
            </a:pPr>
            <a:r>
              <a:rPr sz="1200" dirty="0">
                <a:latin typeface="맑은 고딕"/>
                <a:cs typeface="맑은 고딕"/>
              </a:rPr>
              <a:t>도구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호출이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없음: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END노드에서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종료</a:t>
            </a:r>
            <a:endParaRPr sz="1200">
              <a:latin typeface="맑은 고딕"/>
              <a:cs typeface="맑은 고딕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2256" y="4222254"/>
            <a:ext cx="1900174" cy="18906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8479" y="4865661"/>
            <a:ext cx="5113020" cy="11730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MemorySaver</a:t>
            </a:r>
          </a:p>
        </p:txBody>
      </p:sp>
      <p:sp>
        <p:nvSpPr>
          <p:cNvPr id="3" name="object 3"/>
          <p:cNvSpPr/>
          <p:nvPr/>
        </p:nvSpPr>
        <p:spPr>
          <a:xfrm>
            <a:off x="500748" y="1756282"/>
            <a:ext cx="10987405" cy="1114425"/>
          </a:xfrm>
          <a:custGeom>
            <a:avLst/>
            <a:gdLst/>
            <a:ahLst/>
            <a:cxnLst/>
            <a:rect l="l" t="t" r="r" b="b"/>
            <a:pathLst>
              <a:path w="10987405" h="1114425">
                <a:moveTo>
                  <a:pt x="10867021" y="0"/>
                </a:moveTo>
                <a:lnTo>
                  <a:pt x="120281" y="0"/>
                </a:lnTo>
                <a:lnTo>
                  <a:pt x="73460" y="9451"/>
                </a:lnTo>
                <a:lnTo>
                  <a:pt x="35228" y="35226"/>
                </a:lnTo>
                <a:lnTo>
                  <a:pt x="9451" y="73455"/>
                </a:lnTo>
                <a:lnTo>
                  <a:pt x="0" y="120268"/>
                </a:lnTo>
                <a:lnTo>
                  <a:pt x="0" y="993647"/>
                </a:lnTo>
                <a:lnTo>
                  <a:pt x="9451" y="1040461"/>
                </a:lnTo>
                <a:lnTo>
                  <a:pt x="35228" y="1078690"/>
                </a:lnTo>
                <a:lnTo>
                  <a:pt x="73460" y="1104465"/>
                </a:lnTo>
                <a:lnTo>
                  <a:pt x="120281" y="1113916"/>
                </a:lnTo>
                <a:lnTo>
                  <a:pt x="10867021" y="1113916"/>
                </a:lnTo>
                <a:lnTo>
                  <a:pt x="10913835" y="1104465"/>
                </a:lnTo>
                <a:lnTo>
                  <a:pt x="10952064" y="1078690"/>
                </a:lnTo>
                <a:lnTo>
                  <a:pt x="10977839" y="1040461"/>
                </a:lnTo>
                <a:lnTo>
                  <a:pt x="10987290" y="993647"/>
                </a:lnTo>
                <a:lnTo>
                  <a:pt x="10987290" y="120268"/>
                </a:lnTo>
                <a:lnTo>
                  <a:pt x="10977839" y="73455"/>
                </a:lnTo>
                <a:lnTo>
                  <a:pt x="10952064" y="35226"/>
                </a:lnTo>
                <a:lnTo>
                  <a:pt x="10913835" y="9451"/>
                </a:lnTo>
                <a:lnTo>
                  <a:pt x="10867021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4883" y="1884934"/>
            <a:ext cx="104108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latin typeface="맑은 고딕"/>
                <a:cs typeface="맑은 고딕"/>
              </a:rPr>
              <a:t>정의:</a:t>
            </a:r>
            <a:r>
              <a:rPr sz="1800" spc="10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그래프의 각</a:t>
            </a:r>
            <a:r>
              <a:rPr sz="1800" spc="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단계</a:t>
            </a:r>
            <a:r>
              <a:rPr sz="1800" spc="-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실행 후 자동으로</a:t>
            </a:r>
            <a:r>
              <a:rPr sz="1800" spc="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상태를</a:t>
            </a:r>
            <a:r>
              <a:rPr sz="1800" spc="-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저장</a:t>
            </a:r>
            <a:r>
              <a:rPr sz="1800" spc="1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(체크포인터</a:t>
            </a:r>
            <a:r>
              <a:rPr sz="1800" spc="5" dirty="0">
                <a:latin typeface="맑은 고딕"/>
                <a:cs typeface="맑은 고딕"/>
              </a:rPr>
              <a:t> </a:t>
            </a:r>
            <a:r>
              <a:rPr sz="1800" spc="-25" dirty="0">
                <a:latin typeface="맑은 고딕"/>
                <a:cs typeface="맑은 고딕"/>
              </a:rPr>
              <a:t>역할)</a:t>
            </a:r>
            <a:endParaRPr sz="1800">
              <a:latin typeface="맑은 고딕"/>
              <a:cs typeface="맑은 고딕"/>
            </a:endParaRPr>
          </a:p>
          <a:p>
            <a:pPr marL="172085" indent="-159385">
              <a:lnSpc>
                <a:spcPct val="100000"/>
              </a:lnSpc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latin typeface="맑은 고딕"/>
                <a:cs typeface="맑은 고딕"/>
              </a:rPr>
              <a:t>목적:</a:t>
            </a:r>
            <a:r>
              <a:rPr sz="1800" spc="10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상태의</a:t>
            </a:r>
            <a:r>
              <a:rPr sz="1800" spc="-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일시성(stateless)</a:t>
            </a:r>
            <a:r>
              <a:rPr sz="1800" spc="-3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문제</a:t>
            </a:r>
            <a:r>
              <a:rPr sz="1800" spc="-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해결</a:t>
            </a:r>
            <a:r>
              <a:rPr sz="1800" spc="-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(즉,</a:t>
            </a:r>
            <a:r>
              <a:rPr sz="1800" spc="10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그래프는</a:t>
            </a:r>
            <a:r>
              <a:rPr sz="1800" spc="-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각</a:t>
            </a:r>
            <a:r>
              <a:rPr sz="1800" b="1" spc="-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실행마다 새로운</a:t>
            </a:r>
            <a:r>
              <a:rPr sz="1800" b="1" spc="-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상태로</a:t>
            </a:r>
            <a:r>
              <a:rPr sz="1800" b="1" spc="-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초기화</a:t>
            </a:r>
            <a:r>
              <a:rPr sz="1800" dirty="0">
                <a:latin typeface="맑은 고딕"/>
                <a:cs typeface="맑은 고딕"/>
              </a:rPr>
              <a:t>되는</a:t>
            </a:r>
            <a:r>
              <a:rPr sz="1800" spc="-5" dirty="0">
                <a:latin typeface="맑은 고딕"/>
                <a:cs typeface="맑은 고딕"/>
              </a:rPr>
              <a:t> </a:t>
            </a:r>
            <a:r>
              <a:rPr sz="1800" spc="-25" dirty="0">
                <a:latin typeface="맑은 고딕"/>
                <a:cs typeface="맑은 고딕"/>
              </a:rPr>
              <a:t>문제)</a:t>
            </a:r>
            <a:endParaRPr sz="1800">
              <a:latin typeface="맑은 고딕"/>
              <a:cs typeface="맑은 고딕"/>
            </a:endParaRPr>
          </a:p>
          <a:p>
            <a:pPr marL="172085" indent="-159385">
              <a:lnSpc>
                <a:spcPct val="100000"/>
              </a:lnSpc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latin typeface="맑은 고딕"/>
                <a:cs typeface="맑은 고딕"/>
              </a:rPr>
              <a:t>필요성:</a:t>
            </a:r>
            <a:r>
              <a:rPr sz="1800" spc="10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대화의 연속성 (멀티 턴), 대화 중단 후 복원</a:t>
            </a:r>
            <a:r>
              <a:rPr sz="1800" spc="10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가능,</a:t>
            </a:r>
            <a:r>
              <a:rPr sz="1800" spc="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독립적인 대화 스레드</a:t>
            </a:r>
            <a:r>
              <a:rPr sz="1800" spc="-5" dirty="0">
                <a:latin typeface="맑은 고딕"/>
                <a:cs typeface="맑은 고딕"/>
              </a:rPr>
              <a:t> </a:t>
            </a:r>
            <a:r>
              <a:rPr sz="1800" spc="-25" dirty="0">
                <a:latin typeface="맑은 고딕"/>
                <a:cs typeface="맑은 고딕"/>
              </a:rPr>
              <a:t>관리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5551" y="659638"/>
            <a:ext cx="899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Memory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0748" y="2994786"/>
            <a:ext cx="5501005" cy="3615690"/>
          </a:xfrm>
          <a:custGeom>
            <a:avLst/>
            <a:gdLst/>
            <a:ahLst/>
            <a:cxnLst/>
            <a:rect l="l" t="t" r="r" b="b"/>
            <a:pathLst>
              <a:path w="5501005" h="3615690">
                <a:moveTo>
                  <a:pt x="0" y="198882"/>
                </a:moveTo>
                <a:lnTo>
                  <a:pt x="5251" y="153275"/>
                </a:lnTo>
                <a:lnTo>
                  <a:pt x="20211" y="111411"/>
                </a:lnTo>
                <a:lnTo>
                  <a:pt x="43685" y="74484"/>
                </a:lnTo>
                <a:lnTo>
                  <a:pt x="74480" y="43687"/>
                </a:lnTo>
                <a:lnTo>
                  <a:pt x="111402" y="20211"/>
                </a:lnTo>
                <a:lnTo>
                  <a:pt x="153259" y="5251"/>
                </a:lnTo>
                <a:lnTo>
                  <a:pt x="198856" y="0"/>
                </a:lnTo>
                <a:lnTo>
                  <a:pt x="5302008" y="0"/>
                </a:lnTo>
                <a:lnTo>
                  <a:pt x="5347615" y="5251"/>
                </a:lnTo>
                <a:lnTo>
                  <a:pt x="5389478" y="20211"/>
                </a:lnTo>
                <a:lnTo>
                  <a:pt x="5426405" y="43687"/>
                </a:lnTo>
                <a:lnTo>
                  <a:pt x="5457203" y="74484"/>
                </a:lnTo>
                <a:lnTo>
                  <a:pt x="5480678" y="111411"/>
                </a:lnTo>
                <a:lnTo>
                  <a:pt x="5495638" y="153275"/>
                </a:lnTo>
                <a:lnTo>
                  <a:pt x="5500890" y="198882"/>
                </a:lnTo>
                <a:lnTo>
                  <a:pt x="5500890" y="3416300"/>
                </a:lnTo>
                <a:lnTo>
                  <a:pt x="5495638" y="3461901"/>
                </a:lnTo>
                <a:lnTo>
                  <a:pt x="5480678" y="3503761"/>
                </a:lnTo>
                <a:lnTo>
                  <a:pt x="5457203" y="3540686"/>
                </a:lnTo>
                <a:lnTo>
                  <a:pt x="5426405" y="3571483"/>
                </a:lnTo>
                <a:lnTo>
                  <a:pt x="5389478" y="3594957"/>
                </a:lnTo>
                <a:lnTo>
                  <a:pt x="5347615" y="3609917"/>
                </a:lnTo>
                <a:lnTo>
                  <a:pt x="5302008" y="3615169"/>
                </a:lnTo>
                <a:lnTo>
                  <a:pt x="198856" y="3615169"/>
                </a:lnTo>
                <a:lnTo>
                  <a:pt x="153259" y="3609917"/>
                </a:lnTo>
                <a:lnTo>
                  <a:pt x="111402" y="3594957"/>
                </a:lnTo>
                <a:lnTo>
                  <a:pt x="74480" y="3571483"/>
                </a:lnTo>
                <a:lnTo>
                  <a:pt x="43685" y="3540686"/>
                </a:lnTo>
                <a:lnTo>
                  <a:pt x="20211" y="3503761"/>
                </a:lnTo>
                <a:lnTo>
                  <a:pt x="5251" y="3461901"/>
                </a:lnTo>
                <a:lnTo>
                  <a:pt x="0" y="3416300"/>
                </a:lnTo>
                <a:lnTo>
                  <a:pt x="0" y="198882"/>
                </a:lnTo>
                <a:close/>
              </a:path>
            </a:pathLst>
          </a:custGeom>
          <a:ln w="95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74283" y="2994786"/>
            <a:ext cx="5457190" cy="3615690"/>
          </a:xfrm>
          <a:custGeom>
            <a:avLst/>
            <a:gdLst/>
            <a:ahLst/>
            <a:cxnLst/>
            <a:rect l="l" t="t" r="r" b="b"/>
            <a:pathLst>
              <a:path w="5457190" h="3615690">
                <a:moveTo>
                  <a:pt x="0" y="198882"/>
                </a:moveTo>
                <a:lnTo>
                  <a:pt x="5251" y="153275"/>
                </a:lnTo>
                <a:lnTo>
                  <a:pt x="20208" y="111411"/>
                </a:lnTo>
                <a:lnTo>
                  <a:pt x="43677" y="74484"/>
                </a:lnTo>
                <a:lnTo>
                  <a:pt x="74461" y="43687"/>
                </a:lnTo>
                <a:lnTo>
                  <a:pt x="111365" y="20211"/>
                </a:lnTo>
                <a:lnTo>
                  <a:pt x="153195" y="5251"/>
                </a:lnTo>
                <a:lnTo>
                  <a:pt x="198754" y="0"/>
                </a:lnTo>
                <a:lnTo>
                  <a:pt x="5258053" y="0"/>
                </a:lnTo>
                <a:lnTo>
                  <a:pt x="5303660" y="5251"/>
                </a:lnTo>
                <a:lnTo>
                  <a:pt x="5345524" y="20211"/>
                </a:lnTo>
                <a:lnTo>
                  <a:pt x="5382451" y="43687"/>
                </a:lnTo>
                <a:lnTo>
                  <a:pt x="5413248" y="74484"/>
                </a:lnTo>
                <a:lnTo>
                  <a:pt x="5436724" y="111411"/>
                </a:lnTo>
                <a:lnTo>
                  <a:pt x="5451684" y="153275"/>
                </a:lnTo>
                <a:lnTo>
                  <a:pt x="5456936" y="198882"/>
                </a:lnTo>
                <a:lnTo>
                  <a:pt x="5456936" y="3416300"/>
                </a:lnTo>
                <a:lnTo>
                  <a:pt x="5451684" y="3461901"/>
                </a:lnTo>
                <a:lnTo>
                  <a:pt x="5436724" y="3503761"/>
                </a:lnTo>
                <a:lnTo>
                  <a:pt x="5413248" y="3540686"/>
                </a:lnTo>
                <a:lnTo>
                  <a:pt x="5382451" y="3571483"/>
                </a:lnTo>
                <a:lnTo>
                  <a:pt x="5345524" y="3594957"/>
                </a:lnTo>
                <a:lnTo>
                  <a:pt x="5303660" y="3609917"/>
                </a:lnTo>
                <a:lnTo>
                  <a:pt x="5258053" y="3615169"/>
                </a:lnTo>
                <a:lnTo>
                  <a:pt x="198754" y="3615169"/>
                </a:lnTo>
                <a:lnTo>
                  <a:pt x="153195" y="3609917"/>
                </a:lnTo>
                <a:lnTo>
                  <a:pt x="111365" y="3594957"/>
                </a:lnTo>
                <a:lnTo>
                  <a:pt x="74461" y="3571483"/>
                </a:lnTo>
                <a:lnTo>
                  <a:pt x="43677" y="3540686"/>
                </a:lnTo>
                <a:lnTo>
                  <a:pt x="20208" y="3503761"/>
                </a:lnTo>
                <a:lnTo>
                  <a:pt x="5251" y="3461901"/>
                </a:lnTo>
                <a:lnTo>
                  <a:pt x="0" y="3416300"/>
                </a:lnTo>
                <a:lnTo>
                  <a:pt x="0" y="198882"/>
                </a:lnTo>
                <a:close/>
              </a:path>
            </a:pathLst>
          </a:custGeom>
          <a:ln w="95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78560" y="3152343"/>
            <a:ext cx="16186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맑은 고딕"/>
                <a:cs typeface="맑은 고딕"/>
              </a:rPr>
              <a:t>MemorySaver</a:t>
            </a:r>
            <a:r>
              <a:rPr sz="1400" b="1" spc="-35" dirty="0">
                <a:latin typeface="맑은 고딕"/>
                <a:cs typeface="맑은 고딕"/>
              </a:rPr>
              <a:t> 기능</a:t>
            </a:r>
            <a:endParaRPr sz="1400">
              <a:latin typeface="맑은 고딕"/>
              <a:cs typeface="맑은 고딕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8560" y="3568953"/>
            <a:ext cx="3684904" cy="86995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12090" indent="-199390">
              <a:lnSpc>
                <a:spcPct val="100000"/>
              </a:lnSpc>
              <a:spcBef>
                <a:spcPts val="705"/>
              </a:spcBef>
              <a:buSzPct val="116666"/>
              <a:buAutoNum type="arabicPeriod"/>
              <a:tabLst>
                <a:tab pos="212090" algn="l"/>
              </a:tabLst>
            </a:pPr>
            <a:r>
              <a:rPr sz="1200" dirty="0">
                <a:latin typeface="맑은 고딕"/>
                <a:cs typeface="맑은 고딕"/>
              </a:rPr>
              <a:t>체크포인터: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그래프의 각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단계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실행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후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상태를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spc="-35" dirty="0">
                <a:latin typeface="맑은 고딕"/>
                <a:cs typeface="맑은 고딕"/>
              </a:rPr>
              <a:t>저장</a:t>
            </a:r>
            <a:endParaRPr sz="1200">
              <a:latin typeface="맑은 고딕"/>
              <a:cs typeface="맑은 고딕"/>
            </a:endParaRPr>
          </a:p>
          <a:p>
            <a:pPr marL="182245" indent="-169545">
              <a:lnSpc>
                <a:spcPct val="100000"/>
              </a:lnSpc>
              <a:spcBef>
                <a:spcPts val="760"/>
              </a:spcBef>
              <a:buAutoNum type="arabicPeriod"/>
              <a:tabLst>
                <a:tab pos="182245" algn="l"/>
              </a:tabLst>
            </a:pPr>
            <a:r>
              <a:rPr sz="1200" dirty="0">
                <a:latin typeface="맑은 고딕"/>
                <a:cs typeface="맑은 고딕"/>
              </a:rPr>
              <a:t>인메모리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spc="-10" dirty="0">
                <a:latin typeface="맑은 고딕"/>
                <a:cs typeface="맑은 고딕"/>
              </a:rPr>
              <a:t>키-</a:t>
            </a:r>
            <a:r>
              <a:rPr sz="1200" dirty="0">
                <a:latin typeface="맑은 고딕"/>
                <a:cs typeface="맑은 고딕"/>
              </a:rPr>
              <a:t>값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저장소: 상태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검색 </a:t>
            </a:r>
            <a:r>
              <a:rPr sz="1200" spc="-25" dirty="0">
                <a:latin typeface="맑은 고딕"/>
                <a:cs typeface="맑은 고딕"/>
              </a:rPr>
              <a:t>기능</a:t>
            </a:r>
            <a:endParaRPr sz="1200">
              <a:latin typeface="맑은 고딕"/>
              <a:cs typeface="맑은 고딕"/>
            </a:endParaRPr>
          </a:p>
          <a:p>
            <a:pPr marL="182245" indent="-16954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182245" algn="l"/>
              </a:tabLst>
            </a:pPr>
            <a:r>
              <a:rPr sz="1200" dirty="0">
                <a:latin typeface="맑은 고딕"/>
                <a:cs typeface="맑은 고딕"/>
              </a:rPr>
              <a:t>지속성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제공: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저장된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체크포인트로부터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실행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재개</a:t>
            </a:r>
            <a:endParaRPr sz="1200">
              <a:latin typeface="맑은 고딕"/>
              <a:cs typeface="맑은 고딕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91159" y="5653328"/>
            <a:ext cx="4206875" cy="727075"/>
            <a:chOff x="791159" y="5653328"/>
            <a:chExt cx="4206875" cy="727075"/>
          </a:xfrm>
        </p:grpSpPr>
        <p:sp>
          <p:nvSpPr>
            <p:cNvPr id="12" name="object 12"/>
            <p:cNvSpPr/>
            <p:nvPr/>
          </p:nvSpPr>
          <p:spPr>
            <a:xfrm>
              <a:off x="791159" y="5653328"/>
              <a:ext cx="502920" cy="178435"/>
            </a:xfrm>
            <a:custGeom>
              <a:avLst/>
              <a:gdLst/>
              <a:ahLst/>
              <a:cxnLst/>
              <a:rect l="l" t="t" r="r" b="b"/>
              <a:pathLst>
                <a:path w="502919" h="178435">
                  <a:moveTo>
                    <a:pt x="502920" y="0"/>
                  </a:moveTo>
                  <a:lnTo>
                    <a:pt x="0" y="0"/>
                  </a:lnTo>
                  <a:lnTo>
                    <a:pt x="0" y="178307"/>
                  </a:lnTo>
                  <a:lnTo>
                    <a:pt x="502920" y="178307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98774" y="6201968"/>
              <a:ext cx="1010919" cy="178435"/>
            </a:xfrm>
            <a:custGeom>
              <a:avLst/>
              <a:gdLst/>
              <a:ahLst/>
              <a:cxnLst/>
              <a:rect l="l" t="t" r="r" b="b"/>
              <a:pathLst>
                <a:path w="1010920" h="178435">
                  <a:moveTo>
                    <a:pt x="1010412" y="0"/>
                  </a:moveTo>
                  <a:lnTo>
                    <a:pt x="0" y="0"/>
                  </a:lnTo>
                  <a:lnTo>
                    <a:pt x="0" y="178308"/>
                  </a:lnTo>
                  <a:lnTo>
                    <a:pt x="1010412" y="178308"/>
                  </a:lnTo>
                  <a:lnTo>
                    <a:pt x="1010412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93006" y="6201968"/>
              <a:ext cx="504825" cy="178435"/>
            </a:xfrm>
            <a:custGeom>
              <a:avLst/>
              <a:gdLst/>
              <a:ahLst/>
              <a:cxnLst/>
              <a:rect l="l" t="t" r="r" b="b"/>
              <a:pathLst>
                <a:path w="504825" h="178435">
                  <a:moveTo>
                    <a:pt x="504444" y="0"/>
                  </a:moveTo>
                  <a:lnTo>
                    <a:pt x="0" y="0"/>
                  </a:lnTo>
                  <a:lnTo>
                    <a:pt x="0" y="178308"/>
                  </a:lnTo>
                  <a:lnTo>
                    <a:pt x="504444" y="178308"/>
                  </a:lnTo>
                  <a:lnTo>
                    <a:pt x="50444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99719" y="5054460"/>
            <a:ext cx="5157470" cy="1384935"/>
          </a:xfrm>
          <a:prstGeom prst="rect">
            <a:avLst/>
          </a:prstGeom>
          <a:ln w="9525">
            <a:solidFill>
              <a:srgbClr val="A6A6A6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2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langgraph.checkpoint.memory</a:t>
            </a:r>
            <a:r>
              <a:rPr sz="1200" spc="-50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2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MemorySaver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onsolas"/>
              <a:cs typeface="Consolas"/>
            </a:endParaRPr>
          </a:p>
          <a:p>
            <a:pPr marL="91440">
              <a:lnSpc>
                <a:spcPts val="1435"/>
              </a:lnSpc>
              <a:spcBef>
                <a:spcPts val="5"/>
              </a:spcBef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메모리</a:t>
            </a:r>
            <a:r>
              <a:rPr sz="1200" spc="24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초기화</a:t>
            </a:r>
            <a:endParaRPr sz="1200">
              <a:latin typeface="맑은 고딕"/>
              <a:cs typeface="맑은 고딕"/>
            </a:endParaRPr>
          </a:p>
          <a:p>
            <a:pPr marL="91440">
              <a:lnSpc>
                <a:spcPts val="1435"/>
              </a:lnSpc>
            </a:pPr>
            <a:r>
              <a:rPr sz="1200" dirty="0">
                <a:latin typeface="Consolas"/>
                <a:cs typeface="Consolas"/>
              </a:rPr>
              <a:t>memory</a:t>
            </a:r>
            <a:r>
              <a:rPr sz="1200" spc="-1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25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MemorySaver()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onsolas"/>
              <a:cs typeface="Consolas"/>
            </a:endParaRPr>
          </a:p>
          <a:p>
            <a:pPr marL="91440">
              <a:lnSpc>
                <a:spcPts val="1435"/>
              </a:lnSpc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체크포인터</a:t>
            </a:r>
            <a:r>
              <a:rPr sz="1200" spc="25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지정하여</a:t>
            </a:r>
            <a:r>
              <a:rPr sz="1200" spc="24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그래프</a:t>
            </a:r>
            <a:r>
              <a:rPr sz="1200" spc="23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컴파일</a:t>
            </a:r>
            <a:endParaRPr sz="1200">
              <a:latin typeface="맑은 고딕"/>
              <a:cs typeface="맑은 고딕"/>
            </a:endParaRPr>
          </a:p>
          <a:p>
            <a:pPr marL="91440">
              <a:lnSpc>
                <a:spcPts val="1435"/>
              </a:lnSpc>
            </a:pPr>
            <a:r>
              <a:rPr sz="1200" dirty="0">
                <a:latin typeface="Consolas"/>
                <a:cs typeface="Consolas"/>
              </a:rPr>
              <a:t>graph_memory</a:t>
            </a:r>
            <a:r>
              <a:rPr sz="1200" spc="-4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5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builder.compile(checkpointer=memory)</a:t>
            </a:r>
            <a:endParaRPr sz="1200">
              <a:latin typeface="Consolas"/>
              <a:cs typeface="Consola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1134" y="3429000"/>
            <a:ext cx="1400175" cy="14351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323203" y="3152343"/>
            <a:ext cx="17513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맑은 고딕"/>
                <a:cs typeface="맑은 고딕"/>
              </a:rPr>
              <a:t>체크포인터</a:t>
            </a:r>
            <a:r>
              <a:rPr sz="1400" b="1" spc="-50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사용</a:t>
            </a:r>
            <a:r>
              <a:rPr sz="1400" b="1" spc="-25" dirty="0">
                <a:latin typeface="맑은 고딕"/>
                <a:cs typeface="맑은 고딕"/>
              </a:rPr>
              <a:t> </a:t>
            </a:r>
            <a:r>
              <a:rPr sz="1400" b="1" spc="-35" dirty="0">
                <a:latin typeface="맑은 고딕"/>
                <a:cs typeface="맑은 고딕"/>
              </a:rPr>
              <a:t>방법</a:t>
            </a:r>
            <a:endParaRPr sz="1400">
              <a:latin typeface="맑은 고딕"/>
              <a:cs typeface="맑은 고딕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23203" y="3544570"/>
            <a:ext cx="4836795" cy="84836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820"/>
              </a:spcBef>
              <a:buAutoNum type="arabicPeriod"/>
              <a:tabLst>
                <a:tab pos="182245" algn="l"/>
              </a:tabLst>
            </a:pPr>
            <a:r>
              <a:rPr sz="1200" dirty="0">
                <a:latin typeface="맑은 고딕"/>
                <a:cs typeface="맑은 고딕"/>
              </a:rPr>
              <a:t>메모리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사용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시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thread_id를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지정</a:t>
            </a:r>
            <a:endParaRPr sz="1200">
              <a:latin typeface="맑은 고딕"/>
              <a:cs typeface="맑은 고딕"/>
            </a:endParaRPr>
          </a:p>
          <a:p>
            <a:pPr marL="182245" indent="-16954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182245" algn="l"/>
              </a:tabLst>
            </a:pPr>
            <a:r>
              <a:rPr sz="1200" dirty="0">
                <a:latin typeface="맑은 고딕"/>
                <a:cs typeface="맑은 고딕"/>
              </a:rPr>
              <a:t>체크포인터는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그래프의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각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단계에서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상태를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기록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(모든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상태를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저장)</a:t>
            </a:r>
            <a:endParaRPr sz="1200">
              <a:latin typeface="맑은 고딕"/>
              <a:cs typeface="맑은 고딕"/>
            </a:endParaRPr>
          </a:p>
          <a:p>
            <a:pPr marL="182245" indent="-16954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182245" algn="l"/>
              </a:tabLst>
            </a:pPr>
            <a:r>
              <a:rPr sz="1200" dirty="0">
                <a:latin typeface="맑은 고딕"/>
                <a:cs typeface="맑은 고딕"/>
              </a:rPr>
              <a:t>나중에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thread_id를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사용하여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이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스레드에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접근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가능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671052" y="4665217"/>
            <a:ext cx="2247900" cy="175260"/>
          </a:xfrm>
          <a:custGeom>
            <a:avLst/>
            <a:gdLst/>
            <a:ahLst/>
            <a:cxnLst/>
            <a:rect l="l" t="t" r="r" b="b"/>
            <a:pathLst>
              <a:path w="2247900" h="175260">
                <a:moveTo>
                  <a:pt x="2107679" y="0"/>
                </a:moveTo>
                <a:lnTo>
                  <a:pt x="2107679" y="0"/>
                </a:lnTo>
                <a:lnTo>
                  <a:pt x="0" y="0"/>
                </a:lnTo>
                <a:lnTo>
                  <a:pt x="0" y="175260"/>
                </a:lnTo>
                <a:lnTo>
                  <a:pt x="2107679" y="175260"/>
                </a:lnTo>
                <a:lnTo>
                  <a:pt x="2107679" y="0"/>
                </a:lnTo>
                <a:close/>
              </a:path>
              <a:path w="2247900" h="175260">
                <a:moveTo>
                  <a:pt x="2247900" y="0"/>
                </a:moveTo>
                <a:lnTo>
                  <a:pt x="2107692" y="0"/>
                </a:lnTo>
                <a:lnTo>
                  <a:pt x="2107692" y="175260"/>
                </a:lnTo>
                <a:lnTo>
                  <a:pt x="2247900" y="175260"/>
                </a:lnTo>
                <a:lnTo>
                  <a:pt x="22479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200647" y="4488484"/>
            <a:ext cx="5157470" cy="862330"/>
          </a:xfrm>
          <a:prstGeom prst="rect">
            <a:avLst/>
          </a:prstGeom>
          <a:ln w="9525">
            <a:solidFill>
              <a:srgbClr val="A6A6A6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000" dirty="0">
                <a:latin typeface="Consolas"/>
                <a:cs typeface="Consolas"/>
              </a:rPr>
              <a:t>config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6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{</a:t>
            </a:r>
            <a:r>
              <a:rPr sz="1000" dirty="0">
                <a:solidFill>
                  <a:srgbClr val="A21515"/>
                </a:solidFill>
                <a:latin typeface="Consolas"/>
                <a:cs typeface="Consolas"/>
              </a:rPr>
              <a:t>"configurable"</a:t>
            </a:r>
            <a:r>
              <a:rPr sz="1000" dirty="0">
                <a:latin typeface="Consolas"/>
                <a:cs typeface="Consolas"/>
              </a:rPr>
              <a:t>: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{</a:t>
            </a:r>
            <a:r>
              <a:rPr sz="1000" dirty="0">
                <a:solidFill>
                  <a:srgbClr val="A21515"/>
                </a:solidFill>
                <a:latin typeface="Consolas"/>
                <a:cs typeface="Consolas"/>
              </a:rPr>
              <a:t>"thread_id"</a:t>
            </a:r>
            <a:r>
              <a:rPr sz="1000" dirty="0">
                <a:latin typeface="Consolas"/>
                <a:cs typeface="Consolas"/>
              </a:rPr>
              <a:t>: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spc="-20" dirty="0">
                <a:solidFill>
                  <a:srgbClr val="A21515"/>
                </a:solidFill>
                <a:latin typeface="Consolas"/>
                <a:cs typeface="Consolas"/>
              </a:rPr>
              <a:t>"1"</a:t>
            </a:r>
            <a:r>
              <a:rPr sz="1000" spc="-20" dirty="0">
                <a:latin typeface="Consolas"/>
                <a:cs typeface="Consolas"/>
              </a:rPr>
              <a:t>}}</a:t>
            </a:r>
            <a:endParaRPr sz="1000">
              <a:latin typeface="Consolas"/>
              <a:cs typeface="Consolas"/>
            </a:endParaRPr>
          </a:p>
          <a:p>
            <a:pPr marL="92075" marR="290195">
              <a:lnSpc>
                <a:spcPct val="100000"/>
              </a:lnSpc>
            </a:pPr>
            <a:r>
              <a:rPr sz="1000" dirty="0">
                <a:latin typeface="Consolas"/>
                <a:cs typeface="Consolas"/>
              </a:rPr>
              <a:t>messages</a:t>
            </a:r>
            <a:r>
              <a:rPr sz="1000" spc="-7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5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[HumanMessage(content=</a:t>
            </a:r>
            <a:r>
              <a:rPr sz="10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1000" dirty="0">
                <a:solidFill>
                  <a:srgbClr val="A21515"/>
                </a:solidFill>
                <a:latin typeface="맑은 고딕"/>
                <a:cs typeface="맑은 고딕"/>
              </a:rPr>
              <a:t>스테이크</a:t>
            </a:r>
            <a:r>
              <a:rPr sz="1000" spc="13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A21515"/>
                </a:solidFill>
                <a:latin typeface="맑은 고딕"/>
                <a:cs typeface="맑은 고딕"/>
              </a:rPr>
              <a:t>메뉴의</a:t>
            </a:r>
            <a:r>
              <a:rPr sz="1000" spc="14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A21515"/>
                </a:solidFill>
                <a:latin typeface="맑은 고딕"/>
                <a:cs typeface="맑은 고딕"/>
              </a:rPr>
              <a:t>가격은</a:t>
            </a:r>
            <a:r>
              <a:rPr sz="1000" spc="15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000" spc="-10" dirty="0">
                <a:solidFill>
                  <a:srgbClr val="A21515"/>
                </a:solidFill>
                <a:latin typeface="맑은 고딕"/>
                <a:cs typeface="맑은 고딕"/>
              </a:rPr>
              <a:t>얼마인가요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?"</a:t>
            </a:r>
            <a:r>
              <a:rPr sz="1000" spc="-10" dirty="0">
                <a:latin typeface="Consolas"/>
                <a:cs typeface="Consolas"/>
              </a:rPr>
              <a:t>)] </a:t>
            </a:r>
            <a:r>
              <a:rPr sz="1000" dirty="0">
                <a:latin typeface="Consolas"/>
                <a:cs typeface="Consolas"/>
              </a:rPr>
              <a:t>messages</a:t>
            </a:r>
            <a:r>
              <a:rPr sz="1000" spc="-1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graph_memory.invoke({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"messages"</a:t>
            </a:r>
            <a:r>
              <a:rPr sz="1000" spc="-10" dirty="0">
                <a:latin typeface="Consolas"/>
                <a:cs typeface="Consolas"/>
              </a:rPr>
              <a:t>: </a:t>
            </a:r>
            <a:r>
              <a:rPr sz="1000" dirty="0">
                <a:latin typeface="Consolas"/>
                <a:cs typeface="Consolas"/>
              </a:rPr>
              <a:t>messages}, </a:t>
            </a:r>
            <a:r>
              <a:rPr sz="1000" spc="-10" dirty="0">
                <a:latin typeface="Consolas"/>
                <a:cs typeface="Consolas"/>
              </a:rPr>
              <a:t>config)</a:t>
            </a:r>
            <a:endParaRPr sz="1000">
              <a:latin typeface="Consolas"/>
              <a:cs typeface="Consolas"/>
            </a:endParaRPr>
          </a:p>
          <a:p>
            <a:pPr marL="372110" marR="2959735" indent="-280670">
              <a:lnSpc>
                <a:spcPct val="100000"/>
              </a:lnSpc>
            </a:pP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10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m</a:t>
            </a:r>
            <a:r>
              <a:rPr sz="1000" spc="-5" dirty="0"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10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messages[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'messages'</a:t>
            </a:r>
            <a:r>
              <a:rPr sz="1000" spc="-10" dirty="0">
                <a:latin typeface="Consolas"/>
                <a:cs typeface="Consolas"/>
              </a:rPr>
              <a:t>]: m.pretty_print()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532368" y="5660885"/>
            <a:ext cx="2527300" cy="175260"/>
          </a:xfrm>
          <a:custGeom>
            <a:avLst/>
            <a:gdLst/>
            <a:ahLst/>
            <a:cxnLst/>
            <a:rect l="l" t="t" r="r" b="b"/>
            <a:pathLst>
              <a:path w="2527300" h="175260">
                <a:moveTo>
                  <a:pt x="655307" y="0"/>
                </a:moveTo>
                <a:lnTo>
                  <a:pt x="655307" y="0"/>
                </a:lnTo>
                <a:lnTo>
                  <a:pt x="0" y="0"/>
                </a:lnTo>
                <a:lnTo>
                  <a:pt x="0" y="175260"/>
                </a:lnTo>
                <a:lnTo>
                  <a:pt x="655307" y="175260"/>
                </a:lnTo>
                <a:lnTo>
                  <a:pt x="655307" y="0"/>
                </a:lnTo>
                <a:close/>
              </a:path>
              <a:path w="2527300" h="175260">
                <a:moveTo>
                  <a:pt x="1303007" y="0"/>
                </a:moveTo>
                <a:lnTo>
                  <a:pt x="1231392" y="0"/>
                </a:lnTo>
                <a:lnTo>
                  <a:pt x="851916" y="0"/>
                </a:lnTo>
                <a:lnTo>
                  <a:pt x="781812" y="0"/>
                </a:lnTo>
                <a:lnTo>
                  <a:pt x="655320" y="0"/>
                </a:lnTo>
                <a:lnTo>
                  <a:pt x="655320" y="175260"/>
                </a:lnTo>
                <a:lnTo>
                  <a:pt x="781812" y="175260"/>
                </a:lnTo>
                <a:lnTo>
                  <a:pt x="851916" y="175260"/>
                </a:lnTo>
                <a:lnTo>
                  <a:pt x="1231392" y="175260"/>
                </a:lnTo>
                <a:lnTo>
                  <a:pt x="1303007" y="175260"/>
                </a:lnTo>
                <a:lnTo>
                  <a:pt x="1303007" y="0"/>
                </a:lnTo>
                <a:close/>
              </a:path>
              <a:path w="2527300" h="175260">
                <a:moveTo>
                  <a:pt x="2526792" y="0"/>
                </a:moveTo>
                <a:lnTo>
                  <a:pt x="2386584" y="0"/>
                </a:lnTo>
                <a:lnTo>
                  <a:pt x="1754124" y="0"/>
                </a:lnTo>
                <a:lnTo>
                  <a:pt x="1682496" y="0"/>
                </a:lnTo>
                <a:lnTo>
                  <a:pt x="1303020" y="0"/>
                </a:lnTo>
                <a:lnTo>
                  <a:pt x="1303020" y="175260"/>
                </a:lnTo>
                <a:lnTo>
                  <a:pt x="1682496" y="175260"/>
                </a:lnTo>
                <a:lnTo>
                  <a:pt x="1754124" y="175260"/>
                </a:lnTo>
                <a:lnTo>
                  <a:pt x="2386584" y="175260"/>
                </a:lnTo>
                <a:lnTo>
                  <a:pt x="2526792" y="175260"/>
                </a:lnTo>
                <a:lnTo>
                  <a:pt x="252679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200647" y="5484101"/>
            <a:ext cx="5157470" cy="862330"/>
          </a:xfrm>
          <a:prstGeom prst="rect">
            <a:avLst/>
          </a:prstGeom>
          <a:ln w="9525">
            <a:solidFill>
              <a:srgbClr val="A6A6A6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000" dirty="0">
                <a:latin typeface="Consolas"/>
                <a:cs typeface="Consolas"/>
              </a:rPr>
              <a:t>config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6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{</a:t>
            </a:r>
            <a:r>
              <a:rPr sz="1000" dirty="0">
                <a:solidFill>
                  <a:srgbClr val="A21515"/>
                </a:solidFill>
                <a:latin typeface="Consolas"/>
                <a:cs typeface="Consolas"/>
              </a:rPr>
              <a:t>"configurable"</a:t>
            </a:r>
            <a:r>
              <a:rPr sz="1000" dirty="0">
                <a:latin typeface="Consolas"/>
                <a:cs typeface="Consolas"/>
              </a:rPr>
              <a:t>: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{</a:t>
            </a:r>
            <a:r>
              <a:rPr sz="1000" dirty="0">
                <a:solidFill>
                  <a:srgbClr val="A21515"/>
                </a:solidFill>
                <a:latin typeface="Consolas"/>
                <a:cs typeface="Consolas"/>
              </a:rPr>
              <a:t>"thread_id"</a:t>
            </a:r>
            <a:r>
              <a:rPr sz="1000" dirty="0">
                <a:latin typeface="Consolas"/>
                <a:cs typeface="Consolas"/>
              </a:rPr>
              <a:t>: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spc="-20" dirty="0">
                <a:solidFill>
                  <a:srgbClr val="A21515"/>
                </a:solidFill>
                <a:latin typeface="Consolas"/>
                <a:cs typeface="Consolas"/>
              </a:rPr>
              <a:t>"1"</a:t>
            </a:r>
            <a:r>
              <a:rPr sz="1000" spc="-20" dirty="0">
                <a:latin typeface="Consolas"/>
                <a:cs typeface="Consolas"/>
              </a:rPr>
              <a:t>}}</a:t>
            </a:r>
            <a:endParaRPr sz="1000">
              <a:latin typeface="Consolas"/>
              <a:cs typeface="Consolas"/>
            </a:endParaRPr>
          </a:p>
          <a:p>
            <a:pPr marL="92075" marR="149225">
              <a:lnSpc>
                <a:spcPct val="100000"/>
              </a:lnSpc>
            </a:pPr>
            <a:r>
              <a:rPr sz="1000" dirty="0">
                <a:latin typeface="Consolas"/>
                <a:cs typeface="Consolas"/>
              </a:rPr>
              <a:t>messages</a:t>
            </a:r>
            <a:r>
              <a:rPr sz="1000" spc="-6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[HumanMessage(content=</a:t>
            </a:r>
            <a:r>
              <a:rPr sz="10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1000" dirty="0">
                <a:solidFill>
                  <a:srgbClr val="A21515"/>
                </a:solidFill>
                <a:latin typeface="맑은 고딕"/>
                <a:cs typeface="맑은 고딕"/>
              </a:rPr>
              <a:t>둘</a:t>
            </a:r>
            <a:r>
              <a:rPr sz="1000" spc="13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A21515"/>
                </a:solidFill>
                <a:latin typeface="맑은 고딕"/>
                <a:cs typeface="맑은 고딕"/>
              </a:rPr>
              <a:t>중에</a:t>
            </a:r>
            <a:r>
              <a:rPr sz="1000" spc="15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A21515"/>
                </a:solidFill>
                <a:latin typeface="맑은 고딕"/>
                <a:cs typeface="맑은 고딕"/>
              </a:rPr>
              <a:t>더</a:t>
            </a:r>
            <a:r>
              <a:rPr sz="1000" spc="15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A21515"/>
                </a:solidFill>
                <a:latin typeface="맑은 고딕"/>
                <a:cs typeface="맑은 고딕"/>
              </a:rPr>
              <a:t>저렴한</a:t>
            </a:r>
            <a:r>
              <a:rPr sz="1000" spc="17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A21515"/>
                </a:solidFill>
                <a:latin typeface="맑은 고딕"/>
                <a:cs typeface="맑은 고딕"/>
              </a:rPr>
              <a:t>메뉴는</a:t>
            </a:r>
            <a:r>
              <a:rPr sz="1000" spc="16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000" spc="-10" dirty="0">
                <a:solidFill>
                  <a:srgbClr val="A21515"/>
                </a:solidFill>
                <a:latin typeface="맑은 고딕"/>
                <a:cs typeface="맑은 고딕"/>
              </a:rPr>
              <a:t>무엇인가요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?"</a:t>
            </a:r>
            <a:r>
              <a:rPr sz="1000" spc="-10" dirty="0">
                <a:latin typeface="Consolas"/>
                <a:cs typeface="Consolas"/>
              </a:rPr>
              <a:t>)] </a:t>
            </a:r>
            <a:r>
              <a:rPr sz="1000" dirty="0">
                <a:latin typeface="Consolas"/>
                <a:cs typeface="Consolas"/>
              </a:rPr>
              <a:t>messages</a:t>
            </a:r>
            <a:r>
              <a:rPr sz="1000" spc="-1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graph_memory.invoke({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"messages"</a:t>
            </a:r>
            <a:r>
              <a:rPr sz="1000" spc="-10" dirty="0">
                <a:latin typeface="Consolas"/>
                <a:cs typeface="Consolas"/>
              </a:rPr>
              <a:t>: </a:t>
            </a:r>
            <a:r>
              <a:rPr sz="1000" dirty="0">
                <a:latin typeface="Consolas"/>
                <a:cs typeface="Consolas"/>
              </a:rPr>
              <a:t>messages}, </a:t>
            </a:r>
            <a:r>
              <a:rPr sz="1000" spc="-10" dirty="0">
                <a:latin typeface="Consolas"/>
                <a:cs typeface="Consolas"/>
              </a:rPr>
              <a:t>config)</a:t>
            </a:r>
            <a:endParaRPr sz="1000">
              <a:latin typeface="Consolas"/>
              <a:cs typeface="Consolas"/>
            </a:endParaRPr>
          </a:p>
          <a:p>
            <a:pPr marL="372110" marR="2959735" indent="-280670">
              <a:lnSpc>
                <a:spcPct val="100000"/>
              </a:lnSpc>
            </a:pP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10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m</a:t>
            </a:r>
            <a:r>
              <a:rPr sz="1000" spc="-5" dirty="0"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10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messages[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'messages'</a:t>
            </a:r>
            <a:r>
              <a:rPr sz="1000" spc="-10" dirty="0">
                <a:latin typeface="Consolas"/>
                <a:cs typeface="Consolas"/>
              </a:rPr>
              <a:t>]: m.pretty_print()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Adaptive</a:t>
            </a:r>
            <a:r>
              <a:rPr spc="-75" dirty="0"/>
              <a:t> </a:t>
            </a:r>
            <a:r>
              <a:rPr dirty="0"/>
              <a:t>RAG</a:t>
            </a:r>
            <a:r>
              <a:rPr spc="-60" dirty="0"/>
              <a:t> </a:t>
            </a:r>
            <a:r>
              <a:rPr spc="-35" dirty="0"/>
              <a:t>개요</a:t>
            </a:r>
          </a:p>
        </p:txBody>
      </p:sp>
      <p:sp>
        <p:nvSpPr>
          <p:cNvPr id="3" name="object 3"/>
          <p:cNvSpPr/>
          <p:nvPr/>
        </p:nvSpPr>
        <p:spPr>
          <a:xfrm>
            <a:off x="500748" y="1756282"/>
            <a:ext cx="10987405" cy="637540"/>
          </a:xfrm>
          <a:custGeom>
            <a:avLst/>
            <a:gdLst/>
            <a:ahLst/>
            <a:cxnLst/>
            <a:rect l="l" t="t" r="r" b="b"/>
            <a:pathLst>
              <a:path w="10987405" h="637539">
                <a:moveTo>
                  <a:pt x="10918456" y="0"/>
                </a:moveTo>
                <a:lnTo>
                  <a:pt x="68795" y="0"/>
                </a:lnTo>
                <a:lnTo>
                  <a:pt x="42015" y="5395"/>
                </a:lnTo>
                <a:lnTo>
                  <a:pt x="20148" y="20113"/>
                </a:lnTo>
                <a:lnTo>
                  <a:pt x="5405" y="41951"/>
                </a:lnTo>
                <a:lnTo>
                  <a:pt x="0" y="68706"/>
                </a:lnTo>
                <a:lnTo>
                  <a:pt x="0" y="568325"/>
                </a:lnTo>
                <a:lnTo>
                  <a:pt x="5405" y="595100"/>
                </a:lnTo>
                <a:lnTo>
                  <a:pt x="20148" y="616981"/>
                </a:lnTo>
                <a:lnTo>
                  <a:pt x="42015" y="631743"/>
                </a:lnTo>
                <a:lnTo>
                  <a:pt x="68795" y="637158"/>
                </a:lnTo>
                <a:lnTo>
                  <a:pt x="10918456" y="637158"/>
                </a:lnTo>
                <a:lnTo>
                  <a:pt x="10945285" y="631743"/>
                </a:lnTo>
                <a:lnTo>
                  <a:pt x="10967161" y="616981"/>
                </a:lnTo>
                <a:lnTo>
                  <a:pt x="10981893" y="595100"/>
                </a:lnTo>
                <a:lnTo>
                  <a:pt x="10987290" y="568325"/>
                </a:lnTo>
                <a:lnTo>
                  <a:pt x="10987290" y="68706"/>
                </a:lnTo>
                <a:lnTo>
                  <a:pt x="10981893" y="41951"/>
                </a:lnTo>
                <a:lnTo>
                  <a:pt x="10967161" y="20113"/>
                </a:lnTo>
                <a:lnTo>
                  <a:pt x="10945285" y="5395"/>
                </a:lnTo>
                <a:lnTo>
                  <a:pt x="10918456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45551" y="659638"/>
            <a:ext cx="1464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맑은 고딕"/>
                <a:cs typeface="맑은 고딕"/>
              </a:rPr>
              <a:t>Adaptive</a:t>
            </a:r>
            <a:r>
              <a:rPr sz="1800" spc="-4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맑은 고딕"/>
                <a:cs typeface="맑은 고딕"/>
              </a:rPr>
              <a:t>RAG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0748" y="2573654"/>
            <a:ext cx="10987405" cy="4036695"/>
          </a:xfrm>
          <a:custGeom>
            <a:avLst/>
            <a:gdLst/>
            <a:ahLst/>
            <a:cxnLst/>
            <a:rect l="l" t="t" r="r" b="b"/>
            <a:pathLst>
              <a:path w="10987405" h="4036695">
                <a:moveTo>
                  <a:pt x="0" y="221996"/>
                </a:moveTo>
                <a:lnTo>
                  <a:pt x="4510" y="177270"/>
                </a:lnTo>
                <a:lnTo>
                  <a:pt x="17447" y="135606"/>
                </a:lnTo>
                <a:lnTo>
                  <a:pt x="37918" y="97897"/>
                </a:lnTo>
                <a:lnTo>
                  <a:pt x="65030" y="65039"/>
                </a:lnTo>
                <a:lnTo>
                  <a:pt x="97890" y="37926"/>
                </a:lnTo>
                <a:lnTo>
                  <a:pt x="135606" y="17452"/>
                </a:lnTo>
                <a:lnTo>
                  <a:pt x="177285" y="4512"/>
                </a:lnTo>
                <a:lnTo>
                  <a:pt x="222034" y="0"/>
                </a:lnTo>
                <a:lnTo>
                  <a:pt x="10765294" y="0"/>
                </a:lnTo>
                <a:lnTo>
                  <a:pt x="10810020" y="4512"/>
                </a:lnTo>
                <a:lnTo>
                  <a:pt x="10851684" y="17452"/>
                </a:lnTo>
                <a:lnTo>
                  <a:pt x="10889392" y="37926"/>
                </a:lnTo>
                <a:lnTo>
                  <a:pt x="10922250" y="65039"/>
                </a:lnTo>
                <a:lnTo>
                  <a:pt x="10949364" y="97897"/>
                </a:lnTo>
                <a:lnTo>
                  <a:pt x="10969838" y="135606"/>
                </a:lnTo>
                <a:lnTo>
                  <a:pt x="10982778" y="177270"/>
                </a:lnTo>
                <a:lnTo>
                  <a:pt x="10987290" y="221996"/>
                </a:lnTo>
                <a:lnTo>
                  <a:pt x="10987290" y="3814267"/>
                </a:lnTo>
                <a:lnTo>
                  <a:pt x="10982778" y="3859016"/>
                </a:lnTo>
                <a:lnTo>
                  <a:pt x="10969838" y="3900695"/>
                </a:lnTo>
                <a:lnTo>
                  <a:pt x="10949364" y="3938410"/>
                </a:lnTo>
                <a:lnTo>
                  <a:pt x="10922250" y="3971270"/>
                </a:lnTo>
                <a:lnTo>
                  <a:pt x="10889392" y="3998382"/>
                </a:lnTo>
                <a:lnTo>
                  <a:pt x="10851684" y="4018853"/>
                </a:lnTo>
                <a:lnTo>
                  <a:pt x="10810020" y="4031790"/>
                </a:lnTo>
                <a:lnTo>
                  <a:pt x="10765294" y="4036301"/>
                </a:lnTo>
                <a:lnTo>
                  <a:pt x="222034" y="4036301"/>
                </a:lnTo>
                <a:lnTo>
                  <a:pt x="177285" y="4031790"/>
                </a:lnTo>
                <a:lnTo>
                  <a:pt x="135606" y="4018853"/>
                </a:lnTo>
                <a:lnTo>
                  <a:pt x="97890" y="3998382"/>
                </a:lnTo>
                <a:lnTo>
                  <a:pt x="65030" y="3971270"/>
                </a:lnTo>
                <a:lnTo>
                  <a:pt x="37918" y="3938410"/>
                </a:lnTo>
                <a:lnTo>
                  <a:pt x="17447" y="3900695"/>
                </a:lnTo>
                <a:lnTo>
                  <a:pt x="4510" y="3859016"/>
                </a:lnTo>
                <a:lnTo>
                  <a:pt x="0" y="3814267"/>
                </a:lnTo>
                <a:lnTo>
                  <a:pt x="0" y="221996"/>
                </a:lnTo>
                <a:close/>
              </a:path>
            </a:pathLst>
          </a:custGeom>
          <a:ln w="95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9643" y="1913382"/>
            <a:ext cx="8077834" cy="2531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질문의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복잡성에</a:t>
            </a:r>
            <a:r>
              <a:rPr sz="1800" spc="-21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따라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가장</a:t>
            </a:r>
            <a:r>
              <a:rPr sz="1800" spc="-21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적합한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검색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및</a:t>
            </a:r>
            <a:r>
              <a:rPr sz="1800" spc="-21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생성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전략을</a:t>
            </a:r>
            <a:r>
              <a:rPr sz="1800" spc="-210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동적으로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선택하는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3C3929"/>
                </a:solidFill>
                <a:latin typeface="맑은 고딕"/>
                <a:cs typeface="맑은 고딕"/>
              </a:rPr>
              <a:t>방법</a:t>
            </a:r>
            <a:endParaRPr sz="18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1015"/>
              </a:spcBef>
              <a:buFont typeface="Arial"/>
              <a:buChar char="•"/>
            </a:pPr>
            <a:endParaRPr sz="1800">
              <a:latin typeface="맑은 고딕"/>
              <a:cs typeface="맑은 고딕"/>
            </a:endParaRPr>
          </a:p>
          <a:p>
            <a:pPr marL="262890">
              <a:lnSpc>
                <a:spcPct val="100000"/>
              </a:lnSpc>
            </a:pPr>
            <a:r>
              <a:rPr sz="1400" b="1" dirty="0">
                <a:latin typeface="맑은 고딕"/>
                <a:cs typeface="맑은 고딕"/>
              </a:rPr>
              <a:t>Adaptive</a:t>
            </a:r>
            <a:r>
              <a:rPr sz="1400" b="1" spc="-40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RAG</a:t>
            </a:r>
            <a:r>
              <a:rPr sz="1400" b="1" spc="-35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작동</a:t>
            </a:r>
            <a:r>
              <a:rPr sz="1400" b="1" spc="-30" dirty="0">
                <a:latin typeface="맑은 고딕"/>
                <a:cs typeface="맑은 고딕"/>
              </a:rPr>
              <a:t> </a:t>
            </a:r>
            <a:r>
              <a:rPr sz="1400" b="1" spc="-25" dirty="0">
                <a:latin typeface="맑은 고딕"/>
                <a:cs typeface="맑은 고딕"/>
              </a:rPr>
              <a:t>방식</a:t>
            </a:r>
            <a:endParaRPr sz="1400">
              <a:latin typeface="맑은 고딕"/>
              <a:cs typeface="맑은 고딕"/>
            </a:endParaRPr>
          </a:p>
          <a:p>
            <a:pPr marL="462280" lvl="1" indent="-199390">
              <a:lnSpc>
                <a:spcPct val="100000"/>
              </a:lnSpc>
              <a:spcBef>
                <a:spcPts val="1685"/>
              </a:spcBef>
              <a:buAutoNum type="arabicPeriod"/>
              <a:tabLst>
                <a:tab pos="462280" algn="l"/>
              </a:tabLst>
            </a:pPr>
            <a:r>
              <a:rPr sz="1400" dirty="0">
                <a:latin typeface="맑은 고딕"/>
                <a:cs typeface="맑은 고딕"/>
              </a:rPr>
              <a:t>사용자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질문의</a:t>
            </a:r>
            <a:r>
              <a:rPr sz="1400" b="1" spc="-15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복잡성</a:t>
            </a:r>
            <a:r>
              <a:rPr sz="1400" b="1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수준을</a:t>
            </a:r>
            <a:r>
              <a:rPr sz="1400" spc="-25" dirty="0">
                <a:latin typeface="맑은 고딕"/>
                <a:cs typeface="맑은 고딕"/>
              </a:rPr>
              <a:t> 분석</a:t>
            </a:r>
            <a:endParaRPr sz="1400">
              <a:latin typeface="맑은 고딕"/>
              <a:cs typeface="맑은 고딕"/>
            </a:endParaRPr>
          </a:p>
          <a:p>
            <a:pPr marL="462280" lvl="1" indent="-199390">
              <a:lnSpc>
                <a:spcPct val="100000"/>
              </a:lnSpc>
              <a:buAutoNum type="arabicPeriod"/>
              <a:tabLst>
                <a:tab pos="462280" algn="l"/>
              </a:tabLst>
            </a:pPr>
            <a:r>
              <a:rPr sz="1400" dirty="0">
                <a:latin typeface="맑은 고딕"/>
                <a:cs typeface="맑은 고딕"/>
              </a:rPr>
              <a:t>분석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결과에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따라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가장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적합한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처리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전략을</a:t>
            </a:r>
            <a:r>
              <a:rPr sz="1400" spc="-25" dirty="0">
                <a:latin typeface="맑은 고딕"/>
                <a:cs typeface="맑은 고딕"/>
              </a:rPr>
              <a:t> 선택</a:t>
            </a:r>
            <a:endParaRPr sz="1400">
              <a:latin typeface="맑은 고딕"/>
              <a:cs typeface="맑은 고딕"/>
            </a:endParaRPr>
          </a:p>
          <a:p>
            <a:pPr marL="1068705" lvl="2" indent="-348615">
              <a:lnSpc>
                <a:spcPct val="100000"/>
              </a:lnSpc>
              <a:buFont typeface="Arial"/>
              <a:buChar char="•"/>
              <a:tabLst>
                <a:tab pos="1068705" algn="l"/>
              </a:tabLst>
            </a:pPr>
            <a:r>
              <a:rPr sz="1400" dirty="0">
                <a:latin typeface="맑은 고딕"/>
                <a:cs typeface="맑은 고딕"/>
              </a:rPr>
              <a:t>단순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질문: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기본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LLM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또는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단순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spc="-25" dirty="0">
                <a:latin typeface="맑은 고딕"/>
                <a:cs typeface="맑은 고딕"/>
              </a:rPr>
              <a:t>검색</a:t>
            </a:r>
            <a:endParaRPr sz="1400">
              <a:latin typeface="맑은 고딕"/>
              <a:cs typeface="맑은 고딕"/>
            </a:endParaRPr>
          </a:p>
          <a:p>
            <a:pPr marL="1068705" lvl="2" indent="-348615">
              <a:lnSpc>
                <a:spcPct val="100000"/>
              </a:lnSpc>
              <a:buFont typeface="Arial"/>
              <a:buChar char="•"/>
              <a:tabLst>
                <a:tab pos="1068705" algn="l"/>
              </a:tabLst>
            </a:pPr>
            <a:r>
              <a:rPr sz="1400" dirty="0">
                <a:latin typeface="맑은 고딕"/>
                <a:cs typeface="맑은 고딕"/>
              </a:rPr>
              <a:t>중간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복잡성: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단일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단계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검색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증강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LLM</a:t>
            </a:r>
            <a:r>
              <a:rPr sz="1400" spc="-5" dirty="0">
                <a:latin typeface="맑은 고딕"/>
                <a:cs typeface="맑은 고딕"/>
              </a:rPr>
              <a:t> </a:t>
            </a:r>
            <a:r>
              <a:rPr sz="1400" spc="-25" dirty="0">
                <a:latin typeface="맑은 고딕"/>
                <a:cs typeface="맑은 고딕"/>
              </a:rPr>
              <a:t>사용</a:t>
            </a:r>
            <a:endParaRPr sz="1400">
              <a:latin typeface="맑은 고딕"/>
              <a:cs typeface="맑은 고딕"/>
            </a:endParaRPr>
          </a:p>
          <a:p>
            <a:pPr marL="1068705" lvl="2" indent="-348615">
              <a:lnSpc>
                <a:spcPct val="100000"/>
              </a:lnSpc>
              <a:buFont typeface="Arial"/>
              <a:buChar char="•"/>
              <a:tabLst>
                <a:tab pos="1068705" algn="l"/>
              </a:tabLst>
            </a:pPr>
            <a:r>
              <a:rPr sz="1400" dirty="0">
                <a:latin typeface="맑은 고딕"/>
                <a:cs typeface="맑은 고딕"/>
              </a:rPr>
              <a:t>복잡한</a:t>
            </a:r>
            <a:r>
              <a:rPr sz="1400" spc="-3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질문:</a:t>
            </a:r>
            <a:r>
              <a:rPr sz="1400" spc="-1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여러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단계의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검색과</a:t>
            </a:r>
            <a:r>
              <a:rPr sz="1400" spc="-3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추론을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spc="-35" dirty="0">
                <a:latin typeface="맑은 고딕"/>
                <a:cs typeface="맑은 고딕"/>
              </a:rPr>
              <a:t>수행</a:t>
            </a:r>
            <a:endParaRPr sz="1400">
              <a:latin typeface="맑은 고딕"/>
              <a:cs typeface="맑은 고딕"/>
            </a:endParaRPr>
          </a:p>
          <a:p>
            <a:pPr marL="462280" lvl="1" indent="-199390">
              <a:lnSpc>
                <a:spcPct val="100000"/>
              </a:lnSpc>
              <a:buAutoNum type="arabicPeriod"/>
              <a:tabLst>
                <a:tab pos="462280" algn="l"/>
              </a:tabLst>
            </a:pPr>
            <a:r>
              <a:rPr sz="1400" dirty="0">
                <a:latin typeface="맑은 고딕"/>
                <a:cs typeface="맑은 고딕"/>
              </a:rPr>
              <a:t>선택된</a:t>
            </a:r>
            <a:r>
              <a:rPr sz="1400" spc="-4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전략에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따라</a:t>
            </a:r>
            <a:r>
              <a:rPr sz="1400" spc="-3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질문을</a:t>
            </a:r>
            <a:r>
              <a:rPr sz="1400" spc="-3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처리하고</a:t>
            </a:r>
            <a:r>
              <a:rPr sz="1400" spc="-3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응답을</a:t>
            </a:r>
            <a:r>
              <a:rPr sz="1400" spc="-35" dirty="0">
                <a:latin typeface="맑은 고딕"/>
                <a:cs typeface="맑은 고딕"/>
              </a:rPr>
              <a:t> </a:t>
            </a:r>
            <a:r>
              <a:rPr sz="1400" spc="-25" dirty="0">
                <a:latin typeface="맑은 고딕"/>
                <a:cs typeface="맑은 고딕"/>
              </a:rPr>
              <a:t>생성</a:t>
            </a:r>
            <a:endParaRPr sz="1400">
              <a:latin typeface="맑은 고딕"/>
              <a:cs typeface="맑은 고딕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744" y="4525581"/>
            <a:ext cx="3964432" cy="193814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396609" y="6219240"/>
            <a:ext cx="29705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맑은 고딕"/>
                <a:cs typeface="맑은 고딕"/>
              </a:rPr>
              <a:t>논문(이미지</a:t>
            </a:r>
            <a:r>
              <a:rPr sz="1000" spc="-45" dirty="0">
                <a:latin typeface="맑은 고딕"/>
                <a:cs typeface="맑은 고딕"/>
              </a:rPr>
              <a:t> </a:t>
            </a:r>
            <a:r>
              <a:rPr sz="1000" dirty="0">
                <a:latin typeface="맑은 고딕"/>
                <a:cs typeface="맑은 고딕"/>
              </a:rPr>
              <a:t>출처):</a:t>
            </a:r>
            <a:r>
              <a:rPr sz="1000" spc="-50" dirty="0">
                <a:latin typeface="맑은 고딕"/>
                <a:cs typeface="맑은 고딕"/>
              </a:rPr>
              <a:t> </a:t>
            </a:r>
            <a:r>
              <a:rPr sz="1000" spc="-10" dirty="0">
                <a:latin typeface="맑은 고딕"/>
                <a:cs typeface="맑은 고딕"/>
              </a:rPr>
              <a:t>https://arxiv.org/abs/2403.14403</a:t>
            </a:r>
            <a:endParaRPr sz="1000">
              <a:latin typeface="맑은 고딕"/>
              <a:cs typeface="맑은 고딕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94400" y="3387775"/>
            <a:ext cx="5349367" cy="220713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Adaptive</a:t>
            </a:r>
            <a:r>
              <a:rPr spc="-55" dirty="0"/>
              <a:t> </a:t>
            </a:r>
            <a:r>
              <a:rPr dirty="0"/>
              <a:t>RAG</a:t>
            </a:r>
            <a:r>
              <a:rPr spc="-40" dirty="0"/>
              <a:t> </a:t>
            </a:r>
            <a:r>
              <a:rPr dirty="0"/>
              <a:t>구현</a:t>
            </a:r>
            <a:r>
              <a:rPr spc="-50" dirty="0"/>
              <a:t> </a:t>
            </a:r>
            <a:r>
              <a:rPr spc="-25" dirty="0"/>
              <a:t>실습</a:t>
            </a:r>
          </a:p>
        </p:txBody>
      </p:sp>
      <p:sp>
        <p:nvSpPr>
          <p:cNvPr id="3" name="object 3"/>
          <p:cNvSpPr/>
          <p:nvPr/>
        </p:nvSpPr>
        <p:spPr>
          <a:xfrm>
            <a:off x="500748" y="1756282"/>
            <a:ext cx="10987405" cy="637540"/>
          </a:xfrm>
          <a:custGeom>
            <a:avLst/>
            <a:gdLst/>
            <a:ahLst/>
            <a:cxnLst/>
            <a:rect l="l" t="t" r="r" b="b"/>
            <a:pathLst>
              <a:path w="10987405" h="637539">
                <a:moveTo>
                  <a:pt x="10918456" y="0"/>
                </a:moveTo>
                <a:lnTo>
                  <a:pt x="68795" y="0"/>
                </a:lnTo>
                <a:lnTo>
                  <a:pt x="42015" y="5395"/>
                </a:lnTo>
                <a:lnTo>
                  <a:pt x="20148" y="20113"/>
                </a:lnTo>
                <a:lnTo>
                  <a:pt x="5405" y="41951"/>
                </a:lnTo>
                <a:lnTo>
                  <a:pt x="0" y="68706"/>
                </a:lnTo>
                <a:lnTo>
                  <a:pt x="0" y="568325"/>
                </a:lnTo>
                <a:lnTo>
                  <a:pt x="5405" y="595100"/>
                </a:lnTo>
                <a:lnTo>
                  <a:pt x="20148" y="616981"/>
                </a:lnTo>
                <a:lnTo>
                  <a:pt x="42015" y="631743"/>
                </a:lnTo>
                <a:lnTo>
                  <a:pt x="68795" y="637158"/>
                </a:lnTo>
                <a:lnTo>
                  <a:pt x="10918456" y="637158"/>
                </a:lnTo>
                <a:lnTo>
                  <a:pt x="10945285" y="631743"/>
                </a:lnTo>
                <a:lnTo>
                  <a:pt x="10967161" y="616981"/>
                </a:lnTo>
                <a:lnTo>
                  <a:pt x="10981893" y="595100"/>
                </a:lnTo>
                <a:lnTo>
                  <a:pt x="10987290" y="568325"/>
                </a:lnTo>
                <a:lnTo>
                  <a:pt x="10987290" y="68706"/>
                </a:lnTo>
                <a:lnTo>
                  <a:pt x="10981893" y="41951"/>
                </a:lnTo>
                <a:lnTo>
                  <a:pt x="10967161" y="20113"/>
                </a:lnTo>
                <a:lnTo>
                  <a:pt x="10945285" y="5395"/>
                </a:lnTo>
                <a:lnTo>
                  <a:pt x="10918456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9643" y="1913382"/>
            <a:ext cx="6283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질문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유형에</a:t>
            </a:r>
            <a:r>
              <a:rPr sz="1800" spc="-21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따라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가장</a:t>
            </a:r>
            <a:r>
              <a:rPr sz="1800" spc="-210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적합한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검색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전략을</a:t>
            </a:r>
            <a:r>
              <a:rPr sz="1800" spc="-210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사용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spc="-10" dirty="0">
                <a:solidFill>
                  <a:srgbClr val="3C3929"/>
                </a:solidFill>
                <a:latin typeface="Calibri"/>
                <a:cs typeface="Calibri"/>
              </a:rPr>
              <a:t>(</a:t>
            </a:r>
            <a:r>
              <a:rPr sz="1800" spc="-10" dirty="0">
                <a:solidFill>
                  <a:srgbClr val="3C3929"/>
                </a:solidFill>
                <a:latin typeface="맑은 고딕"/>
                <a:cs typeface="맑은 고딕"/>
              </a:rPr>
              <a:t>질문</a:t>
            </a:r>
            <a:r>
              <a:rPr sz="1800" spc="-21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spc="-20" dirty="0">
                <a:solidFill>
                  <a:srgbClr val="3C3929"/>
                </a:solidFill>
                <a:latin typeface="맑은 고딕"/>
                <a:cs typeface="맑은 고딕"/>
              </a:rPr>
              <a:t>라우팅</a:t>
            </a:r>
            <a:r>
              <a:rPr sz="1800" spc="-20" dirty="0">
                <a:solidFill>
                  <a:srgbClr val="3C3929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5551" y="659638"/>
            <a:ext cx="1464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맑은 고딕"/>
                <a:cs typeface="맑은 고딕"/>
              </a:rPr>
              <a:t>Adaptive</a:t>
            </a:r>
            <a:r>
              <a:rPr sz="1800" spc="-4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맑은 고딕"/>
                <a:cs typeface="맑은 고딕"/>
              </a:rPr>
              <a:t>RAG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0748" y="2573654"/>
            <a:ext cx="10987405" cy="4036695"/>
          </a:xfrm>
          <a:custGeom>
            <a:avLst/>
            <a:gdLst/>
            <a:ahLst/>
            <a:cxnLst/>
            <a:rect l="l" t="t" r="r" b="b"/>
            <a:pathLst>
              <a:path w="10987405" h="4036695">
                <a:moveTo>
                  <a:pt x="0" y="221996"/>
                </a:moveTo>
                <a:lnTo>
                  <a:pt x="4510" y="177270"/>
                </a:lnTo>
                <a:lnTo>
                  <a:pt x="17447" y="135606"/>
                </a:lnTo>
                <a:lnTo>
                  <a:pt x="37918" y="97897"/>
                </a:lnTo>
                <a:lnTo>
                  <a:pt x="65030" y="65039"/>
                </a:lnTo>
                <a:lnTo>
                  <a:pt x="97890" y="37926"/>
                </a:lnTo>
                <a:lnTo>
                  <a:pt x="135606" y="17452"/>
                </a:lnTo>
                <a:lnTo>
                  <a:pt x="177285" y="4512"/>
                </a:lnTo>
                <a:lnTo>
                  <a:pt x="222034" y="0"/>
                </a:lnTo>
                <a:lnTo>
                  <a:pt x="10765294" y="0"/>
                </a:lnTo>
                <a:lnTo>
                  <a:pt x="10810020" y="4512"/>
                </a:lnTo>
                <a:lnTo>
                  <a:pt x="10851684" y="17452"/>
                </a:lnTo>
                <a:lnTo>
                  <a:pt x="10889392" y="37926"/>
                </a:lnTo>
                <a:lnTo>
                  <a:pt x="10922250" y="65039"/>
                </a:lnTo>
                <a:lnTo>
                  <a:pt x="10949364" y="97897"/>
                </a:lnTo>
                <a:lnTo>
                  <a:pt x="10969838" y="135606"/>
                </a:lnTo>
                <a:lnTo>
                  <a:pt x="10982778" y="177270"/>
                </a:lnTo>
                <a:lnTo>
                  <a:pt x="10987290" y="221996"/>
                </a:lnTo>
                <a:lnTo>
                  <a:pt x="10987290" y="3814267"/>
                </a:lnTo>
                <a:lnTo>
                  <a:pt x="10982778" y="3859016"/>
                </a:lnTo>
                <a:lnTo>
                  <a:pt x="10969838" y="3900695"/>
                </a:lnTo>
                <a:lnTo>
                  <a:pt x="10949364" y="3938410"/>
                </a:lnTo>
                <a:lnTo>
                  <a:pt x="10922250" y="3971270"/>
                </a:lnTo>
                <a:lnTo>
                  <a:pt x="10889392" y="3998382"/>
                </a:lnTo>
                <a:lnTo>
                  <a:pt x="10851684" y="4018853"/>
                </a:lnTo>
                <a:lnTo>
                  <a:pt x="10810020" y="4031790"/>
                </a:lnTo>
                <a:lnTo>
                  <a:pt x="10765294" y="4036301"/>
                </a:lnTo>
                <a:lnTo>
                  <a:pt x="222034" y="4036301"/>
                </a:lnTo>
                <a:lnTo>
                  <a:pt x="177285" y="4031790"/>
                </a:lnTo>
                <a:lnTo>
                  <a:pt x="135606" y="4018853"/>
                </a:lnTo>
                <a:lnTo>
                  <a:pt x="97890" y="3998382"/>
                </a:lnTo>
                <a:lnTo>
                  <a:pt x="65030" y="3971270"/>
                </a:lnTo>
                <a:lnTo>
                  <a:pt x="37918" y="3938410"/>
                </a:lnTo>
                <a:lnTo>
                  <a:pt x="17447" y="3900695"/>
                </a:lnTo>
                <a:lnTo>
                  <a:pt x="4510" y="3859016"/>
                </a:lnTo>
                <a:lnTo>
                  <a:pt x="0" y="3814267"/>
                </a:lnTo>
                <a:lnTo>
                  <a:pt x="0" y="221996"/>
                </a:lnTo>
                <a:close/>
              </a:path>
            </a:pathLst>
          </a:custGeom>
          <a:ln w="95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9883" y="2711576"/>
            <a:ext cx="499999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맑은 고딕"/>
                <a:cs typeface="맑은 고딕"/>
              </a:rPr>
              <a:t>질문</a:t>
            </a:r>
            <a:r>
              <a:rPr sz="1400" b="1" spc="-15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라우팅을</a:t>
            </a:r>
            <a:r>
              <a:rPr sz="1400" b="1" spc="-25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통한</a:t>
            </a:r>
            <a:r>
              <a:rPr sz="1400" b="1" spc="-15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검색</a:t>
            </a:r>
            <a:r>
              <a:rPr sz="1400" b="1" spc="-15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도구</a:t>
            </a:r>
            <a:r>
              <a:rPr sz="1400" b="1" spc="-15" dirty="0">
                <a:latin typeface="맑은 고딕"/>
                <a:cs typeface="맑은 고딕"/>
              </a:rPr>
              <a:t> </a:t>
            </a:r>
            <a:r>
              <a:rPr sz="1400" b="1" spc="-25" dirty="0">
                <a:latin typeface="맑은 고딕"/>
                <a:cs typeface="맑은 고딕"/>
              </a:rPr>
              <a:t>선택</a:t>
            </a:r>
            <a:endParaRPr sz="1400">
              <a:latin typeface="맑은 고딕"/>
              <a:cs typeface="맑은 고딕"/>
            </a:endParaRPr>
          </a:p>
          <a:p>
            <a:pPr marL="212090" indent="-19939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12090" algn="l"/>
              </a:tabLst>
            </a:pPr>
            <a:r>
              <a:rPr sz="1400" dirty="0">
                <a:latin typeface="맑은 고딕"/>
                <a:cs typeface="맑은 고딕"/>
              </a:rPr>
              <a:t>레스토랑</a:t>
            </a:r>
            <a:r>
              <a:rPr sz="1400" spc="-3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메뉴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관련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질문:</a:t>
            </a:r>
            <a:r>
              <a:rPr sz="1400" spc="470" dirty="0">
                <a:latin typeface="맑은 고딕"/>
                <a:cs typeface="맑은 고딕"/>
              </a:rPr>
              <a:t> </a:t>
            </a:r>
            <a:r>
              <a:rPr sz="1400" spc="-10" dirty="0">
                <a:latin typeface="맑은 고딕"/>
                <a:cs typeface="맑은 고딕"/>
              </a:rPr>
              <a:t>search_menu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도구로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spc="-25" dirty="0">
                <a:latin typeface="맑은 고딕"/>
                <a:cs typeface="맑은 고딕"/>
              </a:rPr>
              <a:t>라우팅</a:t>
            </a:r>
            <a:endParaRPr sz="1400">
              <a:latin typeface="맑은 고딕"/>
              <a:cs typeface="맑은 고딕"/>
            </a:endParaRPr>
          </a:p>
          <a:p>
            <a:pPr marL="212090" indent="-199390">
              <a:lnSpc>
                <a:spcPct val="100000"/>
              </a:lnSpc>
              <a:buAutoNum type="arabicPeriod"/>
              <a:tabLst>
                <a:tab pos="212090" algn="l"/>
              </a:tabLst>
            </a:pPr>
            <a:r>
              <a:rPr sz="1400" dirty="0">
                <a:latin typeface="맑은 고딕"/>
                <a:cs typeface="맑은 고딕"/>
              </a:rPr>
              <a:t>메뉴</a:t>
            </a:r>
            <a:r>
              <a:rPr sz="1400" spc="-3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외의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정보나</a:t>
            </a:r>
            <a:r>
              <a:rPr sz="1400" spc="-3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일반적인</a:t>
            </a:r>
            <a:r>
              <a:rPr sz="1400" spc="-4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질문: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search_web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도구로</a:t>
            </a:r>
            <a:r>
              <a:rPr sz="1400" spc="-25" dirty="0">
                <a:latin typeface="맑은 고딕"/>
                <a:cs typeface="맑은 고딕"/>
              </a:rPr>
              <a:t> 라우팅</a:t>
            </a:r>
            <a:endParaRPr sz="1400">
              <a:latin typeface="맑은 고딕"/>
              <a:cs typeface="맑은 고딕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24863" y="2748521"/>
            <a:ext cx="10034905" cy="3806825"/>
            <a:chOff x="1324863" y="2748521"/>
            <a:chExt cx="10034905" cy="38068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4863" y="3815384"/>
              <a:ext cx="3676777" cy="273989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167628" y="2748521"/>
              <a:ext cx="5192395" cy="3555365"/>
            </a:xfrm>
            <a:custGeom>
              <a:avLst/>
              <a:gdLst/>
              <a:ahLst/>
              <a:cxnLst/>
              <a:rect l="l" t="t" r="r" b="b"/>
              <a:pathLst>
                <a:path w="5192395" h="3555365">
                  <a:moveTo>
                    <a:pt x="5192141" y="0"/>
                  </a:moveTo>
                  <a:lnTo>
                    <a:pt x="0" y="0"/>
                  </a:lnTo>
                  <a:lnTo>
                    <a:pt x="0" y="3554857"/>
                  </a:lnTo>
                  <a:lnTo>
                    <a:pt x="5192141" y="3554857"/>
                  </a:lnTo>
                  <a:lnTo>
                    <a:pt x="51921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259703" y="2776220"/>
            <a:ext cx="501523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9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라우팅</a:t>
            </a:r>
            <a:r>
              <a:rPr sz="900" spc="17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결정을</a:t>
            </a:r>
            <a:r>
              <a:rPr sz="900" spc="17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위한</a:t>
            </a:r>
            <a:r>
              <a:rPr sz="900" spc="16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데이터</a:t>
            </a:r>
            <a:r>
              <a:rPr sz="900" spc="18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25" dirty="0">
                <a:solidFill>
                  <a:srgbClr val="008000"/>
                </a:solidFill>
                <a:latin typeface="맑은 고딕"/>
                <a:cs typeface="맑은 고딕"/>
              </a:rPr>
              <a:t>모델</a:t>
            </a:r>
            <a:endParaRPr sz="9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9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ToolSelector(BaseModel):</a:t>
            </a:r>
            <a:endParaRPr sz="900">
              <a:latin typeface="Consolas"/>
              <a:cs typeface="Consolas"/>
            </a:endParaRPr>
          </a:p>
          <a:p>
            <a:pPr marL="252729" marR="1515110" indent="1270">
              <a:lnSpc>
                <a:spcPct val="100000"/>
              </a:lnSpc>
            </a:pP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"""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사용자</a:t>
            </a:r>
            <a:r>
              <a:rPr sz="900" spc="18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질문을</a:t>
            </a:r>
            <a:r>
              <a:rPr sz="900" spc="17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가장</a:t>
            </a:r>
            <a:r>
              <a:rPr sz="900" spc="17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적절한</a:t>
            </a:r>
            <a:r>
              <a:rPr sz="900" spc="15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도구로</a:t>
            </a:r>
            <a:r>
              <a:rPr sz="900" spc="17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맑은 고딕"/>
                <a:cs typeface="맑은 고딕"/>
              </a:rPr>
              <a:t>라우팅합니다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.""" </a:t>
            </a:r>
            <a:r>
              <a:rPr sz="900" dirty="0">
                <a:latin typeface="Consolas"/>
                <a:cs typeface="Consolas"/>
              </a:rPr>
              <a:t>tool: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Literal[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"search_menu"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"search_web"</a:t>
            </a:r>
            <a:r>
              <a:rPr sz="900" dirty="0">
                <a:latin typeface="Consolas"/>
                <a:cs typeface="Consolas"/>
              </a:rPr>
              <a:t>]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Field(</a:t>
            </a:r>
            <a:endParaRPr sz="900">
              <a:latin typeface="Consolas"/>
              <a:cs typeface="Consolas"/>
            </a:endParaRPr>
          </a:p>
          <a:p>
            <a:pPr marL="507365">
              <a:lnSpc>
                <a:spcPct val="100000"/>
              </a:lnSpc>
            </a:pPr>
            <a:r>
              <a:rPr sz="900" dirty="0">
                <a:latin typeface="Consolas"/>
                <a:cs typeface="Consolas"/>
              </a:rPr>
              <a:t>description=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질문에</a:t>
            </a:r>
            <a:r>
              <a:rPr sz="900" spc="13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따라</a:t>
            </a:r>
            <a:r>
              <a:rPr sz="900" spc="15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search_menu</a:t>
            </a:r>
            <a:r>
              <a:rPr sz="900" spc="-3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또는</a:t>
            </a:r>
            <a:r>
              <a:rPr sz="900" spc="13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search_web</a:t>
            </a:r>
            <a:r>
              <a:rPr sz="900" spc="-2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도구</a:t>
            </a:r>
            <a:r>
              <a:rPr sz="900" spc="15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중</a:t>
            </a:r>
            <a:r>
              <a:rPr sz="900" spc="13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하나를</a:t>
            </a:r>
            <a:r>
              <a:rPr sz="900" spc="14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spc="-20" dirty="0">
                <a:solidFill>
                  <a:srgbClr val="A21515"/>
                </a:solidFill>
                <a:latin typeface="맑은 고딕"/>
                <a:cs typeface="맑은 고딕"/>
              </a:rPr>
              <a:t>선택</a:t>
            </a:r>
            <a:r>
              <a:rPr sz="900" spc="-2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900" spc="-20" dirty="0">
                <a:latin typeface="Consolas"/>
                <a:cs typeface="Consolas"/>
              </a:rPr>
              <a:t>,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12941" y="3462020"/>
            <a:ext cx="62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5" dirty="0">
                <a:latin typeface="Consolas"/>
                <a:cs typeface="Consolas"/>
              </a:rPr>
              <a:t>)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47003" y="3736035"/>
            <a:ext cx="4683760" cy="249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9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구조화된</a:t>
            </a:r>
            <a:r>
              <a:rPr sz="900" spc="16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출력을</a:t>
            </a:r>
            <a:r>
              <a:rPr sz="900" spc="16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위한</a:t>
            </a:r>
            <a:r>
              <a:rPr sz="900" spc="15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LLM</a:t>
            </a:r>
            <a:r>
              <a:rPr sz="900" spc="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008000"/>
                </a:solidFill>
                <a:latin typeface="맑은 고딕"/>
                <a:cs typeface="맑은 고딕"/>
              </a:rPr>
              <a:t>설정</a:t>
            </a:r>
            <a:endParaRPr sz="900">
              <a:latin typeface="맑은 고딕"/>
              <a:cs typeface="맑은 고딕"/>
            </a:endParaRPr>
          </a:p>
          <a:p>
            <a:pPr marL="12700" marR="28194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latin typeface="Consolas"/>
                <a:cs typeface="Consolas"/>
              </a:rPr>
              <a:t>llm</a:t>
            </a:r>
            <a:r>
              <a:rPr sz="900" spc="-1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1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ChatGoogleGenerativeAI(model=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"gemini-1.5-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flash"</a:t>
            </a:r>
            <a:r>
              <a:rPr sz="900" dirty="0">
                <a:latin typeface="Consolas"/>
                <a:cs typeface="Consolas"/>
              </a:rPr>
              <a:t>,</a:t>
            </a:r>
            <a:r>
              <a:rPr sz="900" spc="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temperature=</a:t>
            </a:r>
            <a:r>
              <a:rPr sz="900" spc="-10" dirty="0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sz="900" spc="-10" dirty="0">
                <a:latin typeface="Consolas"/>
                <a:cs typeface="Consolas"/>
              </a:rPr>
              <a:t>) structured_llm_router</a:t>
            </a:r>
            <a:r>
              <a:rPr sz="900" spc="1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2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llm.with_structured_output(ToolSelector)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9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라우팅을</a:t>
            </a:r>
            <a:r>
              <a:rPr sz="900" spc="17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위한</a:t>
            </a:r>
            <a:r>
              <a:rPr sz="900" spc="18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프롬프트</a:t>
            </a:r>
            <a:r>
              <a:rPr sz="900" spc="16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25" dirty="0">
                <a:solidFill>
                  <a:srgbClr val="008000"/>
                </a:solidFill>
                <a:latin typeface="맑은 고딕"/>
                <a:cs typeface="맑은 고딕"/>
              </a:rPr>
              <a:t>템플릿</a:t>
            </a:r>
            <a:endParaRPr sz="900">
              <a:latin typeface="맑은 고딕"/>
              <a:cs typeface="맑은 고딕"/>
            </a:endParaRPr>
          </a:p>
          <a:p>
            <a:pPr marL="12700" marR="484505">
              <a:lnSpc>
                <a:spcPct val="100000"/>
              </a:lnSpc>
            </a:pPr>
            <a:r>
              <a:rPr sz="900" dirty="0">
                <a:latin typeface="Consolas"/>
                <a:cs typeface="Consolas"/>
              </a:rPr>
              <a:t>system</a:t>
            </a:r>
            <a:r>
              <a:rPr sz="900" spc="3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"""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당신은</a:t>
            </a:r>
            <a:r>
              <a:rPr sz="900" spc="19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사용자</a:t>
            </a:r>
            <a:r>
              <a:rPr sz="900" spc="14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질문을</a:t>
            </a:r>
            <a:r>
              <a:rPr sz="900" spc="16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적절한</a:t>
            </a:r>
            <a:r>
              <a:rPr sz="900" spc="16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도구로</a:t>
            </a:r>
            <a:r>
              <a:rPr sz="900" spc="15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라우팅하는</a:t>
            </a:r>
            <a:r>
              <a:rPr sz="900" spc="16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맑은 고딕"/>
                <a:cs typeface="맑은 고딕"/>
              </a:rPr>
              <a:t>전문가입니다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.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레스토랑</a:t>
            </a:r>
            <a:r>
              <a:rPr sz="900" spc="15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메뉴에</a:t>
            </a:r>
            <a:r>
              <a:rPr sz="900" spc="14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관한</a:t>
            </a:r>
            <a:r>
              <a:rPr sz="900" spc="16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질문은</a:t>
            </a:r>
            <a:r>
              <a:rPr sz="900" spc="15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search_menu</a:t>
            </a:r>
            <a:r>
              <a:rPr sz="900" spc="4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도구를</a:t>
            </a:r>
            <a:r>
              <a:rPr sz="900" spc="15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맑은 고딕"/>
                <a:cs typeface="맑은 고딕"/>
              </a:rPr>
              <a:t>사용하세요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.</a:t>
            </a: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레스토랑</a:t>
            </a:r>
            <a:r>
              <a:rPr sz="900" spc="16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메뉴에</a:t>
            </a:r>
            <a:r>
              <a:rPr sz="900" spc="15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없는</a:t>
            </a:r>
            <a:r>
              <a:rPr sz="900" spc="16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정보</a:t>
            </a:r>
            <a:r>
              <a:rPr sz="900" spc="16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또는</a:t>
            </a:r>
            <a:r>
              <a:rPr sz="900" spc="15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일반적인</a:t>
            </a:r>
            <a:r>
              <a:rPr sz="900" spc="16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질문은</a:t>
            </a:r>
            <a:r>
              <a:rPr sz="900" spc="165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search_web</a:t>
            </a:r>
            <a:r>
              <a:rPr sz="900" spc="4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맑은 고딕"/>
                <a:cs typeface="맑은 고딕"/>
              </a:rPr>
              <a:t>도구를</a:t>
            </a:r>
            <a:r>
              <a:rPr sz="900" spc="17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맑은 고딕"/>
                <a:cs typeface="맑은 고딕"/>
              </a:rPr>
              <a:t>사용하세요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."""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Consolas"/>
                <a:cs typeface="Consolas"/>
              </a:rPr>
              <a:t>route_prompt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4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ChatPromptTemplate.from_messages(</a:t>
            </a:r>
            <a:endParaRPr sz="900">
              <a:latin typeface="Consolas"/>
              <a:cs typeface="Consolas"/>
            </a:endParaRPr>
          </a:p>
          <a:p>
            <a:pPr marL="265430">
              <a:lnSpc>
                <a:spcPct val="100000"/>
              </a:lnSpc>
            </a:pPr>
            <a:r>
              <a:rPr sz="900" spc="-50" dirty="0">
                <a:latin typeface="Consolas"/>
                <a:cs typeface="Consolas"/>
              </a:rPr>
              <a:t>[</a:t>
            </a:r>
            <a:endParaRPr sz="900">
              <a:latin typeface="Consolas"/>
              <a:cs typeface="Consolas"/>
            </a:endParaRPr>
          </a:p>
          <a:p>
            <a:pPr marL="520065" marR="263271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latin typeface="Consolas"/>
                <a:cs typeface="Consolas"/>
              </a:rPr>
              <a:t>(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"system"</a:t>
            </a:r>
            <a:r>
              <a:rPr sz="900" dirty="0">
                <a:latin typeface="Consolas"/>
                <a:cs typeface="Consolas"/>
              </a:rPr>
              <a:t>,</a:t>
            </a:r>
            <a:r>
              <a:rPr sz="900" spc="-7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system), </a:t>
            </a:r>
            <a:r>
              <a:rPr sz="900" dirty="0">
                <a:latin typeface="Consolas"/>
                <a:cs typeface="Consolas"/>
              </a:rPr>
              <a:t>(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"human"</a:t>
            </a:r>
            <a:r>
              <a:rPr sz="900" dirty="0">
                <a:latin typeface="Consolas"/>
                <a:cs typeface="Consolas"/>
              </a:rPr>
              <a:t>,</a:t>
            </a:r>
            <a:r>
              <a:rPr sz="900" spc="-6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"{question}"</a:t>
            </a:r>
            <a:r>
              <a:rPr sz="900" spc="-10" dirty="0">
                <a:latin typeface="Consolas"/>
                <a:cs typeface="Consolas"/>
              </a:rPr>
              <a:t>),</a:t>
            </a:r>
            <a:endParaRPr sz="900">
              <a:latin typeface="Consolas"/>
              <a:cs typeface="Consolas"/>
            </a:endParaRPr>
          </a:p>
          <a:p>
            <a:pPr marL="265430">
              <a:lnSpc>
                <a:spcPct val="100000"/>
              </a:lnSpc>
            </a:pPr>
            <a:r>
              <a:rPr sz="900" spc="-50" dirty="0">
                <a:latin typeface="Consolas"/>
                <a:cs typeface="Consolas"/>
              </a:rPr>
              <a:t>]</a:t>
            </a: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900" spc="-50" dirty="0">
                <a:latin typeface="Consolas"/>
                <a:cs typeface="Consolas"/>
              </a:rPr>
              <a:t>)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#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질문</a:t>
            </a:r>
            <a:r>
              <a:rPr sz="900" spc="17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라우터</a:t>
            </a:r>
            <a:r>
              <a:rPr sz="900" spc="18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25" dirty="0">
                <a:solidFill>
                  <a:srgbClr val="008000"/>
                </a:solidFill>
                <a:latin typeface="맑은 고딕"/>
                <a:cs typeface="맑은 고딕"/>
              </a:rPr>
              <a:t>정의</a:t>
            </a:r>
            <a:endParaRPr sz="9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Consolas"/>
                <a:cs typeface="Consolas"/>
              </a:rPr>
              <a:t>question_router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route_prompt</a:t>
            </a:r>
            <a:r>
              <a:rPr sz="900" spc="-5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|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structured_llm_router</a:t>
            </a:r>
            <a:endParaRPr sz="9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Human-</a:t>
            </a:r>
            <a:r>
              <a:rPr dirty="0"/>
              <a:t>in-</a:t>
            </a:r>
            <a:r>
              <a:rPr spc="-10" dirty="0"/>
              <a:t>the-</a:t>
            </a:r>
            <a:r>
              <a:rPr dirty="0"/>
              <a:t>Loop</a:t>
            </a:r>
            <a:r>
              <a:rPr spc="15" dirty="0"/>
              <a:t> </a:t>
            </a:r>
            <a:r>
              <a:rPr spc="-10" dirty="0"/>
              <a:t>(HITL)</a:t>
            </a:r>
          </a:p>
        </p:txBody>
      </p:sp>
      <p:sp>
        <p:nvSpPr>
          <p:cNvPr id="3" name="object 3"/>
          <p:cNvSpPr/>
          <p:nvPr/>
        </p:nvSpPr>
        <p:spPr>
          <a:xfrm>
            <a:off x="500748" y="1756282"/>
            <a:ext cx="10987405" cy="1114425"/>
          </a:xfrm>
          <a:custGeom>
            <a:avLst/>
            <a:gdLst/>
            <a:ahLst/>
            <a:cxnLst/>
            <a:rect l="l" t="t" r="r" b="b"/>
            <a:pathLst>
              <a:path w="10987405" h="1114425">
                <a:moveTo>
                  <a:pt x="10867021" y="0"/>
                </a:moveTo>
                <a:lnTo>
                  <a:pt x="120281" y="0"/>
                </a:lnTo>
                <a:lnTo>
                  <a:pt x="73460" y="9451"/>
                </a:lnTo>
                <a:lnTo>
                  <a:pt x="35228" y="35226"/>
                </a:lnTo>
                <a:lnTo>
                  <a:pt x="9451" y="73455"/>
                </a:lnTo>
                <a:lnTo>
                  <a:pt x="0" y="120268"/>
                </a:lnTo>
                <a:lnTo>
                  <a:pt x="0" y="993647"/>
                </a:lnTo>
                <a:lnTo>
                  <a:pt x="9451" y="1040461"/>
                </a:lnTo>
                <a:lnTo>
                  <a:pt x="35228" y="1078690"/>
                </a:lnTo>
                <a:lnTo>
                  <a:pt x="73460" y="1104465"/>
                </a:lnTo>
                <a:lnTo>
                  <a:pt x="120281" y="1113916"/>
                </a:lnTo>
                <a:lnTo>
                  <a:pt x="10867021" y="1113916"/>
                </a:lnTo>
                <a:lnTo>
                  <a:pt x="10913835" y="1104465"/>
                </a:lnTo>
                <a:lnTo>
                  <a:pt x="10952064" y="1078690"/>
                </a:lnTo>
                <a:lnTo>
                  <a:pt x="10977839" y="1040461"/>
                </a:lnTo>
                <a:lnTo>
                  <a:pt x="10987290" y="993647"/>
                </a:lnTo>
                <a:lnTo>
                  <a:pt x="10987290" y="120268"/>
                </a:lnTo>
                <a:lnTo>
                  <a:pt x="10977839" y="73455"/>
                </a:lnTo>
                <a:lnTo>
                  <a:pt x="10952064" y="35226"/>
                </a:lnTo>
                <a:lnTo>
                  <a:pt x="10913835" y="9451"/>
                </a:lnTo>
                <a:lnTo>
                  <a:pt x="10867021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4883" y="1884934"/>
            <a:ext cx="80822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latin typeface="맑은 고딕"/>
                <a:cs typeface="맑은 고딕"/>
              </a:rPr>
              <a:t>AI</a:t>
            </a:r>
            <a:r>
              <a:rPr sz="1800" spc="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시스템의 자동화된 처리와 인간의</a:t>
            </a:r>
            <a:r>
              <a:rPr sz="1800" spc="-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전문</a:t>
            </a:r>
            <a:r>
              <a:rPr sz="1800" spc="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지식을</a:t>
            </a:r>
            <a:r>
              <a:rPr sz="1800" spc="10" dirty="0">
                <a:latin typeface="맑은 고딕"/>
                <a:cs typeface="맑은 고딕"/>
              </a:rPr>
              <a:t> </a:t>
            </a:r>
            <a:r>
              <a:rPr sz="1800" spc="-25" dirty="0">
                <a:latin typeface="맑은 고딕"/>
                <a:cs typeface="맑은 고딕"/>
              </a:rPr>
              <a:t>결합</a:t>
            </a:r>
            <a:endParaRPr sz="1800">
              <a:latin typeface="맑은 고딕"/>
              <a:cs typeface="맑은 고딕"/>
            </a:endParaRPr>
          </a:p>
          <a:p>
            <a:pPr marL="172085" indent="-159385">
              <a:lnSpc>
                <a:spcPct val="100000"/>
              </a:lnSpc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latin typeface="맑은 고딕"/>
                <a:cs typeface="맑은 고딕"/>
              </a:rPr>
              <a:t>시스템의 결정이나</a:t>
            </a:r>
            <a:r>
              <a:rPr sz="1800" spc="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출력에</a:t>
            </a:r>
            <a:r>
              <a:rPr sz="1800" spc="1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대해 인간이 검토하고</a:t>
            </a:r>
            <a:r>
              <a:rPr sz="1800" spc="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개입할 수 있는 지점을 </a:t>
            </a:r>
            <a:r>
              <a:rPr sz="1800" spc="-25" dirty="0">
                <a:latin typeface="맑은 고딕"/>
                <a:cs typeface="맑은 고딕"/>
              </a:rPr>
              <a:t>제공</a:t>
            </a:r>
            <a:endParaRPr sz="1800">
              <a:latin typeface="맑은 고딕"/>
              <a:cs typeface="맑은 고딕"/>
            </a:endParaRPr>
          </a:p>
          <a:p>
            <a:pPr marL="173990">
              <a:lnSpc>
                <a:spcPct val="100000"/>
              </a:lnSpc>
            </a:pPr>
            <a:r>
              <a:rPr sz="1800" b="1" dirty="0">
                <a:latin typeface="맑은 고딕"/>
                <a:cs typeface="맑은 고딕"/>
              </a:rPr>
              <a:t>→</a:t>
            </a:r>
            <a:r>
              <a:rPr sz="1800" b="1" spc="-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이를 통해</a:t>
            </a:r>
            <a:r>
              <a:rPr sz="1800" b="1" spc="1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AI의</a:t>
            </a:r>
            <a:r>
              <a:rPr sz="1800" b="1" spc="-1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효율성과 인간의 판단력을 모두 </a:t>
            </a:r>
            <a:r>
              <a:rPr sz="1800" b="1" spc="-25" dirty="0">
                <a:latin typeface="맑은 고딕"/>
                <a:cs typeface="맑은 고딕"/>
              </a:rPr>
              <a:t>활용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5551" y="659638"/>
            <a:ext cx="210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Human-in-the-</a:t>
            </a:r>
            <a:r>
              <a:rPr sz="1800" spc="-20" dirty="0">
                <a:solidFill>
                  <a:srgbClr val="FFFFFF"/>
                </a:solidFill>
                <a:latin typeface="맑은 고딕"/>
                <a:cs typeface="맑은 고딕"/>
              </a:rPr>
              <a:t>Loop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0748" y="2994786"/>
            <a:ext cx="5501005" cy="3615690"/>
          </a:xfrm>
          <a:custGeom>
            <a:avLst/>
            <a:gdLst/>
            <a:ahLst/>
            <a:cxnLst/>
            <a:rect l="l" t="t" r="r" b="b"/>
            <a:pathLst>
              <a:path w="5501005" h="3615690">
                <a:moveTo>
                  <a:pt x="0" y="198882"/>
                </a:moveTo>
                <a:lnTo>
                  <a:pt x="5251" y="153275"/>
                </a:lnTo>
                <a:lnTo>
                  <a:pt x="20211" y="111411"/>
                </a:lnTo>
                <a:lnTo>
                  <a:pt x="43685" y="74484"/>
                </a:lnTo>
                <a:lnTo>
                  <a:pt x="74480" y="43687"/>
                </a:lnTo>
                <a:lnTo>
                  <a:pt x="111402" y="20211"/>
                </a:lnTo>
                <a:lnTo>
                  <a:pt x="153259" y="5251"/>
                </a:lnTo>
                <a:lnTo>
                  <a:pt x="198856" y="0"/>
                </a:lnTo>
                <a:lnTo>
                  <a:pt x="5302008" y="0"/>
                </a:lnTo>
                <a:lnTo>
                  <a:pt x="5347615" y="5251"/>
                </a:lnTo>
                <a:lnTo>
                  <a:pt x="5389478" y="20211"/>
                </a:lnTo>
                <a:lnTo>
                  <a:pt x="5426405" y="43687"/>
                </a:lnTo>
                <a:lnTo>
                  <a:pt x="5457203" y="74484"/>
                </a:lnTo>
                <a:lnTo>
                  <a:pt x="5480678" y="111411"/>
                </a:lnTo>
                <a:lnTo>
                  <a:pt x="5495638" y="153275"/>
                </a:lnTo>
                <a:lnTo>
                  <a:pt x="5500890" y="198882"/>
                </a:lnTo>
                <a:lnTo>
                  <a:pt x="5500890" y="3416300"/>
                </a:lnTo>
                <a:lnTo>
                  <a:pt x="5495638" y="3461901"/>
                </a:lnTo>
                <a:lnTo>
                  <a:pt x="5480678" y="3503761"/>
                </a:lnTo>
                <a:lnTo>
                  <a:pt x="5457203" y="3540686"/>
                </a:lnTo>
                <a:lnTo>
                  <a:pt x="5426405" y="3571483"/>
                </a:lnTo>
                <a:lnTo>
                  <a:pt x="5389478" y="3594957"/>
                </a:lnTo>
                <a:lnTo>
                  <a:pt x="5347615" y="3609917"/>
                </a:lnTo>
                <a:lnTo>
                  <a:pt x="5302008" y="3615169"/>
                </a:lnTo>
                <a:lnTo>
                  <a:pt x="198856" y="3615169"/>
                </a:lnTo>
                <a:lnTo>
                  <a:pt x="153259" y="3609917"/>
                </a:lnTo>
                <a:lnTo>
                  <a:pt x="111402" y="3594957"/>
                </a:lnTo>
                <a:lnTo>
                  <a:pt x="74480" y="3571483"/>
                </a:lnTo>
                <a:lnTo>
                  <a:pt x="43685" y="3540686"/>
                </a:lnTo>
                <a:lnTo>
                  <a:pt x="20211" y="3503761"/>
                </a:lnTo>
                <a:lnTo>
                  <a:pt x="5251" y="3461901"/>
                </a:lnTo>
                <a:lnTo>
                  <a:pt x="0" y="3416300"/>
                </a:lnTo>
                <a:lnTo>
                  <a:pt x="0" y="198882"/>
                </a:lnTo>
                <a:close/>
              </a:path>
            </a:pathLst>
          </a:custGeom>
          <a:ln w="95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6069520" y="2990024"/>
            <a:ext cx="5466715" cy="3625215"/>
            <a:chOff x="6069520" y="2990024"/>
            <a:chExt cx="5466715" cy="3625215"/>
          </a:xfrm>
        </p:grpSpPr>
        <p:sp>
          <p:nvSpPr>
            <p:cNvPr id="9" name="object 9"/>
            <p:cNvSpPr/>
            <p:nvPr/>
          </p:nvSpPr>
          <p:spPr>
            <a:xfrm>
              <a:off x="6074283" y="2994786"/>
              <a:ext cx="5457190" cy="3615690"/>
            </a:xfrm>
            <a:custGeom>
              <a:avLst/>
              <a:gdLst/>
              <a:ahLst/>
              <a:cxnLst/>
              <a:rect l="l" t="t" r="r" b="b"/>
              <a:pathLst>
                <a:path w="5457190" h="3615690">
                  <a:moveTo>
                    <a:pt x="0" y="198882"/>
                  </a:moveTo>
                  <a:lnTo>
                    <a:pt x="5251" y="153275"/>
                  </a:lnTo>
                  <a:lnTo>
                    <a:pt x="20208" y="111411"/>
                  </a:lnTo>
                  <a:lnTo>
                    <a:pt x="43677" y="74484"/>
                  </a:lnTo>
                  <a:lnTo>
                    <a:pt x="74461" y="43687"/>
                  </a:lnTo>
                  <a:lnTo>
                    <a:pt x="111365" y="20211"/>
                  </a:lnTo>
                  <a:lnTo>
                    <a:pt x="153195" y="5251"/>
                  </a:lnTo>
                  <a:lnTo>
                    <a:pt x="198754" y="0"/>
                  </a:lnTo>
                  <a:lnTo>
                    <a:pt x="5258053" y="0"/>
                  </a:lnTo>
                  <a:lnTo>
                    <a:pt x="5303660" y="5251"/>
                  </a:lnTo>
                  <a:lnTo>
                    <a:pt x="5345524" y="20211"/>
                  </a:lnTo>
                  <a:lnTo>
                    <a:pt x="5382451" y="43687"/>
                  </a:lnTo>
                  <a:lnTo>
                    <a:pt x="5413248" y="74484"/>
                  </a:lnTo>
                  <a:lnTo>
                    <a:pt x="5436724" y="111411"/>
                  </a:lnTo>
                  <a:lnTo>
                    <a:pt x="5451684" y="153275"/>
                  </a:lnTo>
                  <a:lnTo>
                    <a:pt x="5456936" y="198882"/>
                  </a:lnTo>
                  <a:lnTo>
                    <a:pt x="5456936" y="3416300"/>
                  </a:lnTo>
                  <a:lnTo>
                    <a:pt x="5451684" y="3461901"/>
                  </a:lnTo>
                  <a:lnTo>
                    <a:pt x="5436724" y="3503761"/>
                  </a:lnTo>
                  <a:lnTo>
                    <a:pt x="5413248" y="3540686"/>
                  </a:lnTo>
                  <a:lnTo>
                    <a:pt x="5382451" y="3571483"/>
                  </a:lnTo>
                  <a:lnTo>
                    <a:pt x="5345524" y="3594957"/>
                  </a:lnTo>
                  <a:lnTo>
                    <a:pt x="5303660" y="3609917"/>
                  </a:lnTo>
                  <a:lnTo>
                    <a:pt x="5258053" y="3615169"/>
                  </a:lnTo>
                  <a:lnTo>
                    <a:pt x="198754" y="3615169"/>
                  </a:lnTo>
                  <a:lnTo>
                    <a:pt x="153195" y="3609917"/>
                  </a:lnTo>
                  <a:lnTo>
                    <a:pt x="111365" y="3594957"/>
                  </a:lnTo>
                  <a:lnTo>
                    <a:pt x="74461" y="3571483"/>
                  </a:lnTo>
                  <a:lnTo>
                    <a:pt x="43677" y="3540686"/>
                  </a:lnTo>
                  <a:lnTo>
                    <a:pt x="20208" y="3503761"/>
                  </a:lnTo>
                  <a:lnTo>
                    <a:pt x="5251" y="3461901"/>
                  </a:lnTo>
                  <a:lnTo>
                    <a:pt x="0" y="3416300"/>
                  </a:lnTo>
                  <a:lnTo>
                    <a:pt x="0" y="198882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44741" y="3417696"/>
              <a:ext cx="464820" cy="203200"/>
            </a:xfrm>
            <a:custGeom>
              <a:avLst/>
              <a:gdLst/>
              <a:ahLst/>
              <a:cxnLst/>
              <a:rect l="l" t="t" r="r" b="b"/>
              <a:pathLst>
                <a:path w="464820" h="203200">
                  <a:moveTo>
                    <a:pt x="464820" y="0"/>
                  </a:moveTo>
                  <a:lnTo>
                    <a:pt x="0" y="0"/>
                  </a:lnTo>
                  <a:lnTo>
                    <a:pt x="0" y="202691"/>
                  </a:lnTo>
                  <a:lnTo>
                    <a:pt x="464820" y="202691"/>
                  </a:lnTo>
                  <a:lnTo>
                    <a:pt x="46482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78560" y="3086744"/>
            <a:ext cx="4879975" cy="109283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400" b="1" dirty="0">
                <a:latin typeface="맑은 고딕"/>
                <a:cs typeface="맑은 고딕"/>
              </a:rPr>
              <a:t>LangGraph의</a:t>
            </a:r>
            <a:r>
              <a:rPr sz="1400" b="1" spc="-80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Breakpoints</a:t>
            </a:r>
            <a:r>
              <a:rPr sz="1400" b="1" spc="-60" dirty="0">
                <a:latin typeface="맑은 고딕"/>
                <a:cs typeface="맑은 고딕"/>
              </a:rPr>
              <a:t> </a:t>
            </a:r>
            <a:r>
              <a:rPr sz="1400" b="1" spc="-25" dirty="0">
                <a:latin typeface="맑은 고딕"/>
                <a:cs typeface="맑은 고딕"/>
              </a:rPr>
              <a:t>활용</a:t>
            </a:r>
            <a:endParaRPr sz="1400">
              <a:latin typeface="맑은 고딕"/>
              <a:cs typeface="맑은 고딕"/>
            </a:endParaRPr>
          </a:p>
          <a:p>
            <a:pPr marL="238125" indent="-225425">
              <a:lnSpc>
                <a:spcPct val="100000"/>
              </a:lnSpc>
              <a:spcBef>
                <a:spcPts val="445"/>
              </a:spcBef>
              <a:buFont typeface="Arial"/>
              <a:buChar char="•"/>
              <a:tabLst>
                <a:tab pos="238125" algn="l"/>
              </a:tabLst>
            </a:pPr>
            <a:r>
              <a:rPr sz="1200" dirty="0">
                <a:latin typeface="맑은 고딕"/>
                <a:cs typeface="맑은 고딕"/>
              </a:rPr>
              <a:t>Breakpoints:</a:t>
            </a:r>
            <a:r>
              <a:rPr sz="1200" spc="42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그래프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실행을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특정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지점에서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일시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중지하는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spc="-20" dirty="0">
                <a:latin typeface="맑은 고딕"/>
                <a:cs typeface="맑은 고딕"/>
              </a:rPr>
              <a:t>메커니즘</a:t>
            </a:r>
            <a:endParaRPr sz="1200">
              <a:latin typeface="맑은 고딕"/>
              <a:cs typeface="맑은 고딕"/>
            </a:endParaRPr>
          </a:p>
          <a:p>
            <a:pPr marL="238125" indent="-22542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38125" algn="l"/>
              </a:tabLst>
            </a:pPr>
            <a:r>
              <a:rPr sz="1200" dirty="0">
                <a:latin typeface="맑은 고딕"/>
                <a:cs typeface="맑은 고딕"/>
              </a:rPr>
              <a:t>LangGraph의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체크포인트</a:t>
            </a:r>
            <a:r>
              <a:rPr sz="1200" spc="-3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시스템을</a:t>
            </a:r>
            <a:r>
              <a:rPr sz="1200" spc="-2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기반으로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spc="-35" dirty="0">
                <a:latin typeface="맑은 고딕"/>
                <a:cs typeface="맑은 고딕"/>
              </a:rPr>
              <a:t>구현</a:t>
            </a:r>
            <a:endParaRPr sz="1200">
              <a:latin typeface="맑은 고딕"/>
              <a:cs typeface="맑은 고딕"/>
            </a:endParaRPr>
          </a:p>
          <a:p>
            <a:pPr marL="238125" indent="-22542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38125" algn="l"/>
              </a:tabLst>
            </a:pPr>
            <a:r>
              <a:rPr sz="1200" dirty="0">
                <a:latin typeface="맑은 고딕"/>
                <a:cs typeface="맑은 고딕"/>
              </a:rPr>
              <a:t>이를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통해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인간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전문가가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중간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결과를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검토하고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필요한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경우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개입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3597" y="4520425"/>
            <a:ext cx="5157470" cy="1754505"/>
          </a:xfrm>
          <a:prstGeom prst="rect">
            <a:avLst/>
          </a:prstGeom>
          <a:ln w="9525">
            <a:solidFill>
              <a:srgbClr val="A6A6A6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1440">
              <a:lnSpc>
                <a:spcPts val="1435"/>
              </a:lnSpc>
              <a:spcBef>
                <a:spcPts val="310"/>
              </a:spcBef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체크포인트</a:t>
            </a:r>
            <a:r>
              <a:rPr sz="1200" spc="24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설정</a:t>
            </a:r>
            <a:endParaRPr sz="1200">
              <a:latin typeface="맑은 고딕"/>
              <a:cs typeface="맑은 고딕"/>
            </a:endParaRPr>
          </a:p>
          <a:p>
            <a:pPr marL="91440" marR="767715">
              <a:lnSpc>
                <a:spcPts val="1440"/>
              </a:lnSpc>
              <a:spcBef>
                <a:spcPts val="40"/>
              </a:spcBef>
            </a:pP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2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langgraph.checkpoint.memory</a:t>
            </a:r>
            <a:r>
              <a:rPr sz="1200" spc="-55" dirty="0"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200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MemorySaver </a:t>
            </a:r>
            <a:r>
              <a:rPr sz="1200" dirty="0">
                <a:latin typeface="Consolas"/>
                <a:cs typeface="Consolas"/>
              </a:rPr>
              <a:t>memory</a:t>
            </a:r>
            <a:r>
              <a:rPr sz="1200" spc="-1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25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MemorySaver()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200">
              <a:latin typeface="Consolas"/>
              <a:cs typeface="Consolas"/>
            </a:endParaRPr>
          </a:p>
          <a:p>
            <a:pPr marL="91440">
              <a:lnSpc>
                <a:spcPts val="1435"/>
              </a:lnSpc>
            </a:pP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20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컴파일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:</a:t>
            </a:r>
            <a:r>
              <a:rPr sz="12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'retrieve',</a:t>
            </a:r>
            <a:r>
              <a:rPr sz="12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Consolas"/>
                <a:cs typeface="Consolas"/>
              </a:rPr>
              <a:t>'generate'</a:t>
            </a:r>
            <a:r>
              <a:rPr sz="1200" spc="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노드</a:t>
            </a:r>
            <a:r>
              <a:rPr sz="1200" spc="22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전에</a:t>
            </a:r>
            <a:r>
              <a:rPr sz="1200" spc="21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08000"/>
                </a:solidFill>
                <a:latin typeface="맑은 고딕"/>
                <a:cs typeface="맑은 고딕"/>
              </a:rPr>
              <a:t>중단점</a:t>
            </a:r>
            <a:r>
              <a:rPr sz="1200" spc="22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08000"/>
                </a:solidFill>
                <a:latin typeface="맑은 고딕"/>
                <a:cs typeface="맑은 고딕"/>
              </a:rPr>
              <a:t>추가</a:t>
            </a:r>
            <a:endParaRPr sz="1200">
              <a:latin typeface="맑은 고딕"/>
              <a:cs typeface="맑은 고딕"/>
            </a:endParaRPr>
          </a:p>
          <a:p>
            <a:pPr marL="426720" marR="3039745" indent="-335280">
              <a:lnSpc>
                <a:spcPts val="1440"/>
              </a:lnSpc>
              <a:spcBef>
                <a:spcPts val="40"/>
              </a:spcBef>
            </a:pPr>
            <a:r>
              <a:rPr sz="1200" dirty="0">
                <a:latin typeface="Consolas"/>
                <a:cs typeface="Consolas"/>
              </a:rPr>
              <a:t>graph</a:t>
            </a:r>
            <a:r>
              <a:rPr sz="1200" spc="-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=</a:t>
            </a:r>
            <a:r>
              <a:rPr sz="1200" spc="-10" dirty="0">
                <a:latin typeface="Consolas"/>
                <a:cs typeface="Consolas"/>
              </a:rPr>
              <a:t> builder.compile( checkpointer=memory,</a:t>
            </a:r>
            <a:endParaRPr sz="1200">
              <a:latin typeface="Consolas"/>
              <a:cs typeface="Consolas"/>
            </a:endParaRPr>
          </a:p>
          <a:p>
            <a:pPr marL="426720">
              <a:lnSpc>
                <a:spcPts val="1390"/>
              </a:lnSpc>
            </a:pPr>
            <a:r>
              <a:rPr sz="1200" b="1" spc="-10" dirty="0">
                <a:latin typeface="Consolas"/>
                <a:cs typeface="Consolas"/>
              </a:rPr>
              <a:t>interrupt_before</a:t>
            </a:r>
            <a:r>
              <a:rPr sz="1200" spc="-10" dirty="0">
                <a:latin typeface="Consolas"/>
                <a:cs typeface="Consolas"/>
              </a:rPr>
              <a:t>=[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"retrieve"</a:t>
            </a:r>
            <a:r>
              <a:rPr sz="1200" spc="-10" dirty="0">
                <a:latin typeface="Consolas"/>
                <a:cs typeface="Consolas"/>
              </a:rPr>
              <a:t>,</a:t>
            </a:r>
            <a:r>
              <a:rPr sz="1200" spc="105" dirty="0"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A21515"/>
                </a:solidFill>
                <a:latin typeface="Consolas"/>
                <a:cs typeface="Consolas"/>
              </a:rPr>
              <a:t>"generate"</a:t>
            </a:r>
            <a:r>
              <a:rPr sz="1200" spc="-10" dirty="0">
                <a:latin typeface="Consolas"/>
                <a:cs typeface="Consolas"/>
              </a:rPr>
              <a:t>]</a:t>
            </a:r>
            <a:endParaRPr sz="1200">
              <a:latin typeface="Consolas"/>
              <a:cs typeface="Consolas"/>
            </a:endParaRPr>
          </a:p>
          <a:p>
            <a:pPr marL="426720">
              <a:lnSpc>
                <a:spcPct val="100000"/>
              </a:lnSpc>
              <a:spcBef>
                <a:spcPts val="5"/>
              </a:spcBef>
            </a:pPr>
            <a:r>
              <a:rPr sz="1200" spc="-50" dirty="0"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23203" y="3086744"/>
            <a:ext cx="4874895" cy="54419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400" b="1" dirty="0">
                <a:latin typeface="맑은 고딕"/>
                <a:cs typeface="맑은 고딕"/>
              </a:rPr>
              <a:t>Breakpoint</a:t>
            </a:r>
            <a:r>
              <a:rPr sz="1400" b="1" spc="-80" dirty="0">
                <a:latin typeface="맑은 고딕"/>
                <a:cs typeface="맑은 고딕"/>
              </a:rPr>
              <a:t> </a:t>
            </a:r>
            <a:r>
              <a:rPr sz="1400" b="1" spc="-25" dirty="0">
                <a:latin typeface="맑은 고딕"/>
                <a:cs typeface="맑은 고딕"/>
              </a:rPr>
              <a:t>실행</a:t>
            </a:r>
            <a:endParaRPr sz="1400">
              <a:latin typeface="맑은 고딕"/>
              <a:cs typeface="맑은 고딕"/>
            </a:endParaRPr>
          </a:p>
          <a:p>
            <a:pPr marL="186055" indent="-173355">
              <a:lnSpc>
                <a:spcPct val="100000"/>
              </a:lnSpc>
              <a:spcBef>
                <a:spcPts val="445"/>
              </a:spcBef>
              <a:buFont typeface="Arial"/>
              <a:buChar char="•"/>
              <a:tabLst>
                <a:tab pos="186055" algn="l"/>
              </a:tabLst>
            </a:pPr>
            <a:r>
              <a:rPr sz="1200" dirty="0">
                <a:latin typeface="맑은 고딕"/>
                <a:cs typeface="맑은 고딕"/>
              </a:rPr>
              <a:t>graph.stream()을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사용하여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그래프를</a:t>
            </a:r>
            <a:r>
              <a:rPr sz="1200" spc="-2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단계별로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실행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(</a:t>
            </a:r>
            <a:r>
              <a:rPr sz="1200" b="1" dirty="0">
                <a:latin typeface="맑은 고딕"/>
                <a:cs typeface="맑은 고딕"/>
              </a:rPr>
              <a:t>스레드</a:t>
            </a:r>
            <a:r>
              <a:rPr sz="1200" b="1" spc="-10" dirty="0">
                <a:latin typeface="맑은 고딕"/>
                <a:cs typeface="맑은 고딕"/>
              </a:rPr>
              <a:t> </a:t>
            </a:r>
            <a:r>
              <a:rPr sz="1200" b="1" dirty="0">
                <a:latin typeface="맑은 고딕"/>
                <a:cs typeface="맑은 고딕"/>
              </a:rPr>
              <a:t>ID</a:t>
            </a:r>
            <a:r>
              <a:rPr sz="1200" b="1" spc="-2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지정)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23203" y="3696970"/>
            <a:ext cx="3542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6055" algn="l"/>
              </a:tabLst>
            </a:pPr>
            <a:r>
              <a:rPr sz="1200" dirty="0">
                <a:latin typeface="맑은 고딕"/>
                <a:cs typeface="맑은 고딕"/>
              </a:rPr>
              <a:t>그래프를</a:t>
            </a:r>
            <a:r>
              <a:rPr sz="1200" spc="-3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실행하면,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설정된</a:t>
            </a:r>
            <a:r>
              <a:rPr sz="1200" spc="-3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Breakpoints마다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spc="-35" dirty="0">
                <a:latin typeface="맑은 고딕"/>
                <a:cs typeface="맑은 고딕"/>
              </a:rPr>
              <a:t>멈춤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21016" y="4802251"/>
            <a:ext cx="417830" cy="149860"/>
          </a:xfrm>
          <a:custGeom>
            <a:avLst/>
            <a:gdLst/>
            <a:ahLst/>
            <a:cxnLst/>
            <a:rect l="l" t="t" r="r" b="b"/>
            <a:pathLst>
              <a:path w="417829" h="149860">
                <a:moveTo>
                  <a:pt x="417575" y="0"/>
                </a:moveTo>
                <a:lnTo>
                  <a:pt x="0" y="0"/>
                </a:lnTo>
                <a:lnTo>
                  <a:pt x="0" y="149351"/>
                </a:lnTo>
                <a:lnTo>
                  <a:pt x="417575" y="149351"/>
                </a:lnTo>
                <a:lnTo>
                  <a:pt x="41757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200647" y="3989959"/>
            <a:ext cx="5157470" cy="1323975"/>
          </a:xfrm>
          <a:prstGeom prst="rect">
            <a:avLst/>
          </a:prstGeom>
          <a:ln w="9525">
            <a:solidFill>
              <a:srgbClr val="A6A6A6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10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000" spc="-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도구</a:t>
            </a:r>
            <a:r>
              <a:rPr sz="1000" spc="17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사용</a:t>
            </a:r>
            <a:r>
              <a:rPr sz="1000" spc="18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전</a:t>
            </a:r>
            <a:r>
              <a:rPr sz="1000" spc="17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중단점에서</a:t>
            </a:r>
            <a:r>
              <a:rPr sz="1000" spc="18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실행을</a:t>
            </a:r>
            <a:r>
              <a:rPr sz="1000" spc="18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spc="-25" dirty="0">
                <a:solidFill>
                  <a:srgbClr val="008000"/>
                </a:solidFill>
                <a:latin typeface="맑은 고딕"/>
                <a:cs typeface="맑은 고딕"/>
              </a:rPr>
              <a:t>멈춤</a:t>
            </a:r>
            <a:endParaRPr sz="1000">
              <a:latin typeface="맑은 고딕"/>
              <a:cs typeface="맑은 고딕"/>
            </a:endParaRPr>
          </a:p>
          <a:p>
            <a:pPr marL="92075">
              <a:lnSpc>
                <a:spcPct val="100000"/>
              </a:lnSpc>
            </a:pP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sz="1000" spc="-7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langchain_core.messages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sz="1000" spc="-8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HumanMessage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nsolas"/>
              <a:cs typeface="Consolas"/>
            </a:endParaRPr>
          </a:p>
          <a:p>
            <a:pPr marL="92075" marR="937260">
              <a:lnSpc>
                <a:spcPct val="100000"/>
              </a:lnSpc>
            </a:pPr>
            <a:r>
              <a:rPr sz="1000" dirty="0">
                <a:latin typeface="Consolas"/>
                <a:cs typeface="Consolas"/>
              </a:rPr>
              <a:t>thread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6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{</a:t>
            </a:r>
            <a:r>
              <a:rPr sz="1000" dirty="0">
                <a:solidFill>
                  <a:srgbClr val="A21515"/>
                </a:solidFill>
                <a:latin typeface="Consolas"/>
                <a:cs typeface="Consolas"/>
              </a:rPr>
              <a:t>"configurable"</a:t>
            </a:r>
            <a:r>
              <a:rPr sz="1000" dirty="0">
                <a:latin typeface="Consolas"/>
                <a:cs typeface="Consolas"/>
              </a:rPr>
              <a:t>: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{</a:t>
            </a:r>
            <a:r>
              <a:rPr sz="1000" dirty="0">
                <a:solidFill>
                  <a:srgbClr val="A21515"/>
                </a:solidFill>
                <a:latin typeface="Consolas"/>
                <a:cs typeface="Consolas"/>
              </a:rPr>
              <a:t>"thread_id"</a:t>
            </a:r>
            <a:r>
              <a:rPr sz="1000" dirty="0">
                <a:latin typeface="Consolas"/>
                <a:cs typeface="Consolas"/>
              </a:rPr>
              <a:t>:</a:t>
            </a:r>
            <a:r>
              <a:rPr sz="1000" spc="-50" dirty="0">
                <a:latin typeface="Consolas"/>
                <a:cs typeface="Consolas"/>
              </a:rPr>
              <a:t> 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"breakpoint_test"</a:t>
            </a:r>
            <a:r>
              <a:rPr sz="1000" spc="-10" dirty="0">
                <a:latin typeface="Consolas"/>
                <a:cs typeface="Consolas"/>
              </a:rPr>
              <a:t>}} </a:t>
            </a:r>
            <a:r>
              <a:rPr sz="1000" dirty="0">
                <a:latin typeface="Consolas"/>
                <a:cs typeface="Consolas"/>
              </a:rPr>
              <a:t>inputs</a:t>
            </a:r>
            <a:r>
              <a:rPr sz="1000" spc="-7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6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[HumanMessage(content=</a:t>
            </a:r>
            <a:r>
              <a:rPr sz="1000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1000" dirty="0">
                <a:solidFill>
                  <a:srgbClr val="A21515"/>
                </a:solidFill>
                <a:latin typeface="맑은 고딕"/>
                <a:cs typeface="맑은 고딕"/>
              </a:rPr>
              <a:t>대표</a:t>
            </a:r>
            <a:r>
              <a:rPr sz="1000" spc="114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A21515"/>
                </a:solidFill>
                <a:latin typeface="맑은 고딕"/>
                <a:cs typeface="맑은 고딕"/>
              </a:rPr>
              <a:t>메뉴는</a:t>
            </a:r>
            <a:r>
              <a:rPr sz="1000" spc="16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000" spc="-10" dirty="0">
                <a:solidFill>
                  <a:srgbClr val="A21515"/>
                </a:solidFill>
                <a:latin typeface="맑은 고딕"/>
                <a:cs typeface="맑은 고딕"/>
              </a:rPr>
              <a:t>무엇인가요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?"</a:t>
            </a:r>
            <a:r>
              <a:rPr sz="1000" spc="-10" dirty="0">
                <a:latin typeface="Consolas"/>
                <a:cs typeface="Consolas"/>
              </a:rPr>
              <a:t>)] </a:t>
            </a: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1000" spc="-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event </a:t>
            </a: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in </a:t>
            </a:r>
            <a:r>
              <a:rPr sz="1000" spc="-10" dirty="0">
                <a:latin typeface="Consolas"/>
                <a:cs typeface="Consolas"/>
              </a:rPr>
              <a:t>graph.stream({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"messages"</a:t>
            </a:r>
            <a:r>
              <a:rPr sz="1000" spc="-10" dirty="0">
                <a:latin typeface="Consolas"/>
                <a:cs typeface="Consolas"/>
              </a:rPr>
              <a:t>: </a:t>
            </a:r>
            <a:r>
              <a:rPr sz="1000" dirty="0">
                <a:latin typeface="Consolas"/>
                <a:cs typeface="Consolas"/>
              </a:rPr>
              <a:t>inputs},</a:t>
            </a:r>
            <a:r>
              <a:rPr sz="1000" spc="-10" dirty="0">
                <a:latin typeface="Consolas"/>
                <a:cs typeface="Consolas"/>
              </a:rPr>
              <a:t> thread, stream_mode=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"values"</a:t>
            </a:r>
            <a:r>
              <a:rPr sz="1000" spc="-10" dirty="0"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372110">
              <a:lnSpc>
                <a:spcPct val="100000"/>
              </a:lnSpc>
            </a:pPr>
            <a:r>
              <a:rPr sz="1000" spc="-10" dirty="0">
                <a:latin typeface="Consolas"/>
                <a:cs typeface="Consolas"/>
              </a:rPr>
              <a:t>event[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"messages"</a:t>
            </a:r>
            <a:r>
              <a:rPr sz="1000" spc="-10" dirty="0">
                <a:latin typeface="Consolas"/>
                <a:cs typeface="Consolas"/>
              </a:rPr>
              <a:t>][-</a:t>
            </a:r>
            <a:r>
              <a:rPr sz="1000" spc="-10" dirty="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sz="1000" spc="-10" dirty="0">
                <a:latin typeface="Consolas"/>
                <a:cs typeface="Consolas"/>
              </a:rPr>
              <a:t>].pretty_print()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00647" y="5403291"/>
            <a:ext cx="5157470" cy="1077595"/>
          </a:xfrm>
          <a:custGeom>
            <a:avLst/>
            <a:gdLst/>
            <a:ahLst/>
            <a:cxnLst/>
            <a:rect l="l" t="t" r="r" b="b"/>
            <a:pathLst>
              <a:path w="5157470" h="1077595">
                <a:moveTo>
                  <a:pt x="5157088" y="0"/>
                </a:moveTo>
                <a:lnTo>
                  <a:pt x="0" y="0"/>
                </a:lnTo>
                <a:lnTo>
                  <a:pt x="0" y="1077213"/>
                </a:lnTo>
                <a:lnTo>
                  <a:pt x="5157088" y="1077213"/>
                </a:lnTo>
                <a:lnTo>
                  <a:pt x="5157088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280150" y="5430977"/>
            <a:ext cx="447357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Consolas"/>
                <a:cs typeface="Consolas"/>
              </a:rPr>
              <a:t>================================</a:t>
            </a:r>
            <a:r>
              <a:rPr sz="800" spc="-50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Human</a:t>
            </a:r>
            <a:r>
              <a:rPr sz="800" b="1" spc="-60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Message</a:t>
            </a:r>
            <a:r>
              <a:rPr sz="800" b="1" spc="-5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=================================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latin typeface="맑은 고딕"/>
                <a:cs typeface="맑은 고딕"/>
              </a:rPr>
              <a:t>대표</a:t>
            </a:r>
            <a:r>
              <a:rPr sz="800" spc="15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메뉴는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spc="-10" dirty="0">
                <a:latin typeface="맑은 고딕"/>
                <a:cs typeface="맑은 고딕"/>
              </a:rPr>
              <a:t>무엇인가요</a:t>
            </a:r>
            <a:r>
              <a:rPr sz="800" spc="-10" dirty="0">
                <a:latin typeface="Consolas"/>
                <a:cs typeface="Consolas"/>
              </a:rPr>
              <a:t>?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==================================</a:t>
            </a:r>
            <a:r>
              <a:rPr sz="800" spc="-25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Ai</a:t>
            </a:r>
            <a:r>
              <a:rPr sz="800" b="1" spc="-25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Message</a:t>
            </a:r>
            <a:r>
              <a:rPr sz="800" b="1" spc="-2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==================================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Tool</a:t>
            </a:r>
            <a:r>
              <a:rPr sz="800" spc="-5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Calls:</a:t>
            </a:r>
            <a:endParaRPr sz="800">
              <a:latin typeface="Consolas"/>
              <a:cs typeface="Consolas"/>
            </a:endParaRPr>
          </a:p>
          <a:p>
            <a:pPr marL="12700" marR="1950085" indent="111125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search_menu</a:t>
            </a:r>
            <a:r>
              <a:rPr sz="800" spc="-2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(call_ixDipQ0n8Vl0kXOX7pnvvWJS) </a:t>
            </a:r>
            <a:r>
              <a:rPr sz="800" dirty="0">
                <a:latin typeface="Consolas"/>
                <a:cs typeface="Consolas"/>
              </a:rPr>
              <a:t>Call</a:t>
            </a:r>
            <a:r>
              <a:rPr sz="800" spc="-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ID:</a:t>
            </a:r>
            <a:r>
              <a:rPr sz="800" spc="-5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call_ixDipQ0n8Vl0kXOX7pnvvWJS</a:t>
            </a:r>
            <a:endParaRPr sz="800">
              <a:latin typeface="Consolas"/>
              <a:cs typeface="Consolas"/>
            </a:endParaRPr>
          </a:p>
          <a:p>
            <a:pPr marL="123825">
              <a:lnSpc>
                <a:spcPct val="100000"/>
              </a:lnSpc>
            </a:pPr>
            <a:r>
              <a:rPr sz="800" spc="-10" dirty="0">
                <a:latin typeface="Consolas"/>
                <a:cs typeface="Consolas"/>
              </a:rPr>
              <a:t>Args:</a:t>
            </a:r>
            <a:endParaRPr sz="800">
              <a:latin typeface="Consolas"/>
              <a:cs typeface="Consolas"/>
            </a:endParaRPr>
          </a:p>
          <a:p>
            <a:pPr marL="234950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query:</a:t>
            </a:r>
            <a:r>
              <a:rPr sz="800" spc="-35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대표</a:t>
            </a:r>
            <a:r>
              <a:rPr sz="800" spc="165" dirty="0">
                <a:latin typeface="맑은 고딕"/>
                <a:cs typeface="맑은 고딕"/>
              </a:rPr>
              <a:t> </a:t>
            </a:r>
            <a:r>
              <a:rPr sz="800" spc="-25" dirty="0">
                <a:latin typeface="맑은 고딕"/>
                <a:cs typeface="맑은 고딕"/>
              </a:rPr>
              <a:t>메뉴</a:t>
            </a:r>
            <a:endParaRPr sz="8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Human-</a:t>
            </a:r>
            <a:r>
              <a:rPr dirty="0"/>
              <a:t>in-</a:t>
            </a:r>
            <a:r>
              <a:rPr spc="-10" dirty="0"/>
              <a:t>the-</a:t>
            </a:r>
            <a:r>
              <a:rPr dirty="0"/>
              <a:t>Loop</a:t>
            </a:r>
            <a:r>
              <a:rPr spc="15" dirty="0"/>
              <a:t> </a:t>
            </a:r>
            <a:r>
              <a:rPr spc="-10" dirty="0"/>
              <a:t>(HITL)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5551" y="659638"/>
            <a:ext cx="210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Human-in-the-</a:t>
            </a:r>
            <a:r>
              <a:rPr sz="1800" spc="-20" dirty="0">
                <a:solidFill>
                  <a:srgbClr val="FFFFFF"/>
                </a:solidFill>
                <a:latin typeface="맑은 고딕"/>
                <a:cs typeface="맑은 고딕"/>
              </a:rPr>
              <a:t>Loop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74283" y="1890141"/>
            <a:ext cx="5457190" cy="4596765"/>
          </a:xfrm>
          <a:custGeom>
            <a:avLst/>
            <a:gdLst/>
            <a:ahLst/>
            <a:cxnLst/>
            <a:rect l="l" t="t" r="r" b="b"/>
            <a:pathLst>
              <a:path w="5457190" h="4596765">
                <a:moveTo>
                  <a:pt x="0" y="252857"/>
                </a:moveTo>
                <a:lnTo>
                  <a:pt x="4072" y="207425"/>
                </a:lnTo>
                <a:lnTo>
                  <a:pt x="15813" y="164657"/>
                </a:lnTo>
                <a:lnTo>
                  <a:pt x="34511" y="125269"/>
                </a:lnTo>
                <a:lnTo>
                  <a:pt x="59452" y="89975"/>
                </a:lnTo>
                <a:lnTo>
                  <a:pt x="89923" y="59493"/>
                </a:lnTo>
                <a:lnTo>
                  <a:pt x="125212" y="34539"/>
                </a:lnTo>
                <a:lnTo>
                  <a:pt x="164606" y="15828"/>
                </a:lnTo>
                <a:lnTo>
                  <a:pt x="207392" y="4076"/>
                </a:lnTo>
                <a:lnTo>
                  <a:pt x="252856" y="0"/>
                </a:lnTo>
                <a:lnTo>
                  <a:pt x="5204078" y="0"/>
                </a:lnTo>
                <a:lnTo>
                  <a:pt x="5249543" y="4076"/>
                </a:lnTo>
                <a:lnTo>
                  <a:pt x="5292329" y="15828"/>
                </a:lnTo>
                <a:lnTo>
                  <a:pt x="5331723" y="34539"/>
                </a:lnTo>
                <a:lnTo>
                  <a:pt x="5367012" y="59493"/>
                </a:lnTo>
                <a:lnTo>
                  <a:pt x="5397483" y="89975"/>
                </a:lnTo>
                <a:lnTo>
                  <a:pt x="5422424" y="125269"/>
                </a:lnTo>
                <a:lnTo>
                  <a:pt x="5441122" y="164657"/>
                </a:lnTo>
                <a:lnTo>
                  <a:pt x="5452863" y="207425"/>
                </a:lnTo>
                <a:lnTo>
                  <a:pt x="5456936" y="252857"/>
                </a:lnTo>
                <a:lnTo>
                  <a:pt x="5456936" y="4343717"/>
                </a:lnTo>
                <a:lnTo>
                  <a:pt x="5452863" y="4389168"/>
                </a:lnTo>
                <a:lnTo>
                  <a:pt x="5441122" y="4431947"/>
                </a:lnTo>
                <a:lnTo>
                  <a:pt x="5422424" y="4471339"/>
                </a:lnTo>
                <a:lnTo>
                  <a:pt x="5397483" y="4506630"/>
                </a:lnTo>
                <a:lnTo>
                  <a:pt x="5367012" y="4537105"/>
                </a:lnTo>
                <a:lnTo>
                  <a:pt x="5331723" y="4562052"/>
                </a:lnTo>
                <a:lnTo>
                  <a:pt x="5292329" y="4580755"/>
                </a:lnTo>
                <a:lnTo>
                  <a:pt x="5249543" y="4592500"/>
                </a:lnTo>
                <a:lnTo>
                  <a:pt x="5204078" y="4596574"/>
                </a:lnTo>
                <a:lnTo>
                  <a:pt x="252856" y="4596574"/>
                </a:lnTo>
                <a:lnTo>
                  <a:pt x="207392" y="4592500"/>
                </a:lnTo>
                <a:lnTo>
                  <a:pt x="164606" y="4580755"/>
                </a:lnTo>
                <a:lnTo>
                  <a:pt x="125212" y="4562052"/>
                </a:lnTo>
                <a:lnTo>
                  <a:pt x="89923" y="4537105"/>
                </a:lnTo>
                <a:lnTo>
                  <a:pt x="59452" y="4506630"/>
                </a:lnTo>
                <a:lnTo>
                  <a:pt x="34511" y="4471339"/>
                </a:lnTo>
                <a:lnTo>
                  <a:pt x="15813" y="4431947"/>
                </a:lnTo>
                <a:lnTo>
                  <a:pt x="4072" y="4389168"/>
                </a:lnTo>
                <a:lnTo>
                  <a:pt x="0" y="4343717"/>
                </a:lnTo>
                <a:lnTo>
                  <a:pt x="0" y="252857"/>
                </a:lnTo>
                <a:close/>
              </a:path>
            </a:pathLst>
          </a:custGeom>
          <a:ln w="9524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95985" y="1885378"/>
            <a:ext cx="5510530" cy="4606290"/>
            <a:chOff x="495985" y="1885378"/>
            <a:chExt cx="5510530" cy="4606290"/>
          </a:xfrm>
        </p:grpSpPr>
        <p:sp>
          <p:nvSpPr>
            <p:cNvPr id="7" name="object 7"/>
            <p:cNvSpPr/>
            <p:nvPr/>
          </p:nvSpPr>
          <p:spPr>
            <a:xfrm>
              <a:off x="500748" y="1890141"/>
              <a:ext cx="5501005" cy="4596765"/>
            </a:xfrm>
            <a:custGeom>
              <a:avLst/>
              <a:gdLst/>
              <a:ahLst/>
              <a:cxnLst/>
              <a:rect l="l" t="t" r="r" b="b"/>
              <a:pathLst>
                <a:path w="5501005" h="4596765">
                  <a:moveTo>
                    <a:pt x="0" y="252857"/>
                  </a:moveTo>
                  <a:lnTo>
                    <a:pt x="4073" y="207425"/>
                  </a:lnTo>
                  <a:lnTo>
                    <a:pt x="15817" y="164657"/>
                  </a:lnTo>
                  <a:lnTo>
                    <a:pt x="34519" y="125269"/>
                  </a:lnTo>
                  <a:lnTo>
                    <a:pt x="59463" y="89975"/>
                  </a:lnTo>
                  <a:lnTo>
                    <a:pt x="89936" y="59493"/>
                  </a:lnTo>
                  <a:lnTo>
                    <a:pt x="125225" y="34539"/>
                  </a:lnTo>
                  <a:lnTo>
                    <a:pt x="164615" y="15828"/>
                  </a:lnTo>
                  <a:lnTo>
                    <a:pt x="207393" y="4076"/>
                  </a:lnTo>
                  <a:lnTo>
                    <a:pt x="252844" y="0"/>
                  </a:lnTo>
                  <a:lnTo>
                    <a:pt x="5248033" y="0"/>
                  </a:lnTo>
                  <a:lnTo>
                    <a:pt x="5293498" y="4076"/>
                  </a:lnTo>
                  <a:lnTo>
                    <a:pt x="5336284" y="15828"/>
                  </a:lnTo>
                  <a:lnTo>
                    <a:pt x="5375678" y="34539"/>
                  </a:lnTo>
                  <a:lnTo>
                    <a:pt x="5410967" y="59493"/>
                  </a:lnTo>
                  <a:lnTo>
                    <a:pt x="5441438" y="89975"/>
                  </a:lnTo>
                  <a:lnTo>
                    <a:pt x="5466379" y="125269"/>
                  </a:lnTo>
                  <a:lnTo>
                    <a:pt x="5485077" y="164657"/>
                  </a:lnTo>
                  <a:lnTo>
                    <a:pt x="5496818" y="207425"/>
                  </a:lnTo>
                  <a:lnTo>
                    <a:pt x="5500890" y="252857"/>
                  </a:lnTo>
                  <a:lnTo>
                    <a:pt x="5500890" y="4343717"/>
                  </a:lnTo>
                  <a:lnTo>
                    <a:pt x="5496818" y="4389168"/>
                  </a:lnTo>
                  <a:lnTo>
                    <a:pt x="5485077" y="4431947"/>
                  </a:lnTo>
                  <a:lnTo>
                    <a:pt x="5466379" y="4471339"/>
                  </a:lnTo>
                  <a:lnTo>
                    <a:pt x="5441438" y="4506630"/>
                  </a:lnTo>
                  <a:lnTo>
                    <a:pt x="5410967" y="4537105"/>
                  </a:lnTo>
                  <a:lnTo>
                    <a:pt x="5375678" y="4562052"/>
                  </a:lnTo>
                  <a:lnTo>
                    <a:pt x="5336284" y="4580755"/>
                  </a:lnTo>
                  <a:lnTo>
                    <a:pt x="5293498" y="4592500"/>
                  </a:lnTo>
                  <a:lnTo>
                    <a:pt x="5248033" y="4596574"/>
                  </a:lnTo>
                  <a:lnTo>
                    <a:pt x="252844" y="4596574"/>
                  </a:lnTo>
                  <a:lnTo>
                    <a:pt x="207393" y="4592500"/>
                  </a:lnTo>
                  <a:lnTo>
                    <a:pt x="164615" y="4580755"/>
                  </a:lnTo>
                  <a:lnTo>
                    <a:pt x="125225" y="4562052"/>
                  </a:lnTo>
                  <a:lnTo>
                    <a:pt x="89936" y="4537105"/>
                  </a:lnTo>
                  <a:lnTo>
                    <a:pt x="59463" y="4506630"/>
                  </a:lnTo>
                  <a:lnTo>
                    <a:pt x="34519" y="4471339"/>
                  </a:lnTo>
                  <a:lnTo>
                    <a:pt x="15817" y="4431947"/>
                  </a:lnTo>
                  <a:lnTo>
                    <a:pt x="4073" y="4389168"/>
                  </a:lnTo>
                  <a:lnTo>
                    <a:pt x="0" y="4343717"/>
                  </a:lnTo>
                  <a:lnTo>
                    <a:pt x="0" y="252857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63294" y="2319147"/>
              <a:ext cx="620395" cy="236220"/>
            </a:xfrm>
            <a:custGeom>
              <a:avLst/>
              <a:gdLst/>
              <a:ahLst/>
              <a:cxnLst/>
              <a:rect l="l" t="t" r="r" b="b"/>
              <a:pathLst>
                <a:path w="620394" h="236219">
                  <a:moveTo>
                    <a:pt x="620268" y="0"/>
                  </a:moveTo>
                  <a:lnTo>
                    <a:pt x="0" y="0"/>
                  </a:lnTo>
                  <a:lnTo>
                    <a:pt x="0" y="236220"/>
                  </a:lnTo>
                  <a:lnTo>
                    <a:pt x="620268" y="236220"/>
                  </a:lnTo>
                  <a:lnTo>
                    <a:pt x="62026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78560" y="1982216"/>
            <a:ext cx="4415155" cy="58420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620"/>
              </a:spcBef>
            </a:pPr>
            <a:r>
              <a:rPr sz="1400" b="1" dirty="0">
                <a:latin typeface="맑은 고딕"/>
                <a:cs typeface="맑은 고딕"/>
              </a:rPr>
              <a:t>Breakpoint</a:t>
            </a:r>
            <a:r>
              <a:rPr sz="1400" b="1" spc="-55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상태</a:t>
            </a:r>
            <a:r>
              <a:rPr sz="1400" b="1" spc="-45" dirty="0">
                <a:latin typeface="맑은 고딕"/>
                <a:cs typeface="맑은 고딕"/>
              </a:rPr>
              <a:t> </a:t>
            </a:r>
            <a:r>
              <a:rPr sz="1400" b="1" spc="-35" dirty="0">
                <a:latin typeface="맑은 고딕"/>
                <a:cs typeface="맑은 고딕"/>
              </a:rPr>
              <a:t>관리</a:t>
            </a:r>
            <a:endParaRPr sz="1400">
              <a:latin typeface="맑은 고딕"/>
              <a:cs typeface="맑은 고딕"/>
            </a:endParaRPr>
          </a:p>
          <a:p>
            <a:pPr marL="247015" indent="-234315">
              <a:lnSpc>
                <a:spcPct val="100000"/>
              </a:lnSpc>
              <a:spcBef>
                <a:spcPts val="715"/>
              </a:spcBef>
              <a:buSzPct val="116666"/>
              <a:buFont typeface="Arial"/>
              <a:buChar char="•"/>
              <a:tabLst>
                <a:tab pos="247015" algn="l"/>
              </a:tabLst>
            </a:pPr>
            <a:r>
              <a:rPr sz="1200" spc="-10" dirty="0">
                <a:latin typeface="맑은 고딕"/>
                <a:cs typeface="맑은 고딕"/>
              </a:rPr>
              <a:t>graph.get_state(thread)를</a:t>
            </a:r>
            <a:r>
              <a:rPr sz="1200" spc="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호출하여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현재</a:t>
            </a:r>
            <a:r>
              <a:rPr sz="1200" spc="2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그래프의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상태</a:t>
            </a:r>
            <a:r>
              <a:rPr sz="1200" spc="2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확인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23203" y="1982216"/>
            <a:ext cx="4250690" cy="58420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400" b="1" dirty="0">
                <a:latin typeface="맑은 고딕"/>
                <a:cs typeface="맑은 고딕"/>
              </a:rPr>
              <a:t>다음에</a:t>
            </a:r>
            <a:r>
              <a:rPr sz="1400" b="1" spc="-30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실행될</a:t>
            </a:r>
            <a:r>
              <a:rPr sz="1400" b="1" spc="-30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노드를</a:t>
            </a:r>
            <a:r>
              <a:rPr sz="1400" b="1" spc="-25" dirty="0">
                <a:latin typeface="맑은 고딕"/>
                <a:cs typeface="맑은 고딕"/>
              </a:rPr>
              <a:t> 확인</a:t>
            </a:r>
            <a:endParaRPr sz="1400">
              <a:latin typeface="맑은 고딕"/>
              <a:cs typeface="맑은 고딕"/>
            </a:endParaRPr>
          </a:p>
          <a:p>
            <a:pPr marL="247015" indent="-234315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247015" algn="l"/>
              </a:tabLst>
            </a:pPr>
            <a:r>
              <a:rPr sz="1400" dirty="0">
                <a:latin typeface="맑은 고딕"/>
                <a:cs typeface="맑은 고딕"/>
              </a:rPr>
              <a:t>중단점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이후에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실행될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다음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노드를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확인할</a:t>
            </a:r>
            <a:r>
              <a:rPr sz="1400" spc="-1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수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spc="-25" dirty="0">
                <a:latin typeface="맑은 고딕"/>
                <a:cs typeface="맑은 고딕"/>
              </a:rPr>
              <a:t>있음</a:t>
            </a:r>
            <a:endParaRPr sz="1400">
              <a:latin typeface="맑은 고딕"/>
              <a:cs typeface="맑은 고딕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70495" y="2726944"/>
            <a:ext cx="279400" cy="149860"/>
          </a:xfrm>
          <a:custGeom>
            <a:avLst/>
            <a:gdLst/>
            <a:ahLst/>
            <a:cxnLst/>
            <a:rect l="l" t="t" r="r" b="b"/>
            <a:pathLst>
              <a:path w="279400" h="149860">
                <a:moveTo>
                  <a:pt x="278892" y="0"/>
                </a:moveTo>
                <a:lnTo>
                  <a:pt x="0" y="0"/>
                </a:lnTo>
                <a:lnTo>
                  <a:pt x="0" y="149351"/>
                </a:lnTo>
                <a:lnTo>
                  <a:pt x="278892" y="149351"/>
                </a:lnTo>
                <a:lnTo>
                  <a:pt x="27889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200647" y="2676690"/>
            <a:ext cx="5157470" cy="246379"/>
          </a:xfrm>
          <a:prstGeom prst="rect">
            <a:avLst/>
          </a:prstGeom>
          <a:ln w="9525">
            <a:solidFill>
              <a:srgbClr val="A6A6A6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sz="1000" spc="-10" dirty="0">
                <a:latin typeface="Consolas"/>
                <a:cs typeface="Consolas"/>
              </a:rPr>
              <a:t>current_state.next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00647" y="3003753"/>
            <a:ext cx="5157470" cy="215900"/>
          </a:xfrm>
          <a:custGeom>
            <a:avLst/>
            <a:gdLst/>
            <a:ahLst/>
            <a:cxnLst/>
            <a:rect l="l" t="t" r="r" b="b"/>
            <a:pathLst>
              <a:path w="5157470" h="215900">
                <a:moveTo>
                  <a:pt x="5157088" y="0"/>
                </a:moveTo>
                <a:lnTo>
                  <a:pt x="0" y="0"/>
                </a:lnTo>
                <a:lnTo>
                  <a:pt x="0" y="215442"/>
                </a:lnTo>
                <a:lnTo>
                  <a:pt x="5157088" y="215442"/>
                </a:lnTo>
                <a:lnTo>
                  <a:pt x="5157088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280150" y="3031363"/>
            <a:ext cx="7493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Consolas"/>
                <a:cs typeface="Consolas"/>
              </a:rPr>
              <a:t>('retrieve',)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27401" y="3008248"/>
            <a:ext cx="629920" cy="149860"/>
          </a:xfrm>
          <a:custGeom>
            <a:avLst/>
            <a:gdLst/>
            <a:ahLst/>
            <a:cxnLst/>
            <a:rect l="l" t="t" r="r" b="b"/>
            <a:pathLst>
              <a:path w="629919" h="149860">
                <a:moveTo>
                  <a:pt x="629412" y="0"/>
                </a:moveTo>
                <a:lnTo>
                  <a:pt x="0" y="0"/>
                </a:lnTo>
                <a:lnTo>
                  <a:pt x="0" y="149351"/>
                </a:lnTo>
                <a:lnTo>
                  <a:pt x="629412" y="149351"/>
                </a:lnTo>
                <a:lnTo>
                  <a:pt x="62941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99719" y="2805544"/>
            <a:ext cx="5157470" cy="1169670"/>
          </a:xfrm>
          <a:prstGeom prst="rect">
            <a:avLst/>
          </a:prstGeom>
          <a:ln w="9525">
            <a:solidFill>
              <a:srgbClr val="A6A6A6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10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000" spc="-1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상태</a:t>
            </a:r>
            <a:r>
              <a:rPr sz="1000" spc="18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spc="-25" dirty="0">
                <a:solidFill>
                  <a:srgbClr val="008000"/>
                </a:solidFill>
                <a:latin typeface="맑은 고딕"/>
                <a:cs typeface="맑은 고딕"/>
              </a:rPr>
              <a:t>확인</a:t>
            </a:r>
            <a:endParaRPr sz="1000">
              <a:latin typeface="맑은 고딕"/>
              <a:cs typeface="맑은 고딕"/>
            </a:endParaRPr>
          </a:p>
          <a:p>
            <a:pPr marL="91440" marR="2333625">
              <a:lnSpc>
                <a:spcPct val="100000"/>
              </a:lnSpc>
            </a:pPr>
            <a:r>
              <a:rPr sz="1000" dirty="0">
                <a:latin typeface="Consolas"/>
                <a:cs typeface="Consolas"/>
              </a:rPr>
              <a:t>current_state</a:t>
            </a:r>
            <a:r>
              <a:rPr sz="1000" spc="-5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4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graph.get_state(thread) print(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"---</a:t>
            </a:r>
            <a:r>
              <a:rPr sz="1000" dirty="0">
                <a:solidFill>
                  <a:srgbClr val="A21515"/>
                </a:solidFill>
                <a:latin typeface="맑은 고딕"/>
                <a:cs typeface="맑은 고딕"/>
              </a:rPr>
              <a:t>그래프</a:t>
            </a:r>
            <a:r>
              <a:rPr sz="1000" spc="210" dirty="0">
                <a:solidFill>
                  <a:srgbClr val="A21515"/>
                </a:solidFill>
                <a:latin typeface="맑은 고딕"/>
                <a:cs typeface="맑은 고딕"/>
              </a:rPr>
              <a:t> </a:t>
            </a:r>
            <a:r>
              <a:rPr sz="1000" spc="-10" dirty="0">
                <a:solidFill>
                  <a:srgbClr val="A21515"/>
                </a:solidFill>
                <a:latin typeface="맑은 고딕"/>
                <a:cs typeface="맑은 고딕"/>
              </a:rPr>
              <a:t>상태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---</a:t>
            </a:r>
            <a:r>
              <a:rPr sz="1000" spc="-25" dirty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1000" spc="-25" dirty="0">
                <a:latin typeface="Consolas"/>
                <a:cs typeface="Consolas"/>
              </a:rPr>
              <a:t>) </a:t>
            </a:r>
            <a:r>
              <a:rPr sz="1000" spc="-10" dirty="0">
                <a:latin typeface="Consolas"/>
                <a:cs typeface="Consolas"/>
              </a:rPr>
              <a:t>print(current_state)</a:t>
            </a:r>
            <a:endParaRPr sz="10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000" spc="-10" dirty="0">
                <a:latin typeface="Consolas"/>
                <a:cs typeface="Consolas"/>
              </a:rPr>
              <a:t>print()</a:t>
            </a:r>
            <a:endParaRPr sz="10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10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m</a:t>
            </a:r>
            <a:r>
              <a:rPr sz="1000" spc="-5" dirty="0"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10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current_state.values.get(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"messages"</a:t>
            </a:r>
            <a:r>
              <a:rPr sz="1000" spc="-10" dirty="0"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371475">
              <a:lnSpc>
                <a:spcPct val="100000"/>
              </a:lnSpc>
            </a:pPr>
            <a:r>
              <a:rPr sz="1000" spc="-10" dirty="0">
                <a:latin typeface="Consolas"/>
                <a:cs typeface="Consolas"/>
              </a:rPr>
              <a:t>m.pretty_print()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9719" y="4169778"/>
            <a:ext cx="5157470" cy="2062480"/>
          </a:xfrm>
          <a:custGeom>
            <a:avLst/>
            <a:gdLst/>
            <a:ahLst/>
            <a:cxnLst/>
            <a:rect l="l" t="t" r="r" b="b"/>
            <a:pathLst>
              <a:path w="5157470" h="2062479">
                <a:moveTo>
                  <a:pt x="5157089" y="0"/>
                </a:moveTo>
                <a:lnTo>
                  <a:pt x="0" y="0"/>
                </a:lnTo>
                <a:lnTo>
                  <a:pt x="0" y="2062099"/>
                </a:lnTo>
                <a:lnTo>
                  <a:pt x="5157089" y="2062099"/>
                </a:lnTo>
                <a:lnTo>
                  <a:pt x="5157089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78560" y="4197858"/>
            <a:ext cx="4862195" cy="19773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onsolas"/>
                <a:cs typeface="Consolas"/>
              </a:rPr>
              <a:t>---</a:t>
            </a:r>
            <a:r>
              <a:rPr sz="800" dirty="0">
                <a:latin typeface="맑은 고딕"/>
                <a:cs typeface="맑은 고딕"/>
              </a:rPr>
              <a:t>그래프</a:t>
            </a:r>
            <a:r>
              <a:rPr sz="800" spc="14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상태</a:t>
            </a:r>
            <a:r>
              <a:rPr sz="800" dirty="0">
                <a:latin typeface="Consolas"/>
                <a:cs typeface="Consolas"/>
              </a:rPr>
              <a:t>--</a:t>
            </a:r>
            <a:r>
              <a:rPr sz="800" spc="-50" dirty="0">
                <a:latin typeface="Consolas"/>
                <a:cs typeface="Consolas"/>
              </a:rPr>
              <a:t>-</a:t>
            </a:r>
            <a:endParaRPr sz="8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StateSnapshot(values={'messages':</a:t>
            </a:r>
            <a:r>
              <a:rPr sz="800" spc="-6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[HumanMessage(content='</a:t>
            </a:r>
            <a:r>
              <a:rPr sz="800" dirty="0">
                <a:latin typeface="맑은 고딕"/>
                <a:cs typeface="맑은 고딕"/>
              </a:rPr>
              <a:t>대표</a:t>
            </a:r>
            <a:r>
              <a:rPr sz="800" spc="10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메뉴는</a:t>
            </a:r>
            <a:r>
              <a:rPr sz="800" spc="130" dirty="0">
                <a:latin typeface="맑은 고딕"/>
                <a:cs typeface="맑은 고딕"/>
              </a:rPr>
              <a:t> </a:t>
            </a:r>
            <a:r>
              <a:rPr sz="800" spc="-10" dirty="0">
                <a:latin typeface="맑은 고딕"/>
                <a:cs typeface="맑은 고딕"/>
              </a:rPr>
              <a:t>무엇인가요</a:t>
            </a:r>
            <a:r>
              <a:rPr sz="800" spc="-10" dirty="0">
                <a:latin typeface="Consolas"/>
                <a:cs typeface="Consolas"/>
              </a:rPr>
              <a:t>?', </a:t>
            </a:r>
            <a:r>
              <a:rPr sz="800" dirty="0">
                <a:latin typeface="Consolas"/>
                <a:cs typeface="Consolas"/>
              </a:rPr>
              <a:t>additional_kwargs={},</a:t>
            </a:r>
            <a:r>
              <a:rPr sz="800" spc="6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response_metadata={},</a:t>
            </a:r>
            <a:r>
              <a:rPr sz="800" spc="6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id='d401df75-32ce-4985-</a:t>
            </a:r>
            <a:r>
              <a:rPr sz="800" dirty="0">
                <a:latin typeface="Consolas"/>
                <a:cs typeface="Consolas"/>
              </a:rPr>
              <a:t>a568-</a:t>
            </a:r>
            <a:r>
              <a:rPr sz="800" spc="-10" dirty="0">
                <a:latin typeface="Consolas"/>
                <a:cs typeface="Consolas"/>
              </a:rPr>
              <a:t>db19d4948fee'), </a:t>
            </a:r>
            <a:r>
              <a:rPr sz="800" dirty="0">
                <a:latin typeface="Consolas"/>
                <a:cs typeface="Consolas"/>
              </a:rPr>
              <a:t>AIMessage(content='',</a:t>
            </a:r>
            <a:r>
              <a:rPr sz="800" spc="-3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additional_kwargs={'tool_calls':</a:t>
            </a:r>
            <a:r>
              <a:rPr sz="800" spc="-3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[{'index':</a:t>
            </a:r>
            <a:r>
              <a:rPr sz="800" spc="-3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0,</a:t>
            </a:r>
            <a:r>
              <a:rPr sz="800" spc="-3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'id': </a:t>
            </a:r>
            <a:r>
              <a:rPr sz="800" dirty="0">
                <a:latin typeface="Consolas"/>
                <a:cs typeface="Consolas"/>
              </a:rPr>
              <a:t>'call_ixDipQ0n8Vl0kXOX7pnvvWJS’,</a:t>
            </a:r>
            <a:r>
              <a:rPr sz="800" spc="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_...</a:t>
            </a:r>
            <a:r>
              <a:rPr sz="800" spc="1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,</a:t>
            </a:r>
            <a:r>
              <a:rPr sz="800" spc="1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'checkpoint_id':</a:t>
            </a:r>
            <a:r>
              <a:rPr sz="800" spc="5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'1ef81557-</a:t>
            </a:r>
            <a:r>
              <a:rPr sz="800" dirty="0">
                <a:latin typeface="Consolas"/>
                <a:cs typeface="Consolas"/>
              </a:rPr>
              <a:t>1d57-</a:t>
            </a:r>
            <a:r>
              <a:rPr sz="800" spc="-10" dirty="0">
                <a:latin typeface="Consolas"/>
                <a:cs typeface="Consolas"/>
              </a:rPr>
              <a:t>6e54-8000- </a:t>
            </a:r>
            <a:r>
              <a:rPr sz="800" dirty="0">
                <a:latin typeface="Consolas"/>
                <a:cs typeface="Consolas"/>
              </a:rPr>
              <a:t>77392c1f1630'}},</a:t>
            </a:r>
            <a:r>
              <a:rPr sz="800" spc="32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tasks=(PregelTask(id='b7ffc42e-08dc-1ff6-</a:t>
            </a:r>
            <a:r>
              <a:rPr sz="800" dirty="0">
                <a:latin typeface="Consolas"/>
                <a:cs typeface="Consolas"/>
              </a:rPr>
              <a:t>ad18-</a:t>
            </a:r>
            <a:r>
              <a:rPr sz="800" spc="-10" dirty="0">
                <a:latin typeface="Consolas"/>
                <a:cs typeface="Consolas"/>
              </a:rPr>
              <a:t>dd9bd2a010a9', </a:t>
            </a:r>
            <a:r>
              <a:rPr sz="800" dirty="0">
                <a:latin typeface="Consolas"/>
                <a:cs typeface="Consolas"/>
              </a:rPr>
              <a:t>name='retrieve',</a:t>
            </a:r>
            <a:r>
              <a:rPr sz="800" spc="-2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path=('</a:t>
            </a:r>
            <a:r>
              <a:rPr sz="800" u="sng" spc="415" dirty="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sz="800" u="none" dirty="0">
                <a:latin typeface="Consolas"/>
                <a:cs typeface="Consolas"/>
              </a:rPr>
              <a:t>pregel_pull',</a:t>
            </a:r>
            <a:r>
              <a:rPr sz="800" u="none" spc="-20" dirty="0">
                <a:latin typeface="Consolas"/>
                <a:cs typeface="Consolas"/>
              </a:rPr>
              <a:t> </a:t>
            </a:r>
            <a:r>
              <a:rPr sz="800" u="none" dirty="0">
                <a:latin typeface="Consolas"/>
                <a:cs typeface="Consolas"/>
              </a:rPr>
              <a:t>'retrieve'),</a:t>
            </a:r>
            <a:r>
              <a:rPr sz="800" u="none" spc="-15" dirty="0">
                <a:latin typeface="Consolas"/>
                <a:cs typeface="Consolas"/>
              </a:rPr>
              <a:t> </a:t>
            </a:r>
            <a:r>
              <a:rPr sz="800" u="none" dirty="0">
                <a:latin typeface="Consolas"/>
                <a:cs typeface="Consolas"/>
              </a:rPr>
              <a:t>error=None,</a:t>
            </a:r>
            <a:r>
              <a:rPr sz="800" u="none" spc="-20" dirty="0">
                <a:latin typeface="Consolas"/>
                <a:cs typeface="Consolas"/>
              </a:rPr>
              <a:t> </a:t>
            </a:r>
            <a:r>
              <a:rPr sz="800" u="none" spc="-10" dirty="0">
                <a:latin typeface="Consolas"/>
                <a:cs typeface="Consolas"/>
              </a:rPr>
              <a:t>interrupts=(), state=None),))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================================</a:t>
            </a:r>
            <a:r>
              <a:rPr sz="800" spc="-25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Human</a:t>
            </a:r>
            <a:r>
              <a:rPr sz="800" b="1" spc="-30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Message</a:t>
            </a:r>
            <a:r>
              <a:rPr sz="800" b="1" spc="-2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=================================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latin typeface="맑은 고딕"/>
                <a:cs typeface="맑은 고딕"/>
              </a:rPr>
              <a:t>대표</a:t>
            </a:r>
            <a:r>
              <a:rPr sz="800" spc="15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메뉴는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spc="-10" dirty="0">
                <a:latin typeface="맑은 고딕"/>
                <a:cs typeface="맑은 고딕"/>
              </a:rPr>
              <a:t>무엇인가요</a:t>
            </a:r>
            <a:r>
              <a:rPr sz="800" spc="-10" dirty="0">
                <a:latin typeface="Consolas"/>
                <a:cs typeface="Consolas"/>
              </a:rPr>
              <a:t>?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800" spc="-10" dirty="0">
                <a:latin typeface="Consolas"/>
                <a:cs typeface="Consolas"/>
              </a:rPr>
              <a:t>==================================</a:t>
            </a:r>
            <a:r>
              <a:rPr sz="800" spc="65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Ai</a:t>
            </a:r>
            <a:r>
              <a:rPr sz="800" b="1" spc="60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Message</a:t>
            </a:r>
            <a:r>
              <a:rPr sz="800" b="1" spc="6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==================================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Tool</a:t>
            </a:r>
            <a:r>
              <a:rPr sz="800" spc="-5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Calls:</a:t>
            </a:r>
            <a:endParaRPr sz="800">
              <a:latin typeface="Consolas"/>
              <a:cs typeface="Consolas"/>
            </a:endParaRPr>
          </a:p>
          <a:p>
            <a:pPr marL="12700" marR="2338705" indent="111125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search_menu</a:t>
            </a:r>
            <a:r>
              <a:rPr sz="800" spc="-2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(call_ixDipQ0n8Vl0kXOX7pnvvWJS) </a:t>
            </a:r>
            <a:r>
              <a:rPr sz="800" dirty="0">
                <a:latin typeface="Consolas"/>
                <a:cs typeface="Consolas"/>
              </a:rPr>
              <a:t>Call</a:t>
            </a:r>
            <a:r>
              <a:rPr sz="800" spc="-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ID:</a:t>
            </a:r>
            <a:r>
              <a:rPr sz="800" spc="-5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call_ixDipQ0n8Vl0kXOX7pnvvWJS</a:t>
            </a:r>
            <a:endParaRPr sz="800">
              <a:latin typeface="Consolas"/>
              <a:cs typeface="Consolas"/>
            </a:endParaRPr>
          </a:p>
          <a:p>
            <a:pPr marL="123825">
              <a:lnSpc>
                <a:spcPct val="100000"/>
              </a:lnSpc>
            </a:pPr>
            <a:r>
              <a:rPr sz="800" spc="-10" dirty="0">
                <a:latin typeface="Consolas"/>
                <a:cs typeface="Consolas"/>
              </a:rPr>
              <a:t>Args:</a:t>
            </a:r>
            <a:endParaRPr sz="800">
              <a:latin typeface="Consolas"/>
              <a:cs typeface="Consolas"/>
            </a:endParaRPr>
          </a:p>
          <a:p>
            <a:pPr marL="234950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query:</a:t>
            </a:r>
            <a:r>
              <a:rPr sz="800" spc="-35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대표</a:t>
            </a:r>
            <a:r>
              <a:rPr sz="800" spc="165" dirty="0">
                <a:latin typeface="맑은 고딕"/>
                <a:cs typeface="맑은 고딕"/>
              </a:rPr>
              <a:t> </a:t>
            </a:r>
            <a:r>
              <a:rPr sz="800" spc="-25" dirty="0">
                <a:latin typeface="맑은 고딕"/>
                <a:cs typeface="맑은 고딕"/>
              </a:rPr>
              <a:t>메뉴</a:t>
            </a:r>
            <a:endParaRPr sz="800">
              <a:latin typeface="맑은 고딕"/>
              <a:cs typeface="맑은 고딕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342505" y="3716401"/>
            <a:ext cx="443865" cy="236220"/>
          </a:xfrm>
          <a:custGeom>
            <a:avLst/>
            <a:gdLst/>
            <a:ahLst/>
            <a:cxnLst/>
            <a:rect l="l" t="t" r="r" b="b"/>
            <a:pathLst>
              <a:path w="443865" h="236220">
                <a:moveTo>
                  <a:pt x="443483" y="0"/>
                </a:moveTo>
                <a:lnTo>
                  <a:pt x="0" y="0"/>
                </a:lnTo>
                <a:lnTo>
                  <a:pt x="0" y="236219"/>
                </a:lnTo>
                <a:lnTo>
                  <a:pt x="443483" y="236219"/>
                </a:lnTo>
                <a:lnTo>
                  <a:pt x="44348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323203" y="3380587"/>
            <a:ext cx="3973195" cy="58356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400" b="1" dirty="0">
                <a:latin typeface="맑은 고딕"/>
                <a:cs typeface="맑은 고딕"/>
              </a:rPr>
              <a:t>Breakpoint</a:t>
            </a:r>
            <a:r>
              <a:rPr sz="1400" b="1" spc="-40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이후</a:t>
            </a:r>
            <a:r>
              <a:rPr sz="1400" b="1" spc="-25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단계를</a:t>
            </a:r>
            <a:r>
              <a:rPr sz="1400" b="1" spc="-25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계속해서</a:t>
            </a:r>
            <a:r>
              <a:rPr sz="1400" b="1" spc="-30" dirty="0">
                <a:latin typeface="맑은 고딕"/>
                <a:cs typeface="맑은 고딕"/>
              </a:rPr>
              <a:t> </a:t>
            </a:r>
            <a:r>
              <a:rPr sz="1400" b="1" spc="-25" dirty="0">
                <a:latin typeface="맑은 고딕"/>
                <a:cs typeface="맑은 고딕"/>
              </a:rPr>
              <a:t>실행</a:t>
            </a:r>
            <a:endParaRPr sz="1400">
              <a:latin typeface="맑은 고딕"/>
              <a:cs typeface="맑은 고딕"/>
            </a:endParaRPr>
          </a:p>
          <a:p>
            <a:pPr marL="247015" indent="-234315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247015" algn="l"/>
              </a:tabLst>
            </a:pPr>
            <a:r>
              <a:rPr sz="1400" dirty="0">
                <a:latin typeface="맑은 고딕"/>
                <a:cs typeface="맑은 고딕"/>
              </a:rPr>
              <a:t>입력값을</a:t>
            </a:r>
            <a:r>
              <a:rPr sz="1400" spc="-3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None으로</a:t>
            </a:r>
            <a:r>
              <a:rPr sz="1400" spc="-4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지정하면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중단점부터</a:t>
            </a:r>
            <a:r>
              <a:rPr sz="1400" spc="-30" dirty="0">
                <a:latin typeface="맑은 고딕"/>
                <a:cs typeface="맑은 고딕"/>
              </a:rPr>
              <a:t> </a:t>
            </a:r>
            <a:r>
              <a:rPr sz="1400" spc="-25" dirty="0">
                <a:latin typeface="맑은 고딕"/>
                <a:cs typeface="맑은 고딕"/>
              </a:rPr>
              <a:t>실행</a:t>
            </a:r>
            <a:endParaRPr sz="1400">
              <a:latin typeface="맑은 고딕"/>
              <a:cs typeface="맑은 고딕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108695" y="4124197"/>
            <a:ext cx="279400" cy="149860"/>
          </a:xfrm>
          <a:custGeom>
            <a:avLst/>
            <a:gdLst/>
            <a:ahLst/>
            <a:cxnLst/>
            <a:rect l="l" t="t" r="r" b="b"/>
            <a:pathLst>
              <a:path w="279400" h="149860">
                <a:moveTo>
                  <a:pt x="278892" y="0"/>
                </a:moveTo>
                <a:lnTo>
                  <a:pt x="0" y="0"/>
                </a:lnTo>
                <a:lnTo>
                  <a:pt x="0" y="149351"/>
                </a:lnTo>
                <a:lnTo>
                  <a:pt x="278892" y="149351"/>
                </a:lnTo>
                <a:lnTo>
                  <a:pt x="27889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200647" y="4073969"/>
            <a:ext cx="5157470" cy="400685"/>
          </a:xfrm>
          <a:prstGeom prst="rect">
            <a:avLst/>
          </a:prstGeom>
          <a:ln w="9525">
            <a:solidFill>
              <a:srgbClr val="A6A6A6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372110" marR="725170" indent="-280670">
              <a:lnSpc>
                <a:spcPct val="100000"/>
              </a:lnSpc>
              <a:spcBef>
                <a:spcPts val="315"/>
              </a:spcBef>
            </a:pP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1000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event</a:t>
            </a:r>
            <a:r>
              <a:rPr sz="1000" spc="-40" dirty="0"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10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graph.stream(</a:t>
            </a: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None</a:t>
            </a:r>
            <a:r>
              <a:rPr sz="1000" dirty="0">
                <a:latin typeface="Consolas"/>
                <a:cs typeface="Consolas"/>
              </a:rPr>
              <a:t>,</a:t>
            </a:r>
            <a:r>
              <a:rPr sz="1000" spc="-4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thread,</a:t>
            </a:r>
            <a:r>
              <a:rPr sz="1000" spc="-3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stream_mode=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"values"</a:t>
            </a:r>
            <a:r>
              <a:rPr sz="1000" spc="-10" dirty="0">
                <a:latin typeface="Consolas"/>
                <a:cs typeface="Consolas"/>
              </a:rPr>
              <a:t>): event[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"messages"</a:t>
            </a:r>
            <a:r>
              <a:rPr sz="1000" spc="-10" dirty="0">
                <a:latin typeface="Consolas"/>
                <a:cs typeface="Consolas"/>
              </a:rPr>
              <a:t>][-</a:t>
            </a:r>
            <a:r>
              <a:rPr sz="1000" spc="-10" dirty="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sz="1000" spc="-10" dirty="0">
                <a:latin typeface="Consolas"/>
                <a:cs typeface="Consolas"/>
              </a:rPr>
              <a:t>].pretty_print()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200647" y="4554511"/>
            <a:ext cx="5157470" cy="1816100"/>
          </a:xfrm>
          <a:custGeom>
            <a:avLst/>
            <a:gdLst/>
            <a:ahLst/>
            <a:cxnLst/>
            <a:rect l="l" t="t" r="r" b="b"/>
            <a:pathLst>
              <a:path w="5157470" h="1816100">
                <a:moveTo>
                  <a:pt x="5157088" y="0"/>
                </a:moveTo>
                <a:lnTo>
                  <a:pt x="0" y="0"/>
                </a:lnTo>
                <a:lnTo>
                  <a:pt x="0" y="1815845"/>
                </a:lnTo>
                <a:lnTo>
                  <a:pt x="5157088" y="1815845"/>
                </a:lnTo>
                <a:lnTo>
                  <a:pt x="5157088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280150" y="4582414"/>
            <a:ext cx="4966970" cy="173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onsolas"/>
                <a:cs typeface="Consolas"/>
              </a:rPr>
              <a:t>==================================</a:t>
            </a:r>
            <a:r>
              <a:rPr sz="800" spc="-25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Ai</a:t>
            </a:r>
            <a:r>
              <a:rPr sz="800" b="1" spc="-25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Message</a:t>
            </a:r>
            <a:r>
              <a:rPr sz="800" b="1" spc="-2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==================================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latin typeface="Consolas"/>
                <a:cs typeface="Consolas"/>
              </a:rPr>
              <a:t>Tool</a:t>
            </a:r>
            <a:r>
              <a:rPr sz="800" spc="-5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Calls:</a:t>
            </a:r>
            <a:endParaRPr sz="800">
              <a:latin typeface="Consolas"/>
              <a:cs typeface="Consolas"/>
            </a:endParaRPr>
          </a:p>
          <a:p>
            <a:pPr marL="12700" marR="2443480" indent="111125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search_menu</a:t>
            </a:r>
            <a:r>
              <a:rPr sz="800" spc="-2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(call_ixDipQ0n8Vl0kXOX7pnvvWJS) </a:t>
            </a:r>
            <a:r>
              <a:rPr sz="800" dirty="0">
                <a:latin typeface="Consolas"/>
                <a:cs typeface="Consolas"/>
              </a:rPr>
              <a:t>Call</a:t>
            </a:r>
            <a:r>
              <a:rPr sz="800" spc="-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ID:</a:t>
            </a:r>
            <a:r>
              <a:rPr sz="800" spc="-5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call_ixDipQ0n8Vl0kXOX7pnvvWJS</a:t>
            </a:r>
            <a:endParaRPr sz="800">
              <a:latin typeface="Consolas"/>
              <a:cs typeface="Consolas"/>
            </a:endParaRPr>
          </a:p>
          <a:p>
            <a:pPr marL="123825">
              <a:lnSpc>
                <a:spcPct val="100000"/>
              </a:lnSpc>
            </a:pPr>
            <a:r>
              <a:rPr sz="800" spc="-10" dirty="0">
                <a:latin typeface="Consolas"/>
                <a:cs typeface="Consolas"/>
              </a:rPr>
              <a:t>Args:</a:t>
            </a:r>
            <a:endParaRPr sz="800">
              <a:latin typeface="Consolas"/>
              <a:cs typeface="Consolas"/>
            </a:endParaRPr>
          </a:p>
          <a:p>
            <a:pPr marL="234950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query:</a:t>
            </a:r>
            <a:r>
              <a:rPr sz="800" spc="-35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대표</a:t>
            </a:r>
            <a:r>
              <a:rPr sz="800" spc="160" dirty="0">
                <a:latin typeface="맑은 고딕"/>
                <a:cs typeface="맑은 고딕"/>
              </a:rPr>
              <a:t> </a:t>
            </a:r>
            <a:r>
              <a:rPr sz="800" spc="-25" dirty="0">
                <a:latin typeface="맑은 고딕"/>
                <a:cs typeface="맑은 고딕"/>
              </a:rPr>
              <a:t>메뉴</a:t>
            </a:r>
            <a:endParaRPr sz="8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---</a:t>
            </a:r>
            <a:r>
              <a:rPr sz="800" dirty="0">
                <a:latin typeface="맑은 고딕"/>
                <a:cs typeface="맑은 고딕"/>
              </a:rPr>
              <a:t>결정</a:t>
            </a:r>
            <a:r>
              <a:rPr sz="800" dirty="0">
                <a:latin typeface="Consolas"/>
                <a:cs typeface="Consolas"/>
              </a:rPr>
              <a:t>:</a:t>
            </a:r>
            <a:r>
              <a:rPr sz="800" spc="-25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문서</a:t>
            </a:r>
            <a:r>
              <a:rPr sz="800" spc="14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관련성</a:t>
            </a:r>
            <a:r>
              <a:rPr sz="800" spc="16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있음</a:t>
            </a:r>
            <a:r>
              <a:rPr sz="800" dirty="0">
                <a:latin typeface="Consolas"/>
                <a:cs typeface="Consolas"/>
              </a:rPr>
              <a:t>--</a:t>
            </a:r>
            <a:r>
              <a:rPr sz="800" spc="-50" dirty="0">
                <a:latin typeface="Consolas"/>
                <a:cs typeface="Consolas"/>
              </a:rPr>
              <a:t>-</a:t>
            </a: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=================================</a:t>
            </a:r>
            <a:r>
              <a:rPr sz="800" spc="-20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Tool</a:t>
            </a:r>
            <a:r>
              <a:rPr sz="800" b="1" spc="-30" dirty="0">
                <a:latin typeface="Consolas"/>
                <a:cs typeface="Consolas"/>
              </a:rPr>
              <a:t> </a:t>
            </a:r>
            <a:r>
              <a:rPr sz="800" b="1" dirty="0">
                <a:latin typeface="Consolas"/>
                <a:cs typeface="Consolas"/>
              </a:rPr>
              <a:t>Message</a:t>
            </a:r>
            <a:r>
              <a:rPr sz="800" b="1" spc="-2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=================================</a:t>
            </a:r>
            <a:endParaRPr sz="800">
              <a:latin typeface="Consolas"/>
              <a:cs typeface="Consolas"/>
            </a:endParaRPr>
          </a:p>
          <a:p>
            <a:pPr marL="12700" marR="74930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Name:</a:t>
            </a:r>
            <a:r>
              <a:rPr sz="800" spc="-2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search_menu</a:t>
            </a:r>
            <a:r>
              <a:rPr sz="800" spc="-4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[Document(metadata={'menu_name':</a:t>
            </a:r>
            <a:r>
              <a:rPr sz="800" spc="-3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'</a:t>
            </a:r>
            <a:r>
              <a:rPr sz="800" dirty="0">
                <a:latin typeface="맑은 고딕"/>
                <a:cs typeface="맑은 고딕"/>
              </a:rPr>
              <a:t>시그니처</a:t>
            </a:r>
            <a:r>
              <a:rPr sz="800" spc="14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스테이크</a:t>
            </a:r>
            <a:r>
              <a:rPr sz="800" dirty="0">
                <a:latin typeface="Consolas"/>
                <a:cs typeface="Consolas"/>
              </a:rPr>
              <a:t>',</a:t>
            </a:r>
            <a:r>
              <a:rPr sz="800" spc="-2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'menu_number':</a:t>
            </a:r>
            <a:r>
              <a:rPr sz="800" spc="-35" dirty="0">
                <a:latin typeface="Consolas"/>
                <a:cs typeface="Consolas"/>
              </a:rPr>
              <a:t> </a:t>
            </a:r>
            <a:r>
              <a:rPr sz="800" spc="-25" dirty="0">
                <a:latin typeface="Consolas"/>
                <a:cs typeface="Consolas"/>
              </a:rPr>
              <a:t>1, </a:t>
            </a:r>
            <a:r>
              <a:rPr sz="800" dirty="0">
                <a:latin typeface="Consolas"/>
                <a:cs typeface="Consolas"/>
              </a:rPr>
              <a:t>'source':</a:t>
            </a:r>
            <a:r>
              <a:rPr sz="800" spc="-4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'./data/restaurant_menu.txt'},</a:t>
            </a:r>
            <a:r>
              <a:rPr sz="800" spc="-3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page_content='1.</a:t>
            </a:r>
            <a:r>
              <a:rPr sz="800" spc="-35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시그니처</a:t>
            </a:r>
            <a:r>
              <a:rPr sz="800" spc="14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스테이크</a:t>
            </a:r>
            <a:r>
              <a:rPr sz="800" dirty="0">
                <a:latin typeface="Consolas"/>
                <a:cs typeface="Consolas"/>
              </a:rPr>
              <a:t>\n</a:t>
            </a:r>
            <a:r>
              <a:rPr sz="800" spc="-2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• </a:t>
            </a:r>
            <a:r>
              <a:rPr sz="800" spc="-25" dirty="0">
                <a:latin typeface="맑은 고딕"/>
                <a:cs typeface="맑은 고딕"/>
              </a:rPr>
              <a:t>가격</a:t>
            </a:r>
            <a:r>
              <a:rPr sz="800" spc="-25" dirty="0">
                <a:latin typeface="Consolas"/>
                <a:cs typeface="Consolas"/>
              </a:rPr>
              <a:t>:</a:t>
            </a:r>
            <a:endParaRPr sz="8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</a:pPr>
            <a:r>
              <a:rPr sz="800" dirty="0">
                <a:latin typeface="Consolas"/>
                <a:cs typeface="Consolas"/>
              </a:rPr>
              <a:t>₩35,000\n</a:t>
            </a:r>
            <a:r>
              <a:rPr sz="800" spc="-4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•</a:t>
            </a:r>
            <a:r>
              <a:rPr sz="800" spc="-15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주요</a:t>
            </a:r>
            <a:r>
              <a:rPr sz="800" spc="15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식재료</a:t>
            </a:r>
            <a:r>
              <a:rPr sz="800" dirty="0">
                <a:latin typeface="Consolas"/>
                <a:cs typeface="Consolas"/>
              </a:rPr>
              <a:t>…</a:t>
            </a:r>
            <a:r>
              <a:rPr sz="800" spc="-15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제공되어</a:t>
            </a:r>
            <a:r>
              <a:rPr sz="800" spc="15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풍부한</a:t>
            </a:r>
            <a:r>
              <a:rPr sz="800" spc="15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맛을</a:t>
            </a:r>
            <a:r>
              <a:rPr sz="800" spc="15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더합니다</a:t>
            </a:r>
            <a:r>
              <a:rPr sz="800" dirty="0">
                <a:latin typeface="Consolas"/>
                <a:cs typeface="Consolas"/>
              </a:rPr>
              <a:t>.'),</a:t>
            </a:r>
            <a:r>
              <a:rPr sz="800" spc="-40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Document(metadata={'menu_name':</a:t>
            </a:r>
            <a:r>
              <a:rPr sz="800" spc="-40" dirty="0">
                <a:latin typeface="Consolas"/>
                <a:cs typeface="Consolas"/>
              </a:rPr>
              <a:t> </a:t>
            </a:r>
            <a:r>
              <a:rPr sz="800" spc="-50" dirty="0">
                <a:latin typeface="Consolas"/>
                <a:cs typeface="Consolas"/>
              </a:rPr>
              <a:t>' </a:t>
            </a:r>
            <a:r>
              <a:rPr sz="800" dirty="0">
                <a:latin typeface="맑은 고딕"/>
                <a:cs typeface="맑은 고딕"/>
              </a:rPr>
              <a:t>안심</a:t>
            </a:r>
            <a:r>
              <a:rPr sz="800" spc="15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스테이크</a:t>
            </a:r>
            <a:r>
              <a:rPr sz="800" spc="14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샐러드</a:t>
            </a:r>
            <a:r>
              <a:rPr sz="800" dirty="0">
                <a:latin typeface="Consolas"/>
                <a:cs typeface="Consolas"/>
              </a:rPr>
              <a:t>',</a:t>
            </a:r>
            <a:r>
              <a:rPr sz="800" spc="-2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'menu_number':</a:t>
            </a:r>
            <a:r>
              <a:rPr sz="800" spc="-3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8, 'source':</a:t>
            </a:r>
            <a:r>
              <a:rPr sz="800" spc="-40" dirty="0">
                <a:latin typeface="Consolas"/>
                <a:cs typeface="Consolas"/>
              </a:rPr>
              <a:t> </a:t>
            </a:r>
            <a:r>
              <a:rPr sz="800" spc="-10" dirty="0">
                <a:latin typeface="Consolas"/>
                <a:cs typeface="Consolas"/>
              </a:rPr>
              <a:t>'./data/restaurant_menu.txt'}, </a:t>
            </a:r>
            <a:r>
              <a:rPr sz="800" dirty="0">
                <a:latin typeface="Consolas"/>
                <a:cs typeface="Consolas"/>
              </a:rPr>
              <a:t>page_content='8.</a:t>
            </a:r>
            <a:r>
              <a:rPr sz="800" spc="-40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안심</a:t>
            </a:r>
            <a:r>
              <a:rPr sz="800" spc="15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스테이크</a:t>
            </a:r>
            <a:r>
              <a:rPr sz="800" spc="14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샐러드</a:t>
            </a:r>
            <a:r>
              <a:rPr sz="800" dirty="0">
                <a:latin typeface="Consolas"/>
                <a:cs typeface="Consolas"/>
              </a:rPr>
              <a:t>\n</a:t>
            </a:r>
            <a:r>
              <a:rPr sz="800" spc="-2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•</a:t>
            </a:r>
            <a:r>
              <a:rPr sz="800" spc="-5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가격</a:t>
            </a:r>
            <a:r>
              <a:rPr sz="800" dirty="0">
                <a:latin typeface="Consolas"/>
                <a:cs typeface="Consolas"/>
              </a:rPr>
              <a:t>:</a:t>
            </a:r>
            <a:r>
              <a:rPr sz="800" spc="-1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₩26,000\n</a:t>
            </a:r>
            <a:r>
              <a:rPr sz="800" spc="-3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•</a:t>
            </a:r>
            <a:r>
              <a:rPr sz="800" spc="-5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주요</a:t>
            </a:r>
            <a:r>
              <a:rPr sz="800" spc="15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식재료</a:t>
            </a:r>
            <a:r>
              <a:rPr sz="800" dirty="0">
                <a:latin typeface="Consolas"/>
                <a:cs typeface="Consolas"/>
              </a:rPr>
              <a:t>:</a:t>
            </a:r>
            <a:r>
              <a:rPr sz="800" spc="-25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소고기</a:t>
            </a:r>
            <a:r>
              <a:rPr sz="800" spc="16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안심</a:t>
            </a:r>
            <a:r>
              <a:rPr sz="800" dirty="0">
                <a:latin typeface="Consolas"/>
                <a:cs typeface="Consolas"/>
              </a:rPr>
              <a:t>,</a:t>
            </a:r>
            <a:r>
              <a:rPr sz="800" spc="-10" dirty="0">
                <a:latin typeface="Consolas"/>
                <a:cs typeface="Consolas"/>
              </a:rPr>
              <a:t> </a:t>
            </a:r>
            <a:r>
              <a:rPr sz="800" spc="-20" dirty="0">
                <a:latin typeface="맑은 고딕"/>
                <a:cs typeface="맑은 고딕"/>
              </a:rPr>
              <a:t>루꼴라</a:t>
            </a:r>
            <a:r>
              <a:rPr sz="800" spc="-20" dirty="0">
                <a:latin typeface="Consolas"/>
                <a:cs typeface="Consolas"/>
              </a:rPr>
              <a:t>, </a:t>
            </a:r>
            <a:r>
              <a:rPr sz="800" dirty="0">
                <a:latin typeface="맑은 고딕"/>
                <a:cs typeface="맑은 고딕"/>
              </a:rPr>
              <a:t>체리</a:t>
            </a:r>
            <a:r>
              <a:rPr sz="800" spc="150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토마토</a:t>
            </a:r>
            <a:r>
              <a:rPr sz="800" dirty="0">
                <a:latin typeface="Consolas"/>
                <a:cs typeface="Consolas"/>
              </a:rPr>
              <a:t>,</a:t>
            </a:r>
            <a:r>
              <a:rPr sz="800" spc="-15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발사믹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글레이즈</a:t>
            </a:r>
            <a:r>
              <a:rPr sz="800" dirty="0">
                <a:latin typeface="Consolas"/>
                <a:cs typeface="Consolas"/>
              </a:rPr>
              <a:t>\n</a:t>
            </a:r>
            <a:r>
              <a:rPr sz="800" spc="-2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•</a:t>
            </a:r>
            <a:r>
              <a:rPr sz="800" spc="-5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설명</a:t>
            </a:r>
            <a:r>
              <a:rPr sz="800" dirty="0">
                <a:latin typeface="Consolas"/>
                <a:cs typeface="Consolas"/>
              </a:rPr>
              <a:t>:</a:t>
            </a:r>
            <a:r>
              <a:rPr sz="800" spc="-15" dirty="0">
                <a:latin typeface="Consolas"/>
                <a:cs typeface="Consolas"/>
              </a:rPr>
              <a:t> </a:t>
            </a:r>
            <a:r>
              <a:rPr sz="800" dirty="0">
                <a:latin typeface="Consolas"/>
                <a:cs typeface="Consolas"/>
              </a:rPr>
              <a:t>…</a:t>
            </a:r>
            <a:r>
              <a:rPr sz="800" spc="-10" dirty="0">
                <a:latin typeface="Consolas"/>
                <a:cs typeface="Consolas"/>
              </a:rPr>
              <a:t> </a:t>
            </a:r>
            <a:r>
              <a:rPr sz="800" dirty="0">
                <a:latin typeface="맑은 고딕"/>
                <a:cs typeface="맑은 고딕"/>
              </a:rPr>
              <a:t>고기의</a:t>
            </a:r>
            <a:r>
              <a:rPr sz="800" spc="15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풍미를</a:t>
            </a:r>
            <a:r>
              <a:rPr sz="800" spc="135" dirty="0">
                <a:latin typeface="맑은 고딕"/>
                <a:cs typeface="맑은 고딕"/>
              </a:rPr>
              <a:t> </a:t>
            </a:r>
            <a:r>
              <a:rPr sz="800" dirty="0">
                <a:latin typeface="맑은 고딕"/>
                <a:cs typeface="맑은 고딕"/>
              </a:rPr>
              <a:t>한층</a:t>
            </a:r>
            <a:r>
              <a:rPr sz="800" spc="155" dirty="0">
                <a:latin typeface="맑은 고딕"/>
                <a:cs typeface="맑은 고딕"/>
              </a:rPr>
              <a:t> </a:t>
            </a:r>
            <a:r>
              <a:rPr sz="800" spc="-10" dirty="0">
                <a:latin typeface="맑은 고딕"/>
                <a:cs typeface="맑은 고딕"/>
              </a:rPr>
              <a:t>끌어올렸습니다</a:t>
            </a:r>
            <a:r>
              <a:rPr sz="800" spc="-10" dirty="0">
                <a:latin typeface="Consolas"/>
                <a:cs typeface="Consolas"/>
              </a:rPr>
              <a:t>.')]</a:t>
            </a:r>
            <a:endParaRPr sz="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Human-</a:t>
            </a:r>
            <a:r>
              <a:rPr dirty="0"/>
              <a:t>in-</a:t>
            </a:r>
            <a:r>
              <a:rPr spc="-10" dirty="0"/>
              <a:t>the-</a:t>
            </a:r>
            <a:r>
              <a:rPr dirty="0"/>
              <a:t>Loop</a:t>
            </a:r>
            <a:r>
              <a:rPr spc="15" dirty="0"/>
              <a:t> </a:t>
            </a:r>
            <a:r>
              <a:rPr spc="-10" dirty="0"/>
              <a:t>(HITL)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5551" y="659638"/>
            <a:ext cx="2101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맑은 고딕"/>
                <a:cs typeface="맑은 고딕"/>
              </a:rPr>
              <a:t>Human-in-the-</a:t>
            </a:r>
            <a:r>
              <a:rPr sz="1800" spc="-20" dirty="0">
                <a:solidFill>
                  <a:srgbClr val="FFFFFF"/>
                </a:solidFill>
                <a:latin typeface="맑은 고딕"/>
                <a:cs typeface="맑은 고딕"/>
              </a:rPr>
              <a:t>Loop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0748" y="1890141"/>
            <a:ext cx="5501005" cy="4596765"/>
          </a:xfrm>
          <a:custGeom>
            <a:avLst/>
            <a:gdLst/>
            <a:ahLst/>
            <a:cxnLst/>
            <a:rect l="l" t="t" r="r" b="b"/>
            <a:pathLst>
              <a:path w="5501005" h="4596765">
                <a:moveTo>
                  <a:pt x="0" y="252857"/>
                </a:moveTo>
                <a:lnTo>
                  <a:pt x="4073" y="207425"/>
                </a:lnTo>
                <a:lnTo>
                  <a:pt x="15817" y="164657"/>
                </a:lnTo>
                <a:lnTo>
                  <a:pt x="34519" y="125269"/>
                </a:lnTo>
                <a:lnTo>
                  <a:pt x="59463" y="89975"/>
                </a:lnTo>
                <a:lnTo>
                  <a:pt x="89936" y="59493"/>
                </a:lnTo>
                <a:lnTo>
                  <a:pt x="125225" y="34539"/>
                </a:lnTo>
                <a:lnTo>
                  <a:pt x="164615" y="15828"/>
                </a:lnTo>
                <a:lnTo>
                  <a:pt x="207393" y="4076"/>
                </a:lnTo>
                <a:lnTo>
                  <a:pt x="252844" y="0"/>
                </a:lnTo>
                <a:lnTo>
                  <a:pt x="5248033" y="0"/>
                </a:lnTo>
                <a:lnTo>
                  <a:pt x="5293498" y="4076"/>
                </a:lnTo>
                <a:lnTo>
                  <a:pt x="5336284" y="15828"/>
                </a:lnTo>
                <a:lnTo>
                  <a:pt x="5375678" y="34539"/>
                </a:lnTo>
                <a:lnTo>
                  <a:pt x="5410967" y="59493"/>
                </a:lnTo>
                <a:lnTo>
                  <a:pt x="5441438" y="89975"/>
                </a:lnTo>
                <a:lnTo>
                  <a:pt x="5466379" y="125269"/>
                </a:lnTo>
                <a:lnTo>
                  <a:pt x="5485077" y="164657"/>
                </a:lnTo>
                <a:lnTo>
                  <a:pt x="5496818" y="207425"/>
                </a:lnTo>
                <a:lnTo>
                  <a:pt x="5500890" y="252857"/>
                </a:lnTo>
                <a:lnTo>
                  <a:pt x="5500890" y="4343717"/>
                </a:lnTo>
                <a:lnTo>
                  <a:pt x="5496818" y="4389168"/>
                </a:lnTo>
                <a:lnTo>
                  <a:pt x="5485077" y="4431947"/>
                </a:lnTo>
                <a:lnTo>
                  <a:pt x="5466379" y="4471339"/>
                </a:lnTo>
                <a:lnTo>
                  <a:pt x="5441438" y="4506630"/>
                </a:lnTo>
                <a:lnTo>
                  <a:pt x="5410967" y="4537105"/>
                </a:lnTo>
                <a:lnTo>
                  <a:pt x="5375678" y="4562052"/>
                </a:lnTo>
                <a:lnTo>
                  <a:pt x="5336284" y="4580755"/>
                </a:lnTo>
                <a:lnTo>
                  <a:pt x="5293498" y="4592500"/>
                </a:lnTo>
                <a:lnTo>
                  <a:pt x="5248033" y="4596574"/>
                </a:lnTo>
                <a:lnTo>
                  <a:pt x="252844" y="4596574"/>
                </a:lnTo>
                <a:lnTo>
                  <a:pt x="207393" y="4592500"/>
                </a:lnTo>
                <a:lnTo>
                  <a:pt x="164615" y="4580755"/>
                </a:lnTo>
                <a:lnTo>
                  <a:pt x="125225" y="4562052"/>
                </a:lnTo>
                <a:lnTo>
                  <a:pt x="89936" y="4537105"/>
                </a:lnTo>
                <a:lnTo>
                  <a:pt x="59463" y="4506630"/>
                </a:lnTo>
                <a:lnTo>
                  <a:pt x="34519" y="4471339"/>
                </a:lnTo>
                <a:lnTo>
                  <a:pt x="15817" y="4431947"/>
                </a:lnTo>
                <a:lnTo>
                  <a:pt x="4073" y="4389168"/>
                </a:lnTo>
                <a:lnTo>
                  <a:pt x="0" y="4343717"/>
                </a:lnTo>
                <a:lnTo>
                  <a:pt x="0" y="252857"/>
                </a:lnTo>
                <a:close/>
              </a:path>
            </a:pathLst>
          </a:custGeom>
          <a:ln w="95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78560" y="1981844"/>
            <a:ext cx="4776470" cy="136715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400" b="1" dirty="0">
                <a:latin typeface="맑은 고딕"/>
                <a:cs typeface="맑은 고딕"/>
              </a:rPr>
              <a:t>그래프</a:t>
            </a:r>
            <a:r>
              <a:rPr sz="1400" b="1" spc="-25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상태</a:t>
            </a:r>
            <a:r>
              <a:rPr sz="1400" b="1" spc="-20" dirty="0">
                <a:latin typeface="맑은 고딕"/>
                <a:cs typeface="맑은 고딕"/>
              </a:rPr>
              <a:t> 업데이트</a:t>
            </a:r>
            <a:endParaRPr sz="1400">
              <a:latin typeface="맑은 고딕"/>
              <a:cs typeface="맑은 고딕"/>
            </a:endParaRPr>
          </a:p>
          <a:p>
            <a:pPr marL="186055" indent="-173355">
              <a:lnSpc>
                <a:spcPct val="100000"/>
              </a:lnSpc>
              <a:spcBef>
                <a:spcPts val="445"/>
              </a:spcBef>
              <a:buFont typeface="Arial"/>
              <a:buChar char="•"/>
              <a:tabLst>
                <a:tab pos="186055" algn="l"/>
              </a:tabLst>
            </a:pPr>
            <a:r>
              <a:rPr sz="1200" spc="-10" dirty="0">
                <a:latin typeface="맑은 고딕"/>
                <a:cs typeface="맑은 고딕"/>
              </a:rPr>
              <a:t>graph.update_state()</a:t>
            </a:r>
            <a:r>
              <a:rPr sz="1200" spc="4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메서드를 사용하여</a:t>
            </a:r>
            <a:r>
              <a:rPr sz="1200" spc="2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그래프의 상태를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spc="-20" dirty="0">
                <a:latin typeface="맑은 고딕"/>
                <a:cs typeface="맑은 고딕"/>
              </a:rPr>
              <a:t>업데이트</a:t>
            </a:r>
            <a:endParaRPr sz="1200">
              <a:latin typeface="맑은 고딕"/>
              <a:cs typeface="맑은 고딕"/>
            </a:endParaRPr>
          </a:p>
          <a:p>
            <a:pPr marL="186055" indent="-17335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186055" algn="l"/>
              </a:tabLst>
            </a:pPr>
            <a:r>
              <a:rPr sz="1200" dirty="0">
                <a:latin typeface="맑은 고딕"/>
                <a:cs typeface="맑은 고딕"/>
              </a:rPr>
              <a:t>thread는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이전에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정의한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스레드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설정</a:t>
            </a:r>
            <a:endParaRPr sz="1200">
              <a:latin typeface="맑은 고딕"/>
              <a:cs typeface="맑은 고딕"/>
            </a:endParaRPr>
          </a:p>
          <a:p>
            <a:pPr marL="186055" indent="-17335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186055" algn="l"/>
              </a:tabLst>
            </a:pPr>
            <a:r>
              <a:rPr sz="1200" dirty="0">
                <a:latin typeface="맑은 고딕"/>
                <a:cs typeface="맑은 고딕"/>
              </a:rPr>
              <a:t>{"num_generations":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2}는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업데이트할</a:t>
            </a:r>
            <a:r>
              <a:rPr sz="1200" spc="-3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상태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정보</a:t>
            </a:r>
            <a:endParaRPr sz="1200">
              <a:latin typeface="맑은 고딕"/>
              <a:cs typeface="맑은 고딕"/>
            </a:endParaRPr>
          </a:p>
          <a:p>
            <a:pPr marL="186055" indent="-17335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186055" algn="l"/>
              </a:tabLst>
            </a:pPr>
            <a:r>
              <a:rPr sz="1200" dirty="0">
                <a:latin typeface="맑은 고딕"/>
                <a:cs typeface="맑은 고딕"/>
              </a:rPr>
              <a:t>여기서는</a:t>
            </a:r>
            <a:r>
              <a:rPr sz="1200" spc="-3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num_generations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필드의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값을</a:t>
            </a:r>
            <a:r>
              <a:rPr sz="1200" spc="-2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2로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설정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11783" y="4171188"/>
            <a:ext cx="3071495" cy="149860"/>
          </a:xfrm>
          <a:custGeom>
            <a:avLst/>
            <a:gdLst/>
            <a:ahLst/>
            <a:cxnLst/>
            <a:rect l="l" t="t" r="r" b="b"/>
            <a:pathLst>
              <a:path w="3071495" h="149860">
                <a:moveTo>
                  <a:pt x="838200" y="0"/>
                </a:moveTo>
                <a:lnTo>
                  <a:pt x="0" y="0"/>
                </a:lnTo>
                <a:lnTo>
                  <a:pt x="0" y="149352"/>
                </a:lnTo>
                <a:lnTo>
                  <a:pt x="838200" y="149352"/>
                </a:lnTo>
                <a:lnTo>
                  <a:pt x="838200" y="0"/>
                </a:lnTo>
                <a:close/>
              </a:path>
              <a:path w="3071495" h="149860">
                <a:moveTo>
                  <a:pt x="2932214" y="0"/>
                </a:moveTo>
                <a:lnTo>
                  <a:pt x="2932214" y="0"/>
                </a:lnTo>
                <a:lnTo>
                  <a:pt x="838250" y="0"/>
                </a:lnTo>
                <a:lnTo>
                  <a:pt x="838250" y="149352"/>
                </a:lnTo>
                <a:lnTo>
                  <a:pt x="2932214" y="149352"/>
                </a:lnTo>
                <a:lnTo>
                  <a:pt x="2932214" y="0"/>
                </a:lnTo>
                <a:close/>
              </a:path>
              <a:path w="3071495" h="149860">
                <a:moveTo>
                  <a:pt x="3070910" y="0"/>
                </a:moveTo>
                <a:lnTo>
                  <a:pt x="2932226" y="0"/>
                </a:lnTo>
                <a:lnTo>
                  <a:pt x="2932226" y="149352"/>
                </a:lnTo>
                <a:lnTo>
                  <a:pt x="3070910" y="149352"/>
                </a:lnTo>
                <a:lnTo>
                  <a:pt x="307091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99719" y="3511321"/>
            <a:ext cx="5157470" cy="2092960"/>
          </a:xfrm>
          <a:prstGeom prst="rect">
            <a:avLst/>
          </a:prstGeom>
          <a:ln w="9525">
            <a:solidFill>
              <a:srgbClr val="A6A6A6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10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000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8000"/>
                </a:solidFill>
                <a:latin typeface="Consolas"/>
                <a:cs typeface="Consolas"/>
              </a:rPr>
              <a:t>num_generations</a:t>
            </a:r>
            <a:r>
              <a:rPr sz="1000" spc="-6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필드</a:t>
            </a:r>
            <a:r>
              <a:rPr sz="1000" spc="17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spc="-25" dirty="0">
                <a:solidFill>
                  <a:srgbClr val="008000"/>
                </a:solidFill>
                <a:latin typeface="맑은 고딕"/>
                <a:cs typeface="맑은 고딕"/>
              </a:rPr>
              <a:t>확인</a:t>
            </a:r>
            <a:endParaRPr sz="1000">
              <a:latin typeface="맑은 고딕"/>
              <a:cs typeface="맑은 고딕"/>
            </a:endParaRPr>
          </a:p>
          <a:p>
            <a:pPr marL="91440">
              <a:lnSpc>
                <a:spcPct val="100000"/>
              </a:lnSpc>
            </a:pPr>
            <a:r>
              <a:rPr sz="1000" spc="-10" dirty="0">
                <a:latin typeface="Consolas"/>
                <a:cs typeface="Consolas"/>
              </a:rPr>
              <a:t>current_state.values.get(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"num_generations"</a:t>
            </a:r>
            <a:r>
              <a:rPr sz="1000" spc="-10" dirty="0">
                <a:latin typeface="Consolas"/>
                <a:cs typeface="Consolas"/>
              </a:rPr>
              <a:t>,</a:t>
            </a:r>
            <a:r>
              <a:rPr sz="1000" spc="130" dirty="0">
                <a:latin typeface="Consolas"/>
                <a:cs typeface="Consolas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Consolas"/>
                <a:cs typeface="Consolas"/>
              </a:rPr>
              <a:t>None</a:t>
            </a:r>
            <a:r>
              <a:rPr sz="1000" spc="-10" dirty="0"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Consolas"/>
              <a:cs typeface="Consolas"/>
            </a:endParaRPr>
          </a:p>
          <a:p>
            <a:pPr marL="91440" marR="1564005">
              <a:lnSpc>
                <a:spcPct val="100000"/>
              </a:lnSpc>
            </a:pPr>
            <a:r>
              <a:rPr sz="10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000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상태</a:t>
            </a:r>
            <a:r>
              <a:rPr sz="1000" spc="16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업데이트</a:t>
            </a:r>
            <a:r>
              <a:rPr sz="1000" spc="17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dirty="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sz="1000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8000"/>
                </a:solidFill>
                <a:latin typeface="Consolas"/>
                <a:cs typeface="Consolas"/>
              </a:rPr>
              <a:t>num_generations</a:t>
            </a:r>
            <a:r>
              <a:rPr sz="1000" spc="-6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8000"/>
                </a:solidFill>
                <a:latin typeface="맑은 고딕"/>
                <a:cs typeface="맑은 고딕"/>
              </a:rPr>
              <a:t>필드값을</a:t>
            </a:r>
            <a:r>
              <a:rPr sz="1000" spc="19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1000" spc="-20" dirty="0">
                <a:solidFill>
                  <a:srgbClr val="008000"/>
                </a:solidFill>
                <a:latin typeface="맑은 고딕"/>
                <a:cs typeface="맑은 고딕"/>
              </a:rPr>
              <a:t>업데이트 </a:t>
            </a:r>
            <a:r>
              <a:rPr sz="1000" spc="-10" dirty="0">
                <a:latin typeface="Consolas"/>
                <a:cs typeface="Consolas"/>
              </a:rPr>
              <a:t>graph.update_state(thread,</a:t>
            </a:r>
            <a:r>
              <a:rPr sz="1000" spc="-1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{</a:t>
            </a:r>
            <a:r>
              <a:rPr sz="1000" dirty="0">
                <a:solidFill>
                  <a:srgbClr val="A21515"/>
                </a:solidFill>
                <a:latin typeface="Consolas"/>
                <a:cs typeface="Consolas"/>
              </a:rPr>
              <a:t>"num_generations"</a:t>
            </a:r>
            <a:r>
              <a:rPr sz="1000" dirty="0">
                <a:latin typeface="Consolas"/>
                <a:cs typeface="Consolas"/>
              </a:rPr>
              <a:t>:</a:t>
            </a:r>
            <a:r>
              <a:rPr sz="1000" spc="-5" dirty="0">
                <a:latin typeface="Consolas"/>
                <a:cs typeface="Consolas"/>
              </a:rPr>
              <a:t> </a:t>
            </a:r>
            <a:r>
              <a:rPr sz="1000" spc="-25" dirty="0">
                <a:solidFill>
                  <a:srgbClr val="098557"/>
                </a:solidFill>
                <a:latin typeface="Consolas"/>
                <a:cs typeface="Consolas"/>
              </a:rPr>
              <a:t>2</a:t>
            </a:r>
            <a:r>
              <a:rPr sz="1000" spc="-25" dirty="0">
                <a:latin typeface="Consolas"/>
                <a:cs typeface="Consolas"/>
              </a:rPr>
              <a:t>}) </a:t>
            </a:r>
            <a:r>
              <a:rPr sz="1000" dirty="0">
                <a:latin typeface="Consolas"/>
                <a:cs typeface="Consolas"/>
              </a:rPr>
              <a:t>new_state</a:t>
            </a:r>
            <a:r>
              <a:rPr sz="1000" spc="-3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=</a:t>
            </a:r>
            <a:r>
              <a:rPr sz="1000" spc="-2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graph.get_state(thread)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10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m</a:t>
            </a:r>
            <a:r>
              <a:rPr sz="1000" spc="-5" dirty="0"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10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new_state.values.get(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"messages"</a:t>
            </a:r>
            <a:r>
              <a:rPr sz="1000" spc="-10" dirty="0">
                <a:latin typeface="Consolas"/>
                <a:cs typeface="Consolas"/>
              </a:rPr>
              <a:t>):</a:t>
            </a:r>
            <a:endParaRPr sz="1000">
              <a:latin typeface="Consolas"/>
              <a:cs typeface="Consolas"/>
            </a:endParaRPr>
          </a:p>
          <a:p>
            <a:pPr marL="371475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latin typeface="Consolas"/>
                <a:cs typeface="Consolas"/>
              </a:rPr>
              <a:t>m.pretty_print()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nsolas"/>
              <a:cs typeface="Consolas"/>
            </a:endParaRPr>
          </a:p>
          <a:p>
            <a:pPr marL="91440" marR="4148454">
              <a:lnSpc>
                <a:spcPct val="100000"/>
              </a:lnSpc>
            </a:pPr>
            <a:r>
              <a:rPr sz="1000" spc="-10" dirty="0">
                <a:latin typeface="Consolas"/>
                <a:cs typeface="Consolas"/>
              </a:rPr>
              <a:t>print() print(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"-"</a:t>
            </a:r>
            <a:r>
              <a:rPr sz="1000" spc="-10" dirty="0">
                <a:latin typeface="Consolas"/>
                <a:cs typeface="Consolas"/>
              </a:rPr>
              <a:t>*</a:t>
            </a:r>
            <a:r>
              <a:rPr sz="1000" spc="-10" dirty="0">
                <a:solidFill>
                  <a:srgbClr val="098557"/>
                </a:solidFill>
                <a:latin typeface="Consolas"/>
                <a:cs typeface="Consolas"/>
              </a:rPr>
              <a:t>50</a:t>
            </a:r>
            <a:r>
              <a:rPr sz="1000" spc="-10" dirty="0">
                <a:latin typeface="Consolas"/>
                <a:cs typeface="Consolas"/>
              </a:rPr>
              <a:t>)</a:t>
            </a:r>
            <a:endParaRPr sz="10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000" spc="-10" dirty="0">
                <a:latin typeface="Consolas"/>
                <a:cs typeface="Consolas"/>
              </a:rPr>
              <a:t>print(new_state.values.get(</a:t>
            </a:r>
            <a:r>
              <a:rPr sz="1000" spc="-10" dirty="0">
                <a:solidFill>
                  <a:srgbClr val="A21515"/>
                </a:solidFill>
                <a:latin typeface="Consolas"/>
                <a:cs typeface="Consolas"/>
              </a:rPr>
              <a:t>"num_generations"</a:t>
            </a:r>
            <a:r>
              <a:rPr sz="1000" spc="-10" dirty="0">
                <a:latin typeface="Consolas"/>
                <a:cs typeface="Consolas"/>
              </a:rPr>
              <a:t>))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Self-</a:t>
            </a:r>
            <a:r>
              <a:rPr dirty="0"/>
              <a:t>RAG</a:t>
            </a:r>
            <a:r>
              <a:rPr spc="-55" dirty="0"/>
              <a:t> </a:t>
            </a:r>
            <a:r>
              <a:rPr spc="-25" dirty="0"/>
              <a:t>개요</a:t>
            </a:r>
          </a:p>
        </p:txBody>
      </p:sp>
      <p:sp>
        <p:nvSpPr>
          <p:cNvPr id="3" name="object 3"/>
          <p:cNvSpPr/>
          <p:nvPr/>
        </p:nvSpPr>
        <p:spPr>
          <a:xfrm>
            <a:off x="500748" y="1756282"/>
            <a:ext cx="10987405" cy="637540"/>
          </a:xfrm>
          <a:custGeom>
            <a:avLst/>
            <a:gdLst/>
            <a:ahLst/>
            <a:cxnLst/>
            <a:rect l="l" t="t" r="r" b="b"/>
            <a:pathLst>
              <a:path w="10987405" h="637539">
                <a:moveTo>
                  <a:pt x="10918456" y="0"/>
                </a:moveTo>
                <a:lnTo>
                  <a:pt x="68795" y="0"/>
                </a:lnTo>
                <a:lnTo>
                  <a:pt x="42015" y="5395"/>
                </a:lnTo>
                <a:lnTo>
                  <a:pt x="20148" y="20113"/>
                </a:lnTo>
                <a:lnTo>
                  <a:pt x="5405" y="41951"/>
                </a:lnTo>
                <a:lnTo>
                  <a:pt x="0" y="68706"/>
                </a:lnTo>
                <a:lnTo>
                  <a:pt x="0" y="568325"/>
                </a:lnTo>
                <a:lnTo>
                  <a:pt x="5405" y="595100"/>
                </a:lnTo>
                <a:lnTo>
                  <a:pt x="20148" y="616981"/>
                </a:lnTo>
                <a:lnTo>
                  <a:pt x="42015" y="631743"/>
                </a:lnTo>
                <a:lnTo>
                  <a:pt x="68795" y="637158"/>
                </a:lnTo>
                <a:lnTo>
                  <a:pt x="10918456" y="637158"/>
                </a:lnTo>
                <a:lnTo>
                  <a:pt x="10945285" y="631743"/>
                </a:lnTo>
                <a:lnTo>
                  <a:pt x="10967161" y="616981"/>
                </a:lnTo>
                <a:lnTo>
                  <a:pt x="10981893" y="595100"/>
                </a:lnTo>
                <a:lnTo>
                  <a:pt x="10987290" y="568325"/>
                </a:lnTo>
                <a:lnTo>
                  <a:pt x="10987290" y="68706"/>
                </a:lnTo>
                <a:lnTo>
                  <a:pt x="10981893" y="41951"/>
                </a:lnTo>
                <a:lnTo>
                  <a:pt x="10967161" y="20113"/>
                </a:lnTo>
                <a:lnTo>
                  <a:pt x="10945285" y="5395"/>
                </a:lnTo>
                <a:lnTo>
                  <a:pt x="10918456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426322" y="659638"/>
            <a:ext cx="929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맑은 고딕"/>
                <a:cs typeface="맑은 고딕"/>
              </a:rPr>
              <a:t>Self-</a:t>
            </a:r>
            <a:r>
              <a:rPr sz="1800" spc="-25" dirty="0">
                <a:solidFill>
                  <a:srgbClr val="FFFFFF"/>
                </a:solidFill>
                <a:latin typeface="맑은 고딕"/>
                <a:cs typeface="맑은 고딕"/>
              </a:rPr>
              <a:t>RAG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0748" y="2573654"/>
            <a:ext cx="10987405" cy="4036695"/>
          </a:xfrm>
          <a:custGeom>
            <a:avLst/>
            <a:gdLst/>
            <a:ahLst/>
            <a:cxnLst/>
            <a:rect l="l" t="t" r="r" b="b"/>
            <a:pathLst>
              <a:path w="10987405" h="4036695">
                <a:moveTo>
                  <a:pt x="0" y="221996"/>
                </a:moveTo>
                <a:lnTo>
                  <a:pt x="4510" y="177270"/>
                </a:lnTo>
                <a:lnTo>
                  <a:pt x="17447" y="135606"/>
                </a:lnTo>
                <a:lnTo>
                  <a:pt x="37918" y="97897"/>
                </a:lnTo>
                <a:lnTo>
                  <a:pt x="65030" y="65039"/>
                </a:lnTo>
                <a:lnTo>
                  <a:pt x="97890" y="37926"/>
                </a:lnTo>
                <a:lnTo>
                  <a:pt x="135606" y="17452"/>
                </a:lnTo>
                <a:lnTo>
                  <a:pt x="177285" y="4512"/>
                </a:lnTo>
                <a:lnTo>
                  <a:pt x="222034" y="0"/>
                </a:lnTo>
                <a:lnTo>
                  <a:pt x="10765294" y="0"/>
                </a:lnTo>
                <a:lnTo>
                  <a:pt x="10810020" y="4512"/>
                </a:lnTo>
                <a:lnTo>
                  <a:pt x="10851684" y="17452"/>
                </a:lnTo>
                <a:lnTo>
                  <a:pt x="10889392" y="37926"/>
                </a:lnTo>
                <a:lnTo>
                  <a:pt x="10922250" y="65039"/>
                </a:lnTo>
                <a:lnTo>
                  <a:pt x="10949364" y="97897"/>
                </a:lnTo>
                <a:lnTo>
                  <a:pt x="10969838" y="135606"/>
                </a:lnTo>
                <a:lnTo>
                  <a:pt x="10982778" y="177270"/>
                </a:lnTo>
                <a:lnTo>
                  <a:pt x="10987290" y="221996"/>
                </a:lnTo>
                <a:lnTo>
                  <a:pt x="10987290" y="3814267"/>
                </a:lnTo>
                <a:lnTo>
                  <a:pt x="10982778" y="3859016"/>
                </a:lnTo>
                <a:lnTo>
                  <a:pt x="10969838" y="3900695"/>
                </a:lnTo>
                <a:lnTo>
                  <a:pt x="10949364" y="3938410"/>
                </a:lnTo>
                <a:lnTo>
                  <a:pt x="10922250" y="3971270"/>
                </a:lnTo>
                <a:lnTo>
                  <a:pt x="10889392" y="3998382"/>
                </a:lnTo>
                <a:lnTo>
                  <a:pt x="10851684" y="4018853"/>
                </a:lnTo>
                <a:lnTo>
                  <a:pt x="10810020" y="4031790"/>
                </a:lnTo>
                <a:lnTo>
                  <a:pt x="10765294" y="4036301"/>
                </a:lnTo>
                <a:lnTo>
                  <a:pt x="222034" y="4036301"/>
                </a:lnTo>
                <a:lnTo>
                  <a:pt x="177285" y="4031790"/>
                </a:lnTo>
                <a:lnTo>
                  <a:pt x="135606" y="4018853"/>
                </a:lnTo>
                <a:lnTo>
                  <a:pt x="97890" y="3998382"/>
                </a:lnTo>
                <a:lnTo>
                  <a:pt x="65030" y="3971270"/>
                </a:lnTo>
                <a:lnTo>
                  <a:pt x="37918" y="3938410"/>
                </a:lnTo>
                <a:lnTo>
                  <a:pt x="17447" y="3900695"/>
                </a:lnTo>
                <a:lnTo>
                  <a:pt x="4510" y="3859016"/>
                </a:lnTo>
                <a:lnTo>
                  <a:pt x="0" y="3814267"/>
                </a:lnTo>
                <a:lnTo>
                  <a:pt x="0" y="221996"/>
                </a:lnTo>
                <a:close/>
              </a:path>
            </a:pathLst>
          </a:custGeom>
          <a:ln w="95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9643" y="1776221"/>
            <a:ext cx="9973945" cy="2302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253365" algn="l"/>
              </a:tabLst>
            </a:pPr>
            <a:r>
              <a:rPr sz="1800" spc="-10" dirty="0">
                <a:solidFill>
                  <a:srgbClr val="3C3929"/>
                </a:solidFill>
                <a:latin typeface="Calibri"/>
                <a:cs typeface="Calibri"/>
              </a:rPr>
              <a:t>Self-RAG</a:t>
            </a:r>
            <a:r>
              <a:rPr sz="1800" spc="-10" dirty="0">
                <a:solidFill>
                  <a:srgbClr val="3C3929"/>
                </a:solidFill>
                <a:latin typeface="맑은 고딕"/>
                <a:cs typeface="맑은 고딕"/>
              </a:rPr>
              <a:t>는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기존의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Calibri"/>
                <a:cs typeface="Calibri"/>
              </a:rPr>
              <a:t>RAG</a:t>
            </a:r>
            <a:r>
              <a:rPr sz="1800" spc="-5" dirty="0">
                <a:solidFill>
                  <a:srgbClr val="3C3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모델에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자기</a:t>
            </a:r>
            <a:r>
              <a:rPr sz="1800" spc="-21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spc="-10" dirty="0">
                <a:solidFill>
                  <a:srgbClr val="3C3929"/>
                </a:solidFill>
                <a:latin typeface="맑은 고딕"/>
                <a:cs typeface="맑은 고딕"/>
              </a:rPr>
              <a:t>반영</a:t>
            </a:r>
            <a:r>
              <a:rPr sz="1800" spc="-10" dirty="0">
                <a:solidFill>
                  <a:srgbClr val="3C3929"/>
                </a:solidFill>
                <a:latin typeface="Calibri"/>
                <a:cs typeface="Calibri"/>
              </a:rPr>
              <a:t>(self-reflection)</a:t>
            </a:r>
            <a:r>
              <a:rPr sz="1800" spc="25" dirty="0">
                <a:solidFill>
                  <a:srgbClr val="3C3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능력을</a:t>
            </a:r>
            <a:r>
              <a:rPr sz="1800" spc="-21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추가한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확장</a:t>
            </a:r>
            <a:r>
              <a:rPr sz="1800" spc="-21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3C3929"/>
                </a:solidFill>
                <a:latin typeface="맑은 고딕"/>
                <a:cs typeface="맑은 고딕"/>
              </a:rPr>
              <a:t>모델</a:t>
            </a:r>
            <a:endParaRPr sz="1800">
              <a:latin typeface="맑은 고딕"/>
              <a:cs typeface="맑은 고딕"/>
            </a:endParaRPr>
          </a:p>
          <a:p>
            <a:pPr marL="196850" indent="-184150">
              <a:lnSpc>
                <a:spcPct val="100000"/>
              </a:lnSpc>
              <a:buFont typeface="Arial"/>
              <a:buChar char="•"/>
              <a:tabLst>
                <a:tab pos="196850" algn="l"/>
              </a:tabLst>
            </a:pP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정보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검색</a:t>
            </a:r>
            <a:r>
              <a:rPr sz="1800" dirty="0">
                <a:solidFill>
                  <a:srgbClr val="3C3929"/>
                </a:solidFill>
                <a:latin typeface="Calibri"/>
                <a:cs typeface="Calibri"/>
              </a:rPr>
              <a:t>,</a:t>
            </a:r>
            <a:r>
              <a:rPr sz="1800" spc="-5" dirty="0">
                <a:solidFill>
                  <a:srgbClr val="3C3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생성</a:t>
            </a:r>
            <a:r>
              <a:rPr sz="1800" dirty="0">
                <a:solidFill>
                  <a:srgbClr val="3C3929"/>
                </a:solidFill>
                <a:latin typeface="Calibri"/>
                <a:cs typeface="Calibri"/>
              </a:rPr>
              <a:t>,</a:t>
            </a:r>
            <a:r>
              <a:rPr sz="1800" spc="5" dirty="0">
                <a:solidFill>
                  <a:srgbClr val="3C3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그리고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자체</a:t>
            </a:r>
            <a:r>
              <a:rPr sz="1800" spc="-21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평가를</a:t>
            </a:r>
            <a:r>
              <a:rPr sz="1800" spc="-229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통합하여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더</a:t>
            </a:r>
            <a:r>
              <a:rPr sz="1800" spc="-21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정확하고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관련성</a:t>
            </a:r>
            <a:r>
              <a:rPr sz="1800" spc="-21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높은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응답을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생성하는</a:t>
            </a:r>
            <a:r>
              <a:rPr sz="1800" spc="-220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것을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3C3929"/>
                </a:solidFill>
                <a:latin typeface="맑은 고딕"/>
                <a:cs typeface="맑은 고딕"/>
              </a:rPr>
              <a:t>목표</a:t>
            </a:r>
            <a:endParaRPr sz="1800">
              <a:latin typeface="맑은 고딕"/>
              <a:cs typeface="맑은 고딕"/>
            </a:endParaRPr>
          </a:p>
          <a:p>
            <a:pPr marL="262890">
              <a:lnSpc>
                <a:spcPct val="100000"/>
              </a:lnSpc>
              <a:spcBef>
                <a:spcPts val="3050"/>
              </a:spcBef>
            </a:pPr>
            <a:r>
              <a:rPr sz="1400" b="1" spc="-25" dirty="0">
                <a:latin typeface="맑은 고딕"/>
                <a:cs typeface="맑은 고딕"/>
              </a:rPr>
              <a:t>Self-</a:t>
            </a:r>
            <a:r>
              <a:rPr sz="1400" b="1" dirty="0">
                <a:latin typeface="맑은 고딕"/>
                <a:cs typeface="맑은 고딕"/>
              </a:rPr>
              <a:t>RAG</a:t>
            </a:r>
            <a:r>
              <a:rPr sz="1400" b="1" spc="-5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작동</a:t>
            </a:r>
            <a:r>
              <a:rPr sz="1400" b="1" spc="-10" dirty="0">
                <a:latin typeface="맑은 고딕"/>
                <a:cs typeface="맑은 고딕"/>
              </a:rPr>
              <a:t> </a:t>
            </a:r>
            <a:r>
              <a:rPr sz="1400" b="1" spc="-25" dirty="0">
                <a:latin typeface="맑은 고딕"/>
                <a:cs typeface="맑은 고딕"/>
              </a:rPr>
              <a:t>방식</a:t>
            </a:r>
            <a:endParaRPr sz="1400">
              <a:latin typeface="맑은 고딕"/>
              <a:cs typeface="맑은 고딕"/>
            </a:endParaRPr>
          </a:p>
          <a:p>
            <a:pPr marL="432434" lvl="1" indent="-169545">
              <a:lnSpc>
                <a:spcPct val="100000"/>
              </a:lnSpc>
              <a:spcBef>
                <a:spcPts val="1675"/>
              </a:spcBef>
              <a:buAutoNum type="arabicPeriod"/>
              <a:tabLst>
                <a:tab pos="432434" algn="l"/>
              </a:tabLst>
            </a:pPr>
            <a:r>
              <a:rPr sz="1200" dirty="0">
                <a:latin typeface="맑은 고딕"/>
                <a:cs typeface="맑은 고딕"/>
              </a:rPr>
              <a:t>초기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쿼리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처리: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사용자의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질문을 받아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관련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정보를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검색</a:t>
            </a:r>
            <a:endParaRPr sz="1200">
              <a:latin typeface="맑은 고딕"/>
              <a:cs typeface="맑은 고딕"/>
            </a:endParaRPr>
          </a:p>
          <a:p>
            <a:pPr marL="432434" lvl="1" indent="-169545">
              <a:lnSpc>
                <a:spcPct val="100000"/>
              </a:lnSpc>
              <a:buAutoNum type="arabicPeriod"/>
              <a:tabLst>
                <a:tab pos="432434" algn="l"/>
              </a:tabLst>
            </a:pPr>
            <a:r>
              <a:rPr sz="1200" dirty="0">
                <a:latin typeface="맑은 고딕"/>
                <a:cs typeface="맑은 고딕"/>
              </a:rPr>
              <a:t>초기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응답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생성: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검색된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정보를 바탕으로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첫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번째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응답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생성</a:t>
            </a:r>
            <a:endParaRPr sz="1200">
              <a:latin typeface="맑은 고딕"/>
              <a:cs typeface="맑은 고딕"/>
            </a:endParaRPr>
          </a:p>
          <a:p>
            <a:pPr marL="432434" lvl="1" indent="-169545">
              <a:lnSpc>
                <a:spcPct val="100000"/>
              </a:lnSpc>
              <a:buAutoNum type="arabicPeriod"/>
              <a:tabLst>
                <a:tab pos="432434" algn="l"/>
              </a:tabLst>
            </a:pPr>
            <a:r>
              <a:rPr sz="1200" dirty="0">
                <a:latin typeface="맑은 고딕"/>
                <a:cs typeface="맑은 고딕"/>
              </a:rPr>
              <a:t>자기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평가: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생성된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응답의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품질,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관련성,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정확성을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평가</a:t>
            </a:r>
            <a:endParaRPr sz="1200">
              <a:latin typeface="맑은 고딕"/>
              <a:cs typeface="맑은 고딕"/>
            </a:endParaRPr>
          </a:p>
          <a:p>
            <a:pPr marL="432434" lvl="1" indent="-169545">
              <a:lnSpc>
                <a:spcPct val="100000"/>
              </a:lnSpc>
              <a:buAutoNum type="arabicPeriod"/>
              <a:tabLst>
                <a:tab pos="432434" algn="l"/>
              </a:tabLst>
            </a:pPr>
            <a:r>
              <a:rPr sz="1200" dirty="0">
                <a:latin typeface="맑은 고딕"/>
                <a:cs typeface="맑은 고딕"/>
              </a:rPr>
              <a:t>개선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결정: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추가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정보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검색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또는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응답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재생성을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spc="-35" dirty="0">
                <a:latin typeface="맑은 고딕"/>
                <a:cs typeface="맑은 고딕"/>
              </a:rPr>
              <a:t>결정</a:t>
            </a:r>
            <a:endParaRPr sz="1200">
              <a:latin typeface="맑은 고딕"/>
              <a:cs typeface="맑은 고딕"/>
            </a:endParaRPr>
          </a:p>
          <a:p>
            <a:pPr marL="432434" lvl="1" indent="-169545">
              <a:lnSpc>
                <a:spcPct val="100000"/>
              </a:lnSpc>
              <a:buAutoNum type="arabicPeriod"/>
              <a:tabLst>
                <a:tab pos="432434" algn="l"/>
              </a:tabLst>
            </a:pPr>
            <a:r>
              <a:rPr sz="1200" dirty="0">
                <a:latin typeface="맑은 고딕"/>
                <a:cs typeface="맑은 고딕"/>
              </a:rPr>
              <a:t>반복: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만족스러운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결과를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얻을 때까지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이전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단계를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반복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9838" y="6396634"/>
            <a:ext cx="22155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맑은 고딕"/>
                <a:cs typeface="맑은 고딕"/>
              </a:rPr>
              <a:t>논문:</a:t>
            </a:r>
            <a:r>
              <a:rPr sz="1000" spc="-15" dirty="0">
                <a:latin typeface="맑은 고딕"/>
                <a:cs typeface="맑은 고딕"/>
              </a:rPr>
              <a:t> </a:t>
            </a:r>
            <a:r>
              <a:rPr sz="1000" spc="-10" dirty="0">
                <a:latin typeface="맑은 고딕"/>
                <a:cs typeface="맑은 고딕"/>
              </a:rPr>
              <a:t>https://arxiv.org/abs/2310.11511</a:t>
            </a:r>
            <a:endParaRPr sz="1000">
              <a:latin typeface="맑은 고딕"/>
              <a:cs typeface="맑은 고딕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2128" y="2939516"/>
            <a:ext cx="5154803" cy="330428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136" y="4415535"/>
            <a:ext cx="5237607" cy="188823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Self-</a:t>
            </a:r>
            <a:r>
              <a:rPr dirty="0"/>
              <a:t>RAG</a:t>
            </a:r>
            <a:r>
              <a:rPr spc="-45" dirty="0"/>
              <a:t> </a:t>
            </a:r>
            <a:r>
              <a:rPr dirty="0"/>
              <a:t>구현</a:t>
            </a:r>
            <a:r>
              <a:rPr spc="-20" dirty="0"/>
              <a:t> </a:t>
            </a:r>
            <a:r>
              <a:rPr spc="-25" dirty="0"/>
              <a:t>실습</a:t>
            </a:r>
          </a:p>
        </p:txBody>
      </p:sp>
      <p:sp>
        <p:nvSpPr>
          <p:cNvPr id="3" name="object 3"/>
          <p:cNvSpPr/>
          <p:nvPr/>
        </p:nvSpPr>
        <p:spPr>
          <a:xfrm>
            <a:off x="500748" y="1756282"/>
            <a:ext cx="10987405" cy="637540"/>
          </a:xfrm>
          <a:custGeom>
            <a:avLst/>
            <a:gdLst/>
            <a:ahLst/>
            <a:cxnLst/>
            <a:rect l="l" t="t" r="r" b="b"/>
            <a:pathLst>
              <a:path w="10987405" h="637539">
                <a:moveTo>
                  <a:pt x="10918456" y="0"/>
                </a:moveTo>
                <a:lnTo>
                  <a:pt x="68795" y="0"/>
                </a:lnTo>
                <a:lnTo>
                  <a:pt x="42015" y="5395"/>
                </a:lnTo>
                <a:lnTo>
                  <a:pt x="20148" y="20113"/>
                </a:lnTo>
                <a:lnTo>
                  <a:pt x="5405" y="41951"/>
                </a:lnTo>
                <a:lnTo>
                  <a:pt x="0" y="68706"/>
                </a:lnTo>
                <a:lnTo>
                  <a:pt x="0" y="568325"/>
                </a:lnTo>
                <a:lnTo>
                  <a:pt x="5405" y="595100"/>
                </a:lnTo>
                <a:lnTo>
                  <a:pt x="20148" y="616981"/>
                </a:lnTo>
                <a:lnTo>
                  <a:pt x="42015" y="631743"/>
                </a:lnTo>
                <a:lnTo>
                  <a:pt x="68795" y="637158"/>
                </a:lnTo>
                <a:lnTo>
                  <a:pt x="10918456" y="637158"/>
                </a:lnTo>
                <a:lnTo>
                  <a:pt x="10945285" y="631743"/>
                </a:lnTo>
                <a:lnTo>
                  <a:pt x="10967161" y="616981"/>
                </a:lnTo>
                <a:lnTo>
                  <a:pt x="10981893" y="595100"/>
                </a:lnTo>
                <a:lnTo>
                  <a:pt x="10987290" y="568325"/>
                </a:lnTo>
                <a:lnTo>
                  <a:pt x="10987290" y="68706"/>
                </a:lnTo>
                <a:lnTo>
                  <a:pt x="10981893" y="41951"/>
                </a:lnTo>
                <a:lnTo>
                  <a:pt x="10967161" y="20113"/>
                </a:lnTo>
                <a:lnTo>
                  <a:pt x="10945285" y="5395"/>
                </a:lnTo>
                <a:lnTo>
                  <a:pt x="10918456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9643" y="1913382"/>
            <a:ext cx="7916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검색</a:t>
            </a:r>
            <a:r>
              <a:rPr sz="1800" dirty="0">
                <a:solidFill>
                  <a:srgbClr val="3C3929"/>
                </a:solidFill>
                <a:latin typeface="Calibri"/>
                <a:cs typeface="Calibri"/>
              </a:rPr>
              <a:t>,</a:t>
            </a:r>
            <a:r>
              <a:rPr sz="1800" spc="-5" dirty="0">
                <a:solidFill>
                  <a:srgbClr val="3C3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생성</a:t>
            </a:r>
            <a:r>
              <a:rPr sz="1800" dirty="0">
                <a:solidFill>
                  <a:srgbClr val="3C3929"/>
                </a:solidFill>
                <a:latin typeface="Calibri"/>
                <a:cs typeface="Calibri"/>
              </a:rPr>
              <a:t>,</a:t>
            </a:r>
            <a:r>
              <a:rPr sz="1800" spc="5" dirty="0">
                <a:solidFill>
                  <a:srgbClr val="3C3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평가</a:t>
            </a:r>
            <a:r>
              <a:rPr sz="1800" dirty="0">
                <a:solidFill>
                  <a:srgbClr val="3C3929"/>
                </a:solidFill>
                <a:latin typeface="Calibri"/>
                <a:cs typeface="Calibri"/>
              </a:rPr>
              <a:t>,</a:t>
            </a:r>
            <a:r>
              <a:rPr sz="1800" spc="5" dirty="0">
                <a:solidFill>
                  <a:srgbClr val="3C3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개선의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과정을</a:t>
            </a:r>
            <a:r>
              <a:rPr sz="1800" spc="-21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반복적으로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수행하는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지능적인</a:t>
            </a:r>
            <a:r>
              <a:rPr sz="1800" spc="-220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시스템을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3C3929"/>
                </a:solidFill>
                <a:latin typeface="맑은 고딕"/>
                <a:cs typeface="맑은 고딕"/>
              </a:rPr>
              <a:t>구현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6322" y="659638"/>
            <a:ext cx="929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맑은 고딕"/>
                <a:cs typeface="맑은 고딕"/>
              </a:rPr>
              <a:t>Self-</a:t>
            </a:r>
            <a:r>
              <a:rPr sz="1800" spc="-25" dirty="0">
                <a:solidFill>
                  <a:srgbClr val="FFFFFF"/>
                </a:solidFill>
                <a:latin typeface="맑은 고딕"/>
                <a:cs typeface="맑은 고딕"/>
              </a:rPr>
              <a:t>RAG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0748" y="2573654"/>
            <a:ext cx="10987405" cy="4036695"/>
          </a:xfrm>
          <a:custGeom>
            <a:avLst/>
            <a:gdLst/>
            <a:ahLst/>
            <a:cxnLst/>
            <a:rect l="l" t="t" r="r" b="b"/>
            <a:pathLst>
              <a:path w="10987405" h="4036695">
                <a:moveTo>
                  <a:pt x="0" y="221996"/>
                </a:moveTo>
                <a:lnTo>
                  <a:pt x="4510" y="177270"/>
                </a:lnTo>
                <a:lnTo>
                  <a:pt x="17447" y="135606"/>
                </a:lnTo>
                <a:lnTo>
                  <a:pt x="37918" y="97897"/>
                </a:lnTo>
                <a:lnTo>
                  <a:pt x="65030" y="65039"/>
                </a:lnTo>
                <a:lnTo>
                  <a:pt x="97890" y="37926"/>
                </a:lnTo>
                <a:lnTo>
                  <a:pt x="135606" y="17452"/>
                </a:lnTo>
                <a:lnTo>
                  <a:pt x="177285" y="4512"/>
                </a:lnTo>
                <a:lnTo>
                  <a:pt x="222034" y="0"/>
                </a:lnTo>
                <a:lnTo>
                  <a:pt x="10765294" y="0"/>
                </a:lnTo>
                <a:lnTo>
                  <a:pt x="10810020" y="4512"/>
                </a:lnTo>
                <a:lnTo>
                  <a:pt x="10851684" y="17452"/>
                </a:lnTo>
                <a:lnTo>
                  <a:pt x="10889392" y="37926"/>
                </a:lnTo>
                <a:lnTo>
                  <a:pt x="10922250" y="65039"/>
                </a:lnTo>
                <a:lnTo>
                  <a:pt x="10949364" y="97897"/>
                </a:lnTo>
                <a:lnTo>
                  <a:pt x="10969838" y="135606"/>
                </a:lnTo>
                <a:lnTo>
                  <a:pt x="10982778" y="177270"/>
                </a:lnTo>
                <a:lnTo>
                  <a:pt x="10987290" y="221996"/>
                </a:lnTo>
                <a:lnTo>
                  <a:pt x="10987290" y="3814267"/>
                </a:lnTo>
                <a:lnTo>
                  <a:pt x="10982778" y="3859016"/>
                </a:lnTo>
                <a:lnTo>
                  <a:pt x="10969838" y="3900695"/>
                </a:lnTo>
                <a:lnTo>
                  <a:pt x="10949364" y="3938410"/>
                </a:lnTo>
                <a:lnTo>
                  <a:pt x="10922250" y="3971270"/>
                </a:lnTo>
                <a:lnTo>
                  <a:pt x="10889392" y="3998382"/>
                </a:lnTo>
                <a:lnTo>
                  <a:pt x="10851684" y="4018853"/>
                </a:lnTo>
                <a:lnTo>
                  <a:pt x="10810020" y="4031790"/>
                </a:lnTo>
                <a:lnTo>
                  <a:pt x="10765294" y="4036301"/>
                </a:lnTo>
                <a:lnTo>
                  <a:pt x="222034" y="4036301"/>
                </a:lnTo>
                <a:lnTo>
                  <a:pt x="177285" y="4031790"/>
                </a:lnTo>
                <a:lnTo>
                  <a:pt x="135606" y="4018853"/>
                </a:lnTo>
                <a:lnTo>
                  <a:pt x="97890" y="3998382"/>
                </a:lnTo>
                <a:lnTo>
                  <a:pt x="65030" y="3971270"/>
                </a:lnTo>
                <a:lnTo>
                  <a:pt x="37918" y="3938410"/>
                </a:lnTo>
                <a:lnTo>
                  <a:pt x="17447" y="3900695"/>
                </a:lnTo>
                <a:lnTo>
                  <a:pt x="4510" y="3859016"/>
                </a:lnTo>
                <a:lnTo>
                  <a:pt x="0" y="3814267"/>
                </a:lnTo>
                <a:lnTo>
                  <a:pt x="0" y="221996"/>
                </a:lnTo>
                <a:close/>
              </a:path>
            </a:pathLst>
          </a:custGeom>
          <a:ln w="95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9883" y="2711576"/>
            <a:ext cx="3145790" cy="17329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latin typeface="맑은 고딕"/>
                <a:cs typeface="맑은 고딕"/>
              </a:rPr>
              <a:t>Self-</a:t>
            </a:r>
            <a:r>
              <a:rPr sz="1400" b="1" dirty="0">
                <a:latin typeface="맑은 고딕"/>
                <a:cs typeface="맑은 고딕"/>
              </a:rPr>
              <a:t>RAG</a:t>
            </a:r>
            <a:r>
              <a:rPr sz="1400" b="1" spc="-5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구현</a:t>
            </a:r>
            <a:r>
              <a:rPr sz="1400" b="1" spc="-10" dirty="0">
                <a:latin typeface="맑은 고딕"/>
                <a:cs typeface="맑은 고딕"/>
              </a:rPr>
              <a:t> </a:t>
            </a:r>
            <a:r>
              <a:rPr sz="1400" b="1" spc="-20" dirty="0">
                <a:latin typeface="맑은 고딕"/>
                <a:cs typeface="맑은 고딕"/>
              </a:rPr>
              <a:t>아이디어</a:t>
            </a:r>
            <a:endParaRPr sz="1400">
              <a:latin typeface="맑은 고딕"/>
              <a:cs typeface="맑은 고딕"/>
            </a:endParaRPr>
          </a:p>
          <a:p>
            <a:pPr marL="173990" marR="5080" indent="-161925">
              <a:lnSpc>
                <a:spcPct val="100000"/>
              </a:lnSpc>
              <a:spcBef>
                <a:spcPts val="1675"/>
              </a:spcBef>
              <a:buFont typeface=""/>
              <a:buAutoNum type="arabicPeriod"/>
              <a:tabLst>
                <a:tab pos="173990" algn="l"/>
                <a:tab pos="181610" algn="l"/>
              </a:tabLst>
            </a:pPr>
            <a:r>
              <a:rPr sz="1200" dirty="0">
                <a:latin typeface="맑은 고딕"/>
                <a:cs typeface="맑은 고딕"/>
              </a:rPr>
              <a:t>	</a:t>
            </a:r>
            <a:r>
              <a:rPr sz="1200" b="1" dirty="0">
                <a:latin typeface="맑은 고딕"/>
                <a:cs typeface="맑은 고딕"/>
              </a:rPr>
              <a:t>반복적</a:t>
            </a:r>
            <a:r>
              <a:rPr sz="1200" b="1" spc="10" dirty="0">
                <a:latin typeface="맑은 고딕"/>
                <a:cs typeface="맑은 고딕"/>
              </a:rPr>
              <a:t> </a:t>
            </a:r>
            <a:r>
              <a:rPr sz="1200" b="1" dirty="0">
                <a:latin typeface="맑은 고딕"/>
                <a:cs typeface="맑은 고딕"/>
              </a:rPr>
              <a:t>개선</a:t>
            </a:r>
            <a:r>
              <a:rPr sz="1200" dirty="0">
                <a:latin typeface="맑은 고딕"/>
                <a:cs typeface="맑은 고딕"/>
              </a:rPr>
              <a:t>: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문서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평가와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답변 생성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과정에 </a:t>
            </a:r>
            <a:r>
              <a:rPr sz="1200" dirty="0">
                <a:latin typeface="맑은 고딕"/>
                <a:cs typeface="맑은 고딕"/>
              </a:rPr>
              <a:t>조건부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분기를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통해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지속적으로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개선</a:t>
            </a:r>
            <a:endParaRPr sz="1200">
              <a:latin typeface="맑은 고딕"/>
              <a:cs typeface="맑은 고딕"/>
            </a:endParaRPr>
          </a:p>
          <a:p>
            <a:pPr marL="173990" marR="10795" indent="-161925">
              <a:lnSpc>
                <a:spcPct val="100000"/>
              </a:lnSpc>
              <a:buFont typeface=""/>
              <a:buAutoNum type="arabicPeriod"/>
              <a:tabLst>
                <a:tab pos="173990" algn="l"/>
                <a:tab pos="181610" algn="l"/>
              </a:tabLst>
            </a:pPr>
            <a:r>
              <a:rPr sz="1200" dirty="0">
                <a:latin typeface="맑은 고딕"/>
                <a:cs typeface="맑은 고딕"/>
              </a:rPr>
              <a:t>	</a:t>
            </a:r>
            <a:r>
              <a:rPr sz="1200" b="1" dirty="0">
                <a:latin typeface="맑은 고딕"/>
                <a:cs typeface="맑은 고딕"/>
              </a:rPr>
              <a:t>자기</a:t>
            </a:r>
            <a:r>
              <a:rPr sz="1200" b="1" spc="10" dirty="0">
                <a:latin typeface="맑은 고딕"/>
                <a:cs typeface="맑은 고딕"/>
              </a:rPr>
              <a:t> </a:t>
            </a:r>
            <a:r>
              <a:rPr sz="1200" b="1" dirty="0">
                <a:latin typeface="맑은 고딕"/>
                <a:cs typeface="맑은 고딕"/>
              </a:rPr>
              <a:t>평가</a:t>
            </a:r>
            <a:r>
              <a:rPr sz="1200" dirty="0">
                <a:latin typeface="맑은 고딕"/>
                <a:cs typeface="맑은 고딕"/>
              </a:rPr>
              <a:t>: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spc="-10" dirty="0">
                <a:latin typeface="맑은 고딕"/>
                <a:cs typeface="맑은 고딕"/>
              </a:rPr>
              <a:t>grade_documents와 </a:t>
            </a:r>
            <a:r>
              <a:rPr sz="1200" dirty="0">
                <a:latin typeface="맑은 고딕"/>
                <a:cs typeface="맑은 고딕"/>
              </a:rPr>
              <a:t>grade_generation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노드를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통해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검색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결과와 </a:t>
            </a:r>
            <a:r>
              <a:rPr sz="1200" dirty="0">
                <a:latin typeface="맑은 고딕"/>
                <a:cs typeface="맑은 고딕"/>
              </a:rPr>
              <a:t>생성된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답변의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품질을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spc="-35" dirty="0">
                <a:latin typeface="맑은 고딕"/>
                <a:cs typeface="맑은 고딕"/>
              </a:rPr>
              <a:t>평가</a:t>
            </a:r>
            <a:endParaRPr sz="1200">
              <a:latin typeface="맑은 고딕"/>
              <a:cs typeface="맑은 고딕"/>
            </a:endParaRPr>
          </a:p>
          <a:p>
            <a:pPr marL="182245" indent="-169545">
              <a:lnSpc>
                <a:spcPct val="100000"/>
              </a:lnSpc>
              <a:buFont typeface=""/>
              <a:buAutoNum type="arabicPeriod"/>
              <a:tabLst>
                <a:tab pos="182245" algn="l"/>
              </a:tabLst>
            </a:pPr>
            <a:r>
              <a:rPr sz="1200" b="1" dirty="0">
                <a:latin typeface="맑은 고딕"/>
                <a:cs typeface="맑은 고딕"/>
              </a:rPr>
              <a:t>동적</a:t>
            </a:r>
            <a:r>
              <a:rPr sz="1200" b="1" spc="-10" dirty="0">
                <a:latin typeface="맑은 고딕"/>
                <a:cs typeface="맑은 고딕"/>
              </a:rPr>
              <a:t> </a:t>
            </a:r>
            <a:r>
              <a:rPr sz="1200" b="1" dirty="0">
                <a:latin typeface="맑은 고딕"/>
                <a:cs typeface="맑은 고딕"/>
              </a:rPr>
              <a:t>쿼리</a:t>
            </a:r>
            <a:r>
              <a:rPr sz="1200" b="1" spc="-25" dirty="0">
                <a:latin typeface="맑은 고딕"/>
                <a:cs typeface="맑은 고딕"/>
              </a:rPr>
              <a:t> </a:t>
            </a:r>
            <a:r>
              <a:rPr sz="1200" b="1" dirty="0">
                <a:latin typeface="맑은 고딕"/>
                <a:cs typeface="맑은 고딕"/>
              </a:rPr>
              <a:t>개선</a:t>
            </a:r>
            <a:r>
              <a:rPr sz="1200" dirty="0">
                <a:latin typeface="맑은 고딕"/>
                <a:cs typeface="맑은 고딕"/>
              </a:rPr>
              <a:t>: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transform_query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노드를</a:t>
            </a:r>
            <a:endParaRPr sz="1200">
              <a:latin typeface="맑은 고딕"/>
              <a:cs typeface="맑은 고딕"/>
            </a:endParaRPr>
          </a:p>
          <a:p>
            <a:pPr marL="173990">
              <a:lnSpc>
                <a:spcPct val="100000"/>
              </a:lnSpc>
            </a:pPr>
            <a:r>
              <a:rPr sz="1200" dirty="0">
                <a:latin typeface="맑은 고딕"/>
                <a:cs typeface="맑은 고딕"/>
              </a:rPr>
              <a:t>통해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검색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쿼리를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개선</a:t>
            </a:r>
            <a:endParaRPr sz="1200">
              <a:latin typeface="맑은 고딕"/>
              <a:cs typeface="맑은 고딕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99719" y="2682113"/>
            <a:ext cx="5396865" cy="3855720"/>
            <a:chOff x="699719" y="2682113"/>
            <a:chExt cx="5396865" cy="385572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14342" y="2682113"/>
              <a:ext cx="2081657" cy="235686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99719" y="5059972"/>
              <a:ext cx="5283835" cy="1477645"/>
            </a:xfrm>
            <a:custGeom>
              <a:avLst/>
              <a:gdLst/>
              <a:ahLst/>
              <a:cxnLst/>
              <a:rect l="l" t="t" r="r" b="b"/>
              <a:pathLst>
                <a:path w="5283835" h="1477645">
                  <a:moveTo>
                    <a:pt x="5283581" y="0"/>
                  </a:moveTo>
                  <a:lnTo>
                    <a:pt x="0" y="0"/>
                  </a:lnTo>
                  <a:lnTo>
                    <a:pt x="0" y="1477391"/>
                  </a:lnTo>
                  <a:lnTo>
                    <a:pt x="5283581" y="1477391"/>
                  </a:lnTo>
                  <a:lnTo>
                    <a:pt x="5283581" y="0"/>
                  </a:lnTo>
                  <a:close/>
                </a:path>
              </a:pathLst>
            </a:custGeom>
            <a:solidFill>
              <a:srgbClr val="FAE2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88314" y="4802504"/>
            <a:ext cx="27108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6055" algn="l"/>
              </a:tabLst>
            </a:pPr>
            <a:r>
              <a:rPr sz="1200" b="1" dirty="0">
                <a:latin typeface="맑은 고딕"/>
                <a:cs typeface="맑은 고딕"/>
              </a:rPr>
              <a:t>동적</a:t>
            </a:r>
            <a:r>
              <a:rPr sz="1200" b="1" spc="-5" dirty="0">
                <a:latin typeface="맑은 고딕"/>
                <a:cs typeface="맑은 고딕"/>
              </a:rPr>
              <a:t> </a:t>
            </a:r>
            <a:r>
              <a:rPr sz="1200" b="1" dirty="0">
                <a:latin typeface="맑은 고딕"/>
                <a:cs typeface="맑은 고딕"/>
              </a:rPr>
              <a:t>쿼리</a:t>
            </a:r>
            <a:r>
              <a:rPr sz="1200" b="1" spc="10" dirty="0">
                <a:latin typeface="맑은 고딕"/>
                <a:cs typeface="맑은 고딕"/>
              </a:rPr>
              <a:t> </a:t>
            </a:r>
            <a:r>
              <a:rPr sz="1200" b="1" dirty="0">
                <a:latin typeface="맑은 고딕"/>
                <a:cs typeface="맑은 고딕"/>
              </a:rPr>
              <a:t>개선</a:t>
            </a:r>
            <a:r>
              <a:rPr sz="1200" b="1" spc="-5" dirty="0">
                <a:latin typeface="맑은 고딕"/>
                <a:cs typeface="맑은 고딕"/>
              </a:rPr>
              <a:t> </a:t>
            </a:r>
            <a:r>
              <a:rPr sz="1200" b="1" dirty="0">
                <a:latin typeface="맑은 고딕"/>
                <a:cs typeface="맑은 고딕"/>
              </a:rPr>
              <a:t>(검색</a:t>
            </a:r>
            <a:r>
              <a:rPr sz="1200" b="1" spc="-5" dirty="0">
                <a:latin typeface="맑은 고딕"/>
                <a:cs typeface="맑은 고딕"/>
              </a:rPr>
              <a:t> </a:t>
            </a:r>
            <a:r>
              <a:rPr sz="1200" b="1" dirty="0">
                <a:latin typeface="맑은 고딕"/>
                <a:cs typeface="맑은 고딕"/>
              </a:rPr>
              <a:t>쿼리를</a:t>
            </a:r>
            <a:r>
              <a:rPr sz="1200" b="1" spc="10" dirty="0">
                <a:latin typeface="맑은 고딕"/>
                <a:cs typeface="맑은 고딕"/>
              </a:rPr>
              <a:t> </a:t>
            </a:r>
            <a:r>
              <a:rPr sz="1200" b="1" spc="-20" dirty="0">
                <a:latin typeface="맑은 고딕"/>
                <a:cs typeface="맑은 고딕"/>
              </a:rPr>
              <a:t>재작성)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560" y="5088128"/>
            <a:ext cx="33896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5080" indent="-25336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def</a:t>
            </a:r>
            <a:r>
              <a:rPr sz="9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transform_query(state:</a:t>
            </a:r>
            <a:r>
              <a:rPr sz="900" spc="-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GraphState)</a:t>
            </a:r>
            <a:r>
              <a:rPr sz="900" spc="-10" dirty="0">
                <a:latin typeface="Consolas"/>
                <a:cs typeface="Consolas"/>
              </a:rPr>
              <a:t> 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dirty="0">
                <a:latin typeface="Consolas"/>
                <a:cs typeface="Consolas"/>
              </a:rPr>
              <a:t>&gt;</a:t>
            </a:r>
            <a:r>
              <a:rPr sz="900" spc="-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GraphState: </a:t>
            </a:r>
            <a:r>
              <a:rPr sz="900" dirty="0">
                <a:latin typeface="Consolas"/>
                <a:cs typeface="Consolas"/>
              </a:rPr>
              <a:t>question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state[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"question"</a:t>
            </a:r>
            <a:r>
              <a:rPr sz="900" spc="-10" dirty="0">
                <a:latin typeface="Consolas"/>
                <a:cs typeface="Consolas"/>
              </a:rPr>
              <a:t>]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1544" y="5499608"/>
            <a:ext cx="30099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9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질문</a:t>
            </a:r>
            <a:r>
              <a:rPr sz="900" spc="18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25" dirty="0">
                <a:solidFill>
                  <a:srgbClr val="008000"/>
                </a:solidFill>
                <a:latin typeface="맑은 고딕"/>
                <a:cs typeface="맑은 고딕"/>
              </a:rPr>
              <a:t>재작성</a:t>
            </a:r>
            <a:endParaRPr sz="9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Consolas"/>
                <a:cs typeface="Consolas"/>
              </a:rPr>
              <a:t>rewritten_question</a:t>
            </a:r>
            <a:r>
              <a:rPr sz="900" spc="-2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rewrite_question(question)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1544" y="5911392"/>
            <a:ext cx="4789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#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생성</a:t>
            </a:r>
            <a:r>
              <a:rPr sz="900" spc="17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횟수</a:t>
            </a:r>
            <a:r>
              <a:rPr sz="900" spc="16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20" dirty="0">
                <a:solidFill>
                  <a:srgbClr val="008000"/>
                </a:solidFill>
                <a:latin typeface="맑은 고딕"/>
                <a:cs typeface="맑은 고딕"/>
              </a:rPr>
              <a:t>업데이트</a:t>
            </a:r>
            <a:endParaRPr sz="900">
              <a:latin typeface="맑은 고딕"/>
              <a:cs typeface="맑은 고딕"/>
            </a:endParaRPr>
          </a:p>
          <a:p>
            <a:pPr marL="12700" marR="1657350">
              <a:lnSpc>
                <a:spcPct val="100000"/>
              </a:lnSpc>
            </a:pPr>
            <a:r>
              <a:rPr sz="900" dirty="0">
                <a:latin typeface="Consolas"/>
                <a:cs typeface="Consolas"/>
              </a:rPr>
              <a:t>num_generations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state.get(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"num_generations"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-5" dirty="0">
                <a:latin typeface="Consolas"/>
                <a:cs typeface="Consolas"/>
              </a:rPr>
              <a:t> </a:t>
            </a:r>
            <a:r>
              <a:rPr sz="900" spc="-25" dirty="0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sz="900" spc="-25" dirty="0">
                <a:latin typeface="Consolas"/>
                <a:cs typeface="Consolas"/>
              </a:rPr>
              <a:t>) </a:t>
            </a:r>
            <a:r>
              <a:rPr sz="900" dirty="0">
                <a:latin typeface="Consolas"/>
                <a:cs typeface="Consolas"/>
              </a:rPr>
              <a:t>num_generations</a:t>
            </a:r>
            <a:r>
              <a:rPr sz="900" spc="-5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+=</a:t>
            </a:r>
            <a:r>
              <a:rPr sz="900" spc="-60" dirty="0">
                <a:latin typeface="Consolas"/>
                <a:cs typeface="Consolas"/>
              </a:rPr>
              <a:t> </a:t>
            </a:r>
            <a:r>
              <a:rPr sz="900" spc="-50" dirty="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endParaRPr sz="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9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{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"question"</a:t>
            </a:r>
            <a:r>
              <a:rPr sz="900" dirty="0">
                <a:latin typeface="Consolas"/>
                <a:cs typeface="Consolas"/>
              </a:rPr>
              <a:t>: </a:t>
            </a:r>
            <a:r>
              <a:rPr sz="900" spc="-10" dirty="0">
                <a:latin typeface="Consolas"/>
                <a:cs typeface="Consolas"/>
              </a:rPr>
              <a:t>rewritten_question,</a:t>
            </a:r>
            <a:r>
              <a:rPr sz="900" spc="-1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"num_generations"</a:t>
            </a:r>
            <a:r>
              <a:rPr sz="900" spc="-10" dirty="0">
                <a:latin typeface="Consolas"/>
                <a:cs typeface="Consolas"/>
              </a:rPr>
              <a:t>:</a:t>
            </a:r>
            <a:r>
              <a:rPr sz="90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num_generations}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46038" y="4397502"/>
            <a:ext cx="2036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6055" algn="l"/>
              </a:tabLst>
            </a:pPr>
            <a:r>
              <a:rPr sz="1200" b="1" dirty="0">
                <a:latin typeface="맑은 고딕"/>
                <a:cs typeface="맑은 고딕"/>
              </a:rPr>
              <a:t>생성된</a:t>
            </a:r>
            <a:r>
              <a:rPr sz="1200" b="1" spc="-5" dirty="0">
                <a:latin typeface="맑은 고딕"/>
                <a:cs typeface="맑은 고딕"/>
              </a:rPr>
              <a:t> </a:t>
            </a:r>
            <a:r>
              <a:rPr sz="1200" b="1" dirty="0">
                <a:latin typeface="맑은 고딕"/>
                <a:cs typeface="맑은 고딕"/>
              </a:rPr>
              <a:t>답변의</a:t>
            </a:r>
            <a:r>
              <a:rPr sz="1200" b="1" spc="10" dirty="0">
                <a:latin typeface="맑은 고딕"/>
                <a:cs typeface="맑은 고딕"/>
              </a:rPr>
              <a:t> </a:t>
            </a:r>
            <a:r>
              <a:rPr sz="1200" b="1" dirty="0">
                <a:latin typeface="맑은 고딕"/>
                <a:cs typeface="맑은 고딕"/>
              </a:rPr>
              <a:t>품질을</a:t>
            </a:r>
            <a:r>
              <a:rPr sz="1200" b="1" spc="-5" dirty="0">
                <a:latin typeface="맑은 고딕"/>
                <a:cs typeface="맑은 고딕"/>
              </a:rPr>
              <a:t> </a:t>
            </a:r>
            <a:r>
              <a:rPr sz="1200" b="1" spc="-25" dirty="0">
                <a:latin typeface="맑은 고딕"/>
                <a:cs typeface="맑은 고딕"/>
              </a:rPr>
              <a:t>평가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57010" y="4630458"/>
            <a:ext cx="5283835" cy="1892935"/>
          </a:xfrm>
          <a:custGeom>
            <a:avLst/>
            <a:gdLst/>
            <a:ahLst/>
            <a:cxnLst/>
            <a:rect l="l" t="t" r="r" b="b"/>
            <a:pathLst>
              <a:path w="5283834" h="1892934">
                <a:moveTo>
                  <a:pt x="5283581" y="0"/>
                </a:moveTo>
                <a:lnTo>
                  <a:pt x="0" y="0"/>
                </a:lnTo>
                <a:lnTo>
                  <a:pt x="0" y="1892808"/>
                </a:lnTo>
                <a:lnTo>
                  <a:pt x="5283581" y="1892808"/>
                </a:lnTo>
                <a:lnTo>
                  <a:pt x="5283581" y="0"/>
                </a:lnTo>
                <a:close/>
              </a:path>
            </a:pathLst>
          </a:custGeom>
          <a:solidFill>
            <a:srgbClr val="FAE2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136640" y="4658359"/>
            <a:ext cx="4914265" cy="1809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85" dirty="0">
                <a:solidFill>
                  <a:srgbClr val="0000FF"/>
                </a:solidFill>
                <a:latin typeface="Consolas"/>
                <a:cs typeface="Consolas"/>
              </a:rPr>
              <a:t>def</a:t>
            </a:r>
            <a:r>
              <a:rPr sz="900" spc="-1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10" dirty="0">
                <a:latin typeface="Consolas"/>
                <a:cs typeface="Consolas"/>
              </a:rPr>
              <a:t>grade_generation(state:</a:t>
            </a:r>
            <a:r>
              <a:rPr sz="900" spc="-114" dirty="0">
                <a:latin typeface="Consolas"/>
                <a:cs typeface="Consolas"/>
              </a:rPr>
              <a:t> </a:t>
            </a:r>
            <a:r>
              <a:rPr sz="900" spc="-105" dirty="0">
                <a:latin typeface="Consolas"/>
                <a:cs typeface="Consolas"/>
              </a:rPr>
              <a:t>GraphState)</a:t>
            </a:r>
            <a:r>
              <a:rPr sz="900" spc="-125" dirty="0">
                <a:latin typeface="Consolas"/>
                <a:cs typeface="Consolas"/>
              </a:rPr>
              <a:t> </a:t>
            </a:r>
            <a:r>
              <a:rPr sz="900" spc="-110" dirty="0">
                <a:latin typeface="Consolas"/>
                <a:cs typeface="Consolas"/>
              </a:rPr>
              <a:t>-</a:t>
            </a:r>
            <a:r>
              <a:rPr sz="900" spc="-10" dirty="0">
                <a:latin typeface="Consolas"/>
                <a:cs typeface="Consolas"/>
              </a:rPr>
              <a:t>&gt;</a:t>
            </a:r>
            <a:r>
              <a:rPr sz="900" spc="-120" dirty="0">
                <a:latin typeface="Consolas"/>
                <a:cs typeface="Consolas"/>
              </a:rPr>
              <a:t> </a:t>
            </a:r>
            <a:r>
              <a:rPr sz="900" spc="-20" dirty="0">
                <a:latin typeface="Consolas"/>
                <a:cs typeface="Consolas"/>
              </a:rPr>
              <a:t>str:</a:t>
            </a:r>
            <a:endParaRPr sz="900">
              <a:latin typeface="Consolas"/>
              <a:cs typeface="Consolas"/>
            </a:endParaRPr>
          </a:p>
          <a:p>
            <a:pPr marL="215265">
              <a:lnSpc>
                <a:spcPct val="100000"/>
              </a:lnSpc>
            </a:pPr>
            <a:r>
              <a:rPr sz="900" spc="-100" dirty="0">
                <a:latin typeface="Consolas"/>
                <a:cs typeface="Consolas"/>
              </a:rPr>
              <a:t>question, documents, generation</a:t>
            </a:r>
            <a:r>
              <a:rPr sz="900" spc="-11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=</a:t>
            </a:r>
            <a:r>
              <a:rPr sz="900" spc="-100" dirty="0">
                <a:latin typeface="Consolas"/>
                <a:cs typeface="Consolas"/>
              </a:rPr>
              <a:t> </a:t>
            </a:r>
            <a:r>
              <a:rPr sz="900" spc="-105" dirty="0">
                <a:latin typeface="Consolas"/>
                <a:cs typeface="Consolas"/>
              </a:rPr>
              <a:t>state[</a:t>
            </a:r>
            <a:r>
              <a:rPr sz="900" spc="-105" dirty="0">
                <a:solidFill>
                  <a:srgbClr val="A21515"/>
                </a:solidFill>
                <a:latin typeface="Consolas"/>
                <a:cs typeface="Consolas"/>
              </a:rPr>
              <a:t>"question"</a:t>
            </a:r>
            <a:r>
              <a:rPr sz="900" spc="-105" dirty="0">
                <a:latin typeface="Consolas"/>
                <a:cs typeface="Consolas"/>
              </a:rPr>
              <a:t>],</a:t>
            </a:r>
            <a:r>
              <a:rPr sz="900" spc="-110" dirty="0">
                <a:latin typeface="Consolas"/>
                <a:cs typeface="Consolas"/>
              </a:rPr>
              <a:t> </a:t>
            </a:r>
            <a:r>
              <a:rPr sz="900" spc="-105" dirty="0">
                <a:latin typeface="Consolas"/>
                <a:cs typeface="Consolas"/>
              </a:rPr>
              <a:t>state[</a:t>
            </a:r>
            <a:r>
              <a:rPr sz="900" spc="-105" dirty="0">
                <a:solidFill>
                  <a:srgbClr val="A21515"/>
                </a:solidFill>
                <a:latin typeface="Consolas"/>
                <a:cs typeface="Consolas"/>
              </a:rPr>
              <a:t>"documents"</a:t>
            </a:r>
            <a:r>
              <a:rPr sz="900" spc="-105" dirty="0">
                <a:latin typeface="Consolas"/>
                <a:cs typeface="Consolas"/>
              </a:rPr>
              <a:t>],</a:t>
            </a:r>
            <a:r>
              <a:rPr sz="900" spc="-95" dirty="0">
                <a:latin typeface="Consolas"/>
                <a:cs typeface="Consolas"/>
              </a:rPr>
              <a:t> state[</a:t>
            </a:r>
            <a:r>
              <a:rPr sz="900" spc="-95" dirty="0">
                <a:solidFill>
                  <a:srgbClr val="A21515"/>
                </a:solidFill>
                <a:latin typeface="Consolas"/>
                <a:cs typeface="Consolas"/>
              </a:rPr>
              <a:t>"generation"</a:t>
            </a:r>
            <a:r>
              <a:rPr sz="900" spc="-95" dirty="0">
                <a:latin typeface="Consolas"/>
                <a:cs typeface="Consolas"/>
              </a:rPr>
              <a:t>]</a:t>
            </a:r>
            <a:endParaRPr sz="900">
              <a:latin typeface="Consolas"/>
              <a:cs typeface="Consolas"/>
            </a:endParaRPr>
          </a:p>
          <a:p>
            <a:pPr marL="215265">
              <a:lnSpc>
                <a:spcPct val="100000"/>
              </a:lnSpc>
            </a:pPr>
            <a:r>
              <a:rPr sz="900" spc="-110" dirty="0">
                <a:latin typeface="Consolas"/>
                <a:cs typeface="Consolas"/>
              </a:rPr>
              <a:t>hallucination_grade</a:t>
            </a:r>
            <a:r>
              <a:rPr sz="900" spc="-12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=</a:t>
            </a:r>
            <a:r>
              <a:rPr sz="900" spc="-105" dirty="0">
                <a:latin typeface="Consolas"/>
                <a:cs typeface="Consolas"/>
              </a:rPr>
              <a:t> </a:t>
            </a:r>
            <a:r>
              <a:rPr sz="900" spc="-70" dirty="0">
                <a:latin typeface="Consolas"/>
                <a:cs typeface="Consolas"/>
              </a:rPr>
              <a:t>hallucination_grader.invoke(</a:t>
            </a:r>
            <a:endParaRPr sz="900">
              <a:latin typeface="Consolas"/>
              <a:cs typeface="Consolas"/>
            </a:endParaRPr>
          </a:p>
          <a:p>
            <a:pPr marL="215265" marR="1884680" indent="202565">
              <a:lnSpc>
                <a:spcPct val="100000"/>
              </a:lnSpc>
            </a:pPr>
            <a:r>
              <a:rPr sz="900" spc="-105" dirty="0">
                <a:latin typeface="Consolas"/>
                <a:cs typeface="Consolas"/>
              </a:rPr>
              <a:t>{</a:t>
            </a:r>
            <a:r>
              <a:rPr sz="900" spc="-105" dirty="0">
                <a:solidFill>
                  <a:srgbClr val="A21515"/>
                </a:solidFill>
                <a:latin typeface="Consolas"/>
                <a:cs typeface="Consolas"/>
              </a:rPr>
              <a:t>"documents"</a:t>
            </a:r>
            <a:r>
              <a:rPr sz="900" spc="-105" dirty="0">
                <a:latin typeface="Consolas"/>
                <a:cs typeface="Consolas"/>
              </a:rPr>
              <a:t>:</a:t>
            </a:r>
            <a:r>
              <a:rPr sz="900" spc="-114" dirty="0">
                <a:latin typeface="Consolas"/>
                <a:cs typeface="Consolas"/>
              </a:rPr>
              <a:t> </a:t>
            </a:r>
            <a:r>
              <a:rPr sz="900" spc="-105" dirty="0">
                <a:latin typeface="Consolas"/>
                <a:cs typeface="Consolas"/>
              </a:rPr>
              <a:t>documents,</a:t>
            </a:r>
            <a:r>
              <a:rPr sz="900" spc="-125" dirty="0">
                <a:latin typeface="Consolas"/>
                <a:cs typeface="Consolas"/>
              </a:rPr>
              <a:t> </a:t>
            </a:r>
            <a:r>
              <a:rPr sz="900" spc="-105" dirty="0">
                <a:solidFill>
                  <a:srgbClr val="A21515"/>
                </a:solidFill>
                <a:latin typeface="Consolas"/>
                <a:cs typeface="Consolas"/>
              </a:rPr>
              <a:t>"generation"</a:t>
            </a:r>
            <a:r>
              <a:rPr sz="900" spc="-105" dirty="0">
                <a:latin typeface="Consolas"/>
                <a:cs typeface="Consolas"/>
              </a:rPr>
              <a:t>:</a:t>
            </a:r>
            <a:r>
              <a:rPr sz="900" spc="-110" dirty="0">
                <a:latin typeface="Consolas"/>
                <a:cs typeface="Consolas"/>
              </a:rPr>
              <a:t> </a:t>
            </a:r>
            <a:r>
              <a:rPr sz="900" spc="-85" dirty="0">
                <a:latin typeface="Consolas"/>
                <a:cs typeface="Consolas"/>
              </a:rPr>
              <a:t>generation}) 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00" spc="-1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10" dirty="0">
                <a:latin typeface="Consolas"/>
                <a:cs typeface="Consolas"/>
              </a:rPr>
              <a:t>hallucination_grade.binary_score</a:t>
            </a:r>
            <a:r>
              <a:rPr sz="900" spc="-120" dirty="0">
                <a:latin typeface="Consolas"/>
                <a:cs typeface="Consolas"/>
              </a:rPr>
              <a:t> </a:t>
            </a:r>
            <a:r>
              <a:rPr sz="900" spc="-60" dirty="0">
                <a:latin typeface="Consolas"/>
                <a:cs typeface="Consolas"/>
              </a:rPr>
              <a:t>==</a:t>
            </a:r>
            <a:r>
              <a:rPr sz="900" spc="-12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"yes"</a:t>
            </a:r>
            <a:r>
              <a:rPr sz="900" spc="-10" dirty="0">
                <a:latin typeface="Consolas"/>
                <a:cs typeface="Consolas"/>
              </a:rPr>
              <a:t>:</a:t>
            </a:r>
            <a:endParaRPr sz="9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</a:pPr>
            <a:r>
              <a:rPr sz="900" spc="-1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900" spc="-204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spc="-75" dirty="0">
                <a:solidFill>
                  <a:srgbClr val="008000"/>
                </a:solidFill>
                <a:latin typeface="Consolas"/>
                <a:cs typeface="Consolas"/>
              </a:rPr>
              <a:t>1</a:t>
            </a:r>
            <a:r>
              <a:rPr sz="900" spc="-75" dirty="0">
                <a:solidFill>
                  <a:srgbClr val="008000"/>
                </a:solidFill>
                <a:latin typeface="맑은 고딕"/>
                <a:cs typeface="맑은 고딕"/>
              </a:rPr>
              <a:t>단계</a:t>
            </a:r>
            <a:r>
              <a:rPr sz="900" spc="-1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50" dirty="0">
                <a:solidFill>
                  <a:srgbClr val="008000"/>
                </a:solidFill>
                <a:latin typeface="맑은 고딕"/>
                <a:cs typeface="맑은 고딕"/>
              </a:rPr>
              <a:t>환각</a:t>
            </a:r>
            <a:r>
              <a:rPr sz="900" spc="-1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50" dirty="0">
                <a:solidFill>
                  <a:srgbClr val="008000"/>
                </a:solidFill>
                <a:latin typeface="맑은 고딕"/>
                <a:cs typeface="맑은 고딕"/>
              </a:rPr>
              <a:t>여부</a:t>
            </a:r>
            <a:r>
              <a:rPr sz="900" spc="-1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75" dirty="0">
                <a:solidFill>
                  <a:srgbClr val="008000"/>
                </a:solidFill>
                <a:latin typeface="맑은 고딕"/>
                <a:cs typeface="맑은 고딕"/>
              </a:rPr>
              <a:t>통과할</a:t>
            </a:r>
            <a:r>
              <a:rPr sz="900" spc="-2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50" dirty="0">
                <a:solidFill>
                  <a:srgbClr val="008000"/>
                </a:solidFill>
                <a:latin typeface="맑은 고딕"/>
                <a:cs typeface="맑은 고딕"/>
              </a:rPr>
              <a:t>경우</a:t>
            </a:r>
            <a:r>
              <a:rPr sz="900" spc="-1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110" dirty="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sz="900" spc="-10" dirty="0">
                <a:solidFill>
                  <a:srgbClr val="008000"/>
                </a:solidFill>
                <a:latin typeface="Consolas"/>
                <a:cs typeface="Consolas"/>
              </a:rPr>
              <a:t>&gt;</a:t>
            </a:r>
            <a:r>
              <a:rPr sz="900" spc="-18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spc="-80" dirty="0">
                <a:solidFill>
                  <a:srgbClr val="008000"/>
                </a:solidFill>
                <a:latin typeface="Consolas"/>
                <a:cs typeface="Consolas"/>
              </a:rPr>
              <a:t>2</a:t>
            </a:r>
            <a:r>
              <a:rPr sz="900" spc="-80" dirty="0">
                <a:solidFill>
                  <a:srgbClr val="008000"/>
                </a:solidFill>
                <a:latin typeface="맑은 고딕"/>
                <a:cs typeface="맑은 고딕"/>
              </a:rPr>
              <a:t>단계</a:t>
            </a:r>
            <a:r>
              <a:rPr sz="900" spc="-80" dirty="0">
                <a:solidFill>
                  <a:srgbClr val="008000"/>
                </a:solidFill>
                <a:latin typeface="Consolas"/>
                <a:cs typeface="Consolas"/>
              </a:rPr>
              <a:t>:</a:t>
            </a:r>
            <a:r>
              <a:rPr sz="900" spc="-19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spc="-110" dirty="0">
                <a:solidFill>
                  <a:srgbClr val="008000"/>
                </a:solidFill>
                <a:latin typeface="맑은 고딕"/>
                <a:cs typeface="맑은 고딕"/>
              </a:rPr>
              <a:t>질문</a:t>
            </a:r>
            <a:r>
              <a:rPr sz="900" spc="-110" dirty="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sz="900" spc="-55" dirty="0">
                <a:solidFill>
                  <a:srgbClr val="008000"/>
                </a:solidFill>
                <a:latin typeface="맑은 고딕"/>
                <a:cs typeface="맑은 고딕"/>
              </a:rPr>
              <a:t>답변</a:t>
            </a:r>
            <a:r>
              <a:rPr sz="900" spc="-2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70" dirty="0">
                <a:solidFill>
                  <a:srgbClr val="008000"/>
                </a:solidFill>
                <a:latin typeface="맑은 고딕"/>
                <a:cs typeface="맑은 고딕"/>
              </a:rPr>
              <a:t>관련성</a:t>
            </a:r>
            <a:r>
              <a:rPr sz="900" spc="-1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25" dirty="0">
                <a:solidFill>
                  <a:srgbClr val="008000"/>
                </a:solidFill>
                <a:latin typeface="맑은 고딕"/>
                <a:cs typeface="맑은 고딕"/>
              </a:rPr>
              <a:t>평가</a:t>
            </a:r>
            <a:endParaRPr sz="900">
              <a:latin typeface="맑은 고딕"/>
              <a:cs typeface="맑은 고딕"/>
            </a:endParaRPr>
          </a:p>
          <a:p>
            <a:pPr marL="417830" marR="5080">
              <a:lnSpc>
                <a:spcPct val="100000"/>
              </a:lnSpc>
            </a:pPr>
            <a:r>
              <a:rPr sz="900" spc="-100" dirty="0">
                <a:latin typeface="Consolas"/>
                <a:cs typeface="Consolas"/>
              </a:rPr>
              <a:t>relevance_grade</a:t>
            </a:r>
            <a:r>
              <a:rPr sz="900" spc="-13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=</a:t>
            </a:r>
            <a:r>
              <a:rPr sz="900" spc="-114" dirty="0">
                <a:latin typeface="Consolas"/>
                <a:cs typeface="Consolas"/>
              </a:rPr>
              <a:t> </a:t>
            </a:r>
            <a:r>
              <a:rPr sz="900" spc="-110" dirty="0">
                <a:latin typeface="Consolas"/>
                <a:cs typeface="Consolas"/>
              </a:rPr>
              <a:t>answer_grader.invoke({</a:t>
            </a:r>
            <a:r>
              <a:rPr sz="900" spc="-110" dirty="0">
                <a:solidFill>
                  <a:srgbClr val="A21515"/>
                </a:solidFill>
                <a:latin typeface="Consolas"/>
                <a:cs typeface="Consolas"/>
              </a:rPr>
              <a:t>"question"</a:t>
            </a:r>
            <a:r>
              <a:rPr sz="900" spc="-110" dirty="0">
                <a:latin typeface="Consolas"/>
                <a:cs typeface="Consolas"/>
              </a:rPr>
              <a:t>:</a:t>
            </a:r>
            <a:r>
              <a:rPr sz="900" spc="-120" dirty="0">
                <a:latin typeface="Consolas"/>
                <a:cs typeface="Consolas"/>
              </a:rPr>
              <a:t> </a:t>
            </a:r>
            <a:r>
              <a:rPr sz="900" spc="-105" dirty="0">
                <a:latin typeface="Consolas"/>
                <a:cs typeface="Consolas"/>
              </a:rPr>
              <a:t>question,</a:t>
            </a:r>
            <a:r>
              <a:rPr sz="900" spc="-110" dirty="0">
                <a:latin typeface="Consolas"/>
                <a:cs typeface="Consolas"/>
              </a:rPr>
              <a:t> </a:t>
            </a:r>
            <a:r>
              <a:rPr sz="900" spc="-105" dirty="0">
                <a:solidFill>
                  <a:srgbClr val="A21515"/>
                </a:solidFill>
                <a:latin typeface="Consolas"/>
                <a:cs typeface="Consolas"/>
              </a:rPr>
              <a:t>"generation"</a:t>
            </a:r>
            <a:r>
              <a:rPr sz="900" spc="-105" dirty="0">
                <a:latin typeface="Consolas"/>
                <a:cs typeface="Consolas"/>
              </a:rPr>
              <a:t>:</a:t>
            </a:r>
            <a:r>
              <a:rPr sz="900" spc="-125" dirty="0">
                <a:latin typeface="Consolas"/>
                <a:cs typeface="Consolas"/>
              </a:rPr>
              <a:t> </a:t>
            </a:r>
            <a:r>
              <a:rPr sz="900" spc="-65" dirty="0">
                <a:latin typeface="Consolas"/>
                <a:cs typeface="Consolas"/>
              </a:rPr>
              <a:t>generation}) </a:t>
            </a:r>
            <a:r>
              <a:rPr sz="900" spc="-6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00" spc="-1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10" dirty="0">
                <a:latin typeface="Consolas"/>
                <a:cs typeface="Consolas"/>
              </a:rPr>
              <a:t>relevance_grade.binary_score</a:t>
            </a:r>
            <a:r>
              <a:rPr sz="900" spc="-120" dirty="0">
                <a:latin typeface="Consolas"/>
                <a:cs typeface="Consolas"/>
              </a:rPr>
              <a:t> </a:t>
            </a:r>
            <a:r>
              <a:rPr sz="900" spc="-60" dirty="0">
                <a:latin typeface="Consolas"/>
                <a:cs typeface="Consolas"/>
              </a:rPr>
              <a:t>==</a:t>
            </a:r>
            <a:r>
              <a:rPr sz="900" spc="-12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"yes"</a:t>
            </a:r>
            <a:r>
              <a:rPr sz="900" spc="-10" dirty="0">
                <a:latin typeface="Consolas"/>
                <a:cs typeface="Consolas"/>
              </a:rPr>
              <a:t>:</a:t>
            </a:r>
            <a:endParaRPr sz="900">
              <a:latin typeface="Consolas"/>
              <a:cs typeface="Consolas"/>
            </a:endParaRPr>
          </a:p>
          <a:p>
            <a:pPr marL="417830" marR="3510279" indent="202565">
              <a:lnSpc>
                <a:spcPct val="100000"/>
              </a:lnSpc>
            </a:pPr>
            <a:r>
              <a:rPr sz="900" spc="-9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900" spc="-19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95" dirty="0">
                <a:solidFill>
                  <a:srgbClr val="A21515"/>
                </a:solidFill>
                <a:latin typeface="Consolas"/>
                <a:cs typeface="Consolas"/>
              </a:rPr>
              <a:t>"useful" 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sz="900" spc="-10" dirty="0">
                <a:latin typeface="Consolas"/>
                <a:cs typeface="Consolas"/>
              </a:rPr>
              <a:t>:</a:t>
            </a:r>
            <a:endParaRPr sz="900">
              <a:latin typeface="Consolas"/>
              <a:cs typeface="Consolas"/>
            </a:endParaRPr>
          </a:p>
          <a:p>
            <a:pPr marL="620395">
              <a:lnSpc>
                <a:spcPct val="100000"/>
              </a:lnSpc>
            </a:pPr>
            <a:r>
              <a:rPr sz="900" spc="-9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900" spc="-17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90" dirty="0">
                <a:solidFill>
                  <a:srgbClr val="A21515"/>
                </a:solidFill>
                <a:latin typeface="Consolas"/>
                <a:cs typeface="Consolas"/>
              </a:rPr>
              <a:t>"not</a:t>
            </a:r>
            <a:r>
              <a:rPr sz="900" spc="-18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useful"</a:t>
            </a:r>
            <a:endParaRPr sz="900">
              <a:latin typeface="Consolas"/>
              <a:cs typeface="Consolas"/>
            </a:endParaRPr>
          </a:p>
          <a:p>
            <a:pPr marL="215265">
              <a:lnSpc>
                <a:spcPct val="100000"/>
              </a:lnSpc>
            </a:pP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sz="900" spc="-10" dirty="0">
                <a:latin typeface="Consolas"/>
                <a:cs typeface="Consolas"/>
              </a:rPr>
              <a:t>:</a:t>
            </a:r>
            <a:endParaRPr sz="900">
              <a:latin typeface="Consolas"/>
              <a:cs typeface="Consolas"/>
            </a:endParaRPr>
          </a:p>
          <a:p>
            <a:pPr marL="417830">
              <a:lnSpc>
                <a:spcPct val="100000"/>
              </a:lnSpc>
              <a:spcBef>
                <a:spcPts val="5"/>
              </a:spcBef>
            </a:pPr>
            <a:r>
              <a:rPr sz="900" spc="-9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900" spc="-19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90" dirty="0">
                <a:solidFill>
                  <a:srgbClr val="A21515"/>
                </a:solidFill>
                <a:latin typeface="Consolas"/>
                <a:cs typeface="Consolas"/>
              </a:rPr>
              <a:t>"not</a:t>
            </a:r>
            <a:r>
              <a:rPr sz="900" spc="-17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supported"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46038" y="2644902"/>
            <a:ext cx="2700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6055" algn="l"/>
              </a:tabLst>
            </a:pPr>
            <a:r>
              <a:rPr sz="1200" b="1" dirty="0">
                <a:latin typeface="맑은 고딕"/>
                <a:cs typeface="맑은 고딕"/>
              </a:rPr>
              <a:t>관련성</a:t>
            </a:r>
            <a:r>
              <a:rPr sz="1200" b="1" spc="-5" dirty="0">
                <a:latin typeface="맑은 고딕"/>
                <a:cs typeface="맑은 고딕"/>
              </a:rPr>
              <a:t> </a:t>
            </a:r>
            <a:r>
              <a:rPr sz="1200" b="1" dirty="0">
                <a:latin typeface="맑은 고딕"/>
                <a:cs typeface="맑은 고딕"/>
              </a:rPr>
              <a:t>평가에</a:t>
            </a:r>
            <a:r>
              <a:rPr sz="1200" b="1" spc="10" dirty="0">
                <a:latin typeface="맑은 고딕"/>
                <a:cs typeface="맑은 고딕"/>
              </a:rPr>
              <a:t> </a:t>
            </a:r>
            <a:r>
              <a:rPr sz="1200" b="1" dirty="0">
                <a:latin typeface="맑은 고딕"/>
                <a:cs typeface="맑은 고딕"/>
              </a:rPr>
              <a:t>합격한</a:t>
            </a:r>
            <a:r>
              <a:rPr sz="1200" b="1" spc="-5" dirty="0">
                <a:latin typeface="맑은 고딕"/>
                <a:cs typeface="맑은 고딕"/>
              </a:rPr>
              <a:t> </a:t>
            </a:r>
            <a:r>
              <a:rPr sz="1200" b="1" dirty="0">
                <a:latin typeface="맑은 고딕"/>
                <a:cs typeface="맑은 고딕"/>
              </a:rPr>
              <a:t>문서들만</a:t>
            </a:r>
            <a:r>
              <a:rPr sz="1200" b="1" spc="10" dirty="0">
                <a:latin typeface="맑은 고딕"/>
                <a:cs typeface="맑은 고딕"/>
              </a:rPr>
              <a:t> </a:t>
            </a:r>
            <a:r>
              <a:rPr sz="1200" b="1" spc="-25" dirty="0">
                <a:latin typeface="맑은 고딕"/>
                <a:cs typeface="맑은 고딕"/>
              </a:rPr>
              <a:t>저장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057010" y="2860039"/>
            <a:ext cx="5283835" cy="1477645"/>
          </a:xfrm>
          <a:custGeom>
            <a:avLst/>
            <a:gdLst/>
            <a:ahLst/>
            <a:cxnLst/>
            <a:rect l="l" t="t" r="r" b="b"/>
            <a:pathLst>
              <a:path w="5283834" h="1477645">
                <a:moveTo>
                  <a:pt x="5283581" y="0"/>
                </a:moveTo>
                <a:lnTo>
                  <a:pt x="0" y="0"/>
                </a:lnTo>
                <a:lnTo>
                  <a:pt x="0" y="1477391"/>
                </a:lnTo>
                <a:lnTo>
                  <a:pt x="5283581" y="1477391"/>
                </a:lnTo>
                <a:lnTo>
                  <a:pt x="5283581" y="0"/>
                </a:lnTo>
                <a:close/>
              </a:path>
            </a:pathLst>
          </a:custGeom>
          <a:solidFill>
            <a:srgbClr val="FAE2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136640" y="2887726"/>
            <a:ext cx="497776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1592580" indent="-25336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def</a:t>
            </a:r>
            <a:r>
              <a:rPr sz="9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grade_documents(state:</a:t>
            </a:r>
            <a:r>
              <a:rPr sz="900" dirty="0">
                <a:latin typeface="Consolas"/>
                <a:cs typeface="Consolas"/>
              </a:rPr>
              <a:t> GraphState)</a:t>
            </a:r>
            <a:r>
              <a:rPr sz="900" spc="-5" dirty="0">
                <a:latin typeface="Consolas"/>
                <a:cs typeface="Consolas"/>
              </a:rPr>
              <a:t> </a:t>
            </a:r>
            <a:r>
              <a:rPr sz="900" spc="-15" dirty="0">
                <a:latin typeface="Consolas"/>
                <a:cs typeface="Consolas"/>
              </a:rPr>
              <a:t>-</a:t>
            </a:r>
            <a:r>
              <a:rPr sz="900" dirty="0">
                <a:latin typeface="Consolas"/>
                <a:cs typeface="Consolas"/>
              </a:rPr>
              <a:t>&gt;</a:t>
            </a:r>
            <a:r>
              <a:rPr sz="900" spc="-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GraphState: </a:t>
            </a:r>
            <a:r>
              <a:rPr sz="900" dirty="0">
                <a:latin typeface="Consolas"/>
                <a:cs typeface="Consolas"/>
              </a:rPr>
              <a:t>question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state[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"question"</a:t>
            </a:r>
            <a:r>
              <a:rPr sz="900" spc="-10" dirty="0">
                <a:latin typeface="Consolas"/>
                <a:cs typeface="Consolas"/>
              </a:rPr>
              <a:t>]</a:t>
            </a:r>
            <a:endParaRPr sz="900">
              <a:latin typeface="Consolas"/>
              <a:cs typeface="Consolas"/>
            </a:endParaRPr>
          </a:p>
          <a:p>
            <a:pPr marL="265430" marR="2798445">
              <a:lnSpc>
                <a:spcPct val="100000"/>
              </a:lnSpc>
            </a:pPr>
            <a:r>
              <a:rPr sz="900" dirty="0">
                <a:latin typeface="Consolas"/>
                <a:cs typeface="Consolas"/>
              </a:rPr>
              <a:t>documents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state[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"documents"</a:t>
            </a:r>
            <a:r>
              <a:rPr sz="900" spc="-10" dirty="0">
                <a:latin typeface="Consolas"/>
                <a:cs typeface="Consolas"/>
              </a:rPr>
              <a:t>] </a:t>
            </a:r>
            <a:r>
              <a:rPr sz="900" dirty="0">
                <a:latin typeface="Consolas"/>
                <a:cs typeface="Consolas"/>
              </a:rPr>
              <a:t>filtered_docs</a:t>
            </a:r>
            <a:r>
              <a:rPr sz="900" spc="-4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50" dirty="0"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[]</a:t>
            </a:r>
            <a:endParaRPr sz="900">
              <a:latin typeface="Consolas"/>
              <a:cs typeface="Consolas"/>
            </a:endParaRPr>
          </a:p>
          <a:p>
            <a:pPr marL="265430">
              <a:lnSpc>
                <a:spcPct val="10000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d</a:t>
            </a:r>
            <a:r>
              <a:rPr sz="900" spc="-10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sz="9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documents:</a:t>
            </a:r>
            <a:endParaRPr sz="900">
              <a:latin typeface="Consolas"/>
              <a:cs typeface="Consolas"/>
            </a:endParaRPr>
          </a:p>
          <a:p>
            <a:pPr marL="520065" marR="5080">
              <a:lnSpc>
                <a:spcPct val="100000"/>
              </a:lnSpc>
            </a:pPr>
            <a:r>
              <a:rPr sz="900" dirty="0">
                <a:latin typeface="Consolas"/>
                <a:cs typeface="Consolas"/>
              </a:rPr>
              <a:t>score</a:t>
            </a:r>
            <a:r>
              <a:rPr sz="900" spc="-35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2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retrieval_grader.invoke({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"question"</a:t>
            </a:r>
            <a:r>
              <a:rPr sz="900" spc="-10" dirty="0">
                <a:latin typeface="Consolas"/>
                <a:cs typeface="Consolas"/>
              </a:rPr>
              <a:t>: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question,</a:t>
            </a:r>
            <a:r>
              <a:rPr sz="900" spc="-10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"document"</a:t>
            </a:r>
            <a:r>
              <a:rPr sz="900" dirty="0">
                <a:latin typeface="Consolas"/>
                <a:cs typeface="Consolas"/>
              </a:rPr>
              <a:t>:</a:t>
            </a:r>
            <a:r>
              <a:rPr sz="900" spc="-10" dirty="0">
                <a:latin typeface="Consolas"/>
                <a:cs typeface="Consolas"/>
              </a:rPr>
              <a:t> </a:t>
            </a:r>
            <a:r>
              <a:rPr sz="900" spc="-25" dirty="0">
                <a:latin typeface="Consolas"/>
                <a:cs typeface="Consolas"/>
              </a:rPr>
              <a:t>d}) </a:t>
            </a:r>
            <a:r>
              <a:rPr sz="900" dirty="0">
                <a:latin typeface="Consolas"/>
                <a:cs typeface="Consolas"/>
              </a:rPr>
              <a:t>grade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score.binary_score</a:t>
            </a:r>
            <a:endParaRPr sz="900">
              <a:latin typeface="Consolas"/>
              <a:cs typeface="Consolas"/>
            </a:endParaRPr>
          </a:p>
          <a:p>
            <a:pPr marL="774700" marR="2735580" indent="-254635">
              <a:lnSpc>
                <a:spcPct val="10000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9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grade</a:t>
            </a:r>
            <a:r>
              <a:rPr sz="900" spc="-20" dirty="0"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==</a:t>
            </a:r>
            <a:r>
              <a:rPr sz="900" spc="-1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"yes"</a:t>
            </a:r>
            <a:r>
              <a:rPr sz="900" spc="-10" dirty="0">
                <a:latin typeface="Consolas"/>
                <a:cs typeface="Consolas"/>
              </a:rPr>
              <a:t>: filtered_docs.append(d)</a:t>
            </a:r>
            <a:endParaRPr sz="900">
              <a:latin typeface="Consolas"/>
              <a:cs typeface="Consolas"/>
            </a:endParaRPr>
          </a:p>
          <a:p>
            <a:pPr marL="265430">
              <a:lnSpc>
                <a:spcPct val="100000"/>
              </a:lnSpc>
            </a:pPr>
            <a:r>
              <a:rPr sz="9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900" spc="-7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900" dirty="0">
                <a:latin typeface="Consolas"/>
                <a:cs typeface="Consolas"/>
              </a:rPr>
              <a:t>{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"documents"</a:t>
            </a:r>
            <a:r>
              <a:rPr sz="900" dirty="0">
                <a:latin typeface="Consolas"/>
                <a:cs typeface="Consolas"/>
              </a:rPr>
              <a:t>:</a:t>
            </a:r>
            <a:r>
              <a:rPr sz="900" spc="-7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filtered_docs}</a:t>
            </a:r>
            <a:endParaRPr sz="9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서브그래프</a:t>
            </a:r>
            <a:r>
              <a:rPr spc="-30" dirty="0"/>
              <a:t> </a:t>
            </a:r>
            <a:r>
              <a:rPr spc="-10" dirty="0"/>
              <a:t>(Subgraphs)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5551" y="659638"/>
            <a:ext cx="1120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맑은 고딕"/>
                <a:cs typeface="맑은 고딕"/>
              </a:rPr>
              <a:t>Sub-</a:t>
            </a:r>
            <a:r>
              <a:rPr sz="1800" spc="-20" dirty="0">
                <a:solidFill>
                  <a:srgbClr val="FFFFFF"/>
                </a:solidFill>
                <a:latin typeface="맑은 고딕"/>
                <a:cs typeface="맑은 고딕"/>
              </a:rPr>
              <a:t>graph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6400" y="1973960"/>
            <a:ext cx="5595620" cy="4636135"/>
          </a:xfrm>
          <a:custGeom>
            <a:avLst/>
            <a:gdLst/>
            <a:ahLst/>
            <a:cxnLst/>
            <a:rect l="l" t="t" r="r" b="b"/>
            <a:pathLst>
              <a:path w="5595620" h="4636134">
                <a:moveTo>
                  <a:pt x="0" y="255015"/>
                </a:moveTo>
                <a:lnTo>
                  <a:pt x="4109" y="209176"/>
                </a:lnTo>
                <a:lnTo>
                  <a:pt x="15955" y="166032"/>
                </a:lnTo>
                <a:lnTo>
                  <a:pt x="34820" y="126303"/>
                </a:lnTo>
                <a:lnTo>
                  <a:pt x="59981" y="90711"/>
                </a:lnTo>
                <a:lnTo>
                  <a:pt x="90719" y="59976"/>
                </a:lnTo>
                <a:lnTo>
                  <a:pt x="126313" y="34816"/>
                </a:lnTo>
                <a:lnTo>
                  <a:pt x="166043" y="15954"/>
                </a:lnTo>
                <a:lnTo>
                  <a:pt x="209188" y="4108"/>
                </a:lnTo>
                <a:lnTo>
                  <a:pt x="255028" y="0"/>
                </a:lnTo>
                <a:lnTo>
                  <a:pt x="5340223" y="0"/>
                </a:lnTo>
                <a:lnTo>
                  <a:pt x="5386062" y="4108"/>
                </a:lnTo>
                <a:lnTo>
                  <a:pt x="5429206" y="15954"/>
                </a:lnTo>
                <a:lnTo>
                  <a:pt x="5468935" y="34816"/>
                </a:lnTo>
                <a:lnTo>
                  <a:pt x="5504527" y="59976"/>
                </a:lnTo>
                <a:lnTo>
                  <a:pt x="5535262" y="90711"/>
                </a:lnTo>
                <a:lnTo>
                  <a:pt x="5560422" y="126303"/>
                </a:lnTo>
                <a:lnTo>
                  <a:pt x="5579284" y="166032"/>
                </a:lnTo>
                <a:lnTo>
                  <a:pt x="5591130" y="209176"/>
                </a:lnTo>
                <a:lnTo>
                  <a:pt x="5595239" y="255015"/>
                </a:lnTo>
                <a:lnTo>
                  <a:pt x="5595239" y="4380966"/>
                </a:lnTo>
                <a:lnTo>
                  <a:pt x="5591130" y="4426810"/>
                </a:lnTo>
                <a:lnTo>
                  <a:pt x="5579284" y="4469957"/>
                </a:lnTo>
                <a:lnTo>
                  <a:pt x="5560422" y="4509687"/>
                </a:lnTo>
                <a:lnTo>
                  <a:pt x="5535262" y="4545281"/>
                </a:lnTo>
                <a:lnTo>
                  <a:pt x="5504527" y="4576018"/>
                </a:lnTo>
                <a:lnTo>
                  <a:pt x="5468935" y="4601178"/>
                </a:lnTo>
                <a:lnTo>
                  <a:pt x="5429206" y="4620040"/>
                </a:lnTo>
                <a:lnTo>
                  <a:pt x="5386062" y="4631886"/>
                </a:lnTo>
                <a:lnTo>
                  <a:pt x="5340223" y="4635995"/>
                </a:lnTo>
                <a:lnTo>
                  <a:pt x="255028" y="4635995"/>
                </a:lnTo>
                <a:lnTo>
                  <a:pt x="209188" y="4631886"/>
                </a:lnTo>
                <a:lnTo>
                  <a:pt x="166043" y="4620040"/>
                </a:lnTo>
                <a:lnTo>
                  <a:pt x="126313" y="4601178"/>
                </a:lnTo>
                <a:lnTo>
                  <a:pt x="90719" y="4576018"/>
                </a:lnTo>
                <a:lnTo>
                  <a:pt x="59981" y="4545281"/>
                </a:lnTo>
                <a:lnTo>
                  <a:pt x="34820" y="4509687"/>
                </a:lnTo>
                <a:lnTo>
                  <a:pt x="15955" y="4469957"/>
                </a:lnTo>
                <a:lnTo>
                  <a:pt x="4109" y="4426810"/>
                </a:lnTo>
                <a:lnTo>
                  <a:pt x="0" y="4380966"/>
                </a:lnTo>
                <a:lnTo>
                  <a:pt x="0" y="255015"/>
                </a:lnTo>
                <a:close/>
              </a:path>
            </a:pathLst>
          </a:custGeom>
          <a:ln w="9524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60019" y="2353437"/>
            <a:ext cx="3810000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25" indent="-12382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136525" algn="l"/>
              </a:tabLst>
            </a:pPr>
            <a:r>
              <a:rPr sz="1400" dirty="0">
                <a:solidFill>
                  <a:srgbClr val="0D0D0D"/>
                </a:solidFill>
                <a:latin typeface="맑은 고딕"/>
                <a:cs typeface="맑은 고딕"/>
              </a:rPr>
              <a:t>주요</a:t>
            </a:r>
            <a:r>
              <a:rPr sz="14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400" spc="-25" dirty="0">
                <a:solidFill>
                  <a:srgbClr val="0D0D0D"/>
                </a:solidFill>
                <a:latin typeface="맑은 고딕"/>
                <a:cs typeface="맑은 고딕"/>
              </a:rPr>
              <a:t>특징:</a:t>
            </a:r>
            <a:endParaRPr sz="1400">
              <a:latin typeface="맑은 고딕"/>
              <a:cs typeface="맑은 고딕"/>
            </a:endParaRPr>
          </a:p>
          <a:p>
            <a:pPr marL="593725" lvl="1" indent="-123825">
              <a:lnSpc>
                <a:spcPct val="100000"/>
              </a:lnSpc>
              <a:spcBef>
                <a:spcPts val="195"/>
              </a:spcBef>
              <a:buSzPct val="116666"/>
              <a:buFont typeface="Arial"/>
              <a:buChar char="•"/>
              <a:tabLst>
                <a:tab pos="593725" algn="l"/>
              </a:tabLst>
            </a:pP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각</a:t>
            </a:r>
            <a:r>
              <a:rPr sz="12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서브그래프는</a:t>
            </a:r>
            <a:r>
              <a:rPr sz="12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독립적인</a:t>
            </a:r>
            <a:r>
              <a:rPr sz="12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상태</a:t>
            </a:r>
            <a:r>
              <a:rPr sz="12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관리</a:t>
            </a:r>
            <a:r>
              <a:rPr sz="12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D0D0D"/>
                </a:solidFill>
                <a:latin typeface="맑은 고딕"/>
                <a:cs typeface="맑은 고딕"/>
              </a:rPr>
              <a:t>가능</a:t>
            </a:r>
            <a:endParaRPr sz="1200">
              <a:latin typeface="맑은 고딕"/>
              <a:cs typeface="맑은 고딕"/>
            </a:endParaRPr>
          </a:p>
          <a:p>
            <a:pPr marL="576580" lvl="1" indent="-106680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576580" algn="l"/>
              </a:tabLst>
            </a:pP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메인</a:t>
            </a:r>
            <a:r>
              <a:rPr sz="12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그래프와</a:t>
            </a:r>
            <a:r>
              <a:rPr sz="12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서브그래프</a:t>
            </a:r>
            <a:r>
              <a:rPr sz="12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간의</a:t>
            </a:r>
            <a:r>
              <a:rPr sz="12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정보</a:t>
            </a:r>
            <a:r>
              <a:rPr sz="12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교환</a:t>
            </a:r>
            <a:r>
              <a:rPr sz="1200" spc="-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D0D0D"/>
                </a:solidFill>
                <a:latin typeface="맑은 고딕"/>
                <a:cs typeface="맑은 고딕"/>
              </a:rPr>
              <a:t>지원</a:t>
            </a:r>
            <a:endParaRPr sz="1200">
              <a:latin typeface="맑은 고딕"/>
              <a:cs typeface="맑은 고딕"/>
            </a:endParaRPr>
          </a:p>
          <a:p>
            <a:pPr marL="576580" lvl="1" indent="-106680">
              <a:lnSpc>
                <a:spcPct val="100000"/>
              </a:lnSpc>
              <a:buFont typeface="Arial"/>
              <a:buChar char="•"/>
              <a:tabLst>
                <a:tab pos="576580" algn="l"/>
              </a:tabLst>
            </a:pP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모듈화된</a:t>
            </a:r>
            <a:r>
              <a:rPr sz="12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설계로</a:t>
            </a:r>
            <a:r>
              <a:rPr sz="12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복잡한</a:t>
            </a:r>
            <a:r>
              <a:rPr sz="12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워크플로우</a:t>
            </a:r>
            <a:r>
              <a:rPr sz="12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구현</a:t>
            </a:r>
            <a:r>
              <a:rPr sz="12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D0D0D"/>
                </a:solidFill>
                <a:latin typeface="맑은 고딕"/>
                <a:cs typeface="맑은 고딕"/>
              </a:rPr>
              <a:t>용이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0019" y="3359657"/>
            <a:ext cx="2734310" cy="7874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4930" indent="-69850">
              <a:lnSpc>
                <a:spcPts val="1680"/>
              </a:lnSpc>
              <a:spcBef>
                <a:spcPts val="105"/>
              </a:spcBef>
              <a:buSzPct val="92857"/>
              <a:buFont typeface="Arial"/>
              <a:buChar char="•"/>
              <a:tabLst>
                <a:tab pos="74930" algn="l"/>
              </a:tabLst>
            </a:pPr>
            <a:r>
              <a:rPr sz="1400" dirty="0">
                <a:solidFill>
                  <a:srgbClr val="0D0D0D"/>
                </a:solidFill>
                <a:latin typeface="맑은 고딕"/>
                <a:cs typeface="맑은 고딕"/>
              </a:rPr>
              <a:t>구현</a:t>
            </a:r>
            <a:r>
              <a:rPr sz="14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400" spc="-25" dirty="0">
                <a:solidFill>
                  <a:srgbClr val="0D0D0D"/>
                </a:solidFill>
                <a:latin typeface="맑은 고딕"/>
                <a:cs typeface="맑은 고딕"/>
              </a:rPr>
              <a:t>방법:</a:t>
            </a:r>
            <a:endParaRPr sz="1400">
              <a:latin typeface="맑은 고딕"/>
              <a:cs typeface="맑은 고딕"/>
            </a:endParaRPr>
          </a:p>
          <a:p>
            <a:pPr marL="576580" lvl="1" indent="-106680">
              <a:lnSpc>
                <a:spcPts val="1440"/>
              </a:lnSpc>
              <a:buFont typeface="Arial"/>
              <a:buChar char="•"/>
              <a:tabLst>
                <a:tab pos="576580" algn="l"/>
              </a:tabLst>
            </a:pP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서브그래프</a:t>
            </a:r>
            <a:r>
              <a:rPr sz="12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상태</a:t>
            </a:r>
            <a:r>
              <a:rPr sz="12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D0D0D"/>
                </a:solidFill>
                <a:latin typeface="맑은 고딕"/>
                <a:cs typeface="맑은 고딕"/>
              </a:rPr>
              <a:t>정의</a:t>
            </a:r>
            <a:endParaRPr sz="1200">
              <a:latin typeface="맑은 고딕"/>
              <a:cs typeface="맑은 고딕"/>
            </a:endParaRPr>
          </a:p>
          <a:p>
            <a:pPr marL="576580" lvl="1" indent="-106680">
              <a:lnSpc>
                <a:spcPct val="100000"/>
              </a:lnSpc>
              <a:buFont typeface="Arial"/>
              <a:buChar char="•"/>
              <a:tabLst>
                <a:tab pos="576580" algn="l"/>
              </a:tabLst>
            </a:pP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서브그래프</a:t>
            </a:r>
            <a:r>
              <a:rPr sz="12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노드</a:t>
            </a:r>
            <a:r>
              <a:rPr sz="12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및</a:t>
            </a:r>
            <a:r>
              <a:rPr sz="12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엣지</a:t>
            </a:r>
            <a:r>
              <a:rPr sz="12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D0D0D"/>
                </a:solidFill>
                <a:latin typeface="맑은 고딕"/>
                <a:cs typeface="맑은 고딕"/>
              </a:rPr>
              <a:t>구성</a:t>
            </a:r>
            <a:endParaRPr sz="1200">
              <a:latin typeface="맑은 고딕"/>
              <a:cs typeface="맑은 고딕"/>
            </a:endParaRPr>
          </a:p>
          <a:p>
            <a:pPr marL="576580" lvl="1" indent="-106680">
              <a:lnSpc>
                <a:spcPct val="100000"/>
              </a:lnSpc>
              <a:buFont typeface="Arial"/>
              <a:buChar char="•"/>
              <a:tabLst>
                <a:tab pos="576580" algn="l"/>
              </a:tabLst>
            </a:pP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메인</a:t>
            </a:r>
            <a:r>
              <a:rPr sz="12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그래프에</a:t>
            </a:r>
            <a:r>
              <a:rPr sz="1200" spc="-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0D0D0D"/>
                </a:solidFill>
                <a:latin typeface="맑은 고딕"/>
                <a:cs typeface="맑은 고딕"/>
              </a:rPr>
              <a:t>서브그래프</a:t>
            </a:r>
            <a:r>
              <a:rPr sz="1200" spc="10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0D0D0D"/>
                </a:solidFill>
                <a:latin typeface="맑은 고딕"/>
                <a:cs typeface="맑은 고딕"/>
              </a:rPr>
              <a:t>통합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74283" y="1973960"/>
            <a:ext cx="5595620" cy="4636135"/>
          </a:xfrm>
          <a:custGeom>
            <a:avLst/>
            <a:gdLst/>
            <a:ahLst/>
            <a:cxnLst/>
            <a:rect l="l" t="t" r="r" b="b"/>
            <a:pathLst>
              <a:path w="5595620" h="4636134">
                <a:moveTo>
                  <a:pt x="0" y="255015"/>
                </a:moveTo>
                <a:lnTo>
                  <a:pt x="4108" y="209176"/>
                </a:lnTo>
                <a:lnTo>
                  <a:pt x="15954" y="166032"/>
                </a:lnTo>
                <a:lnTo>
                  <a:pt x="34816" y="126303"/>
                </a:lnTo>
                <a:lnTo>
                  <a:pt x="59976" y="90711"/>
                </a:lnTo>
                <a:lnTo>
                  <a:pt x="90711" y="59976"/>
                </a:lnTo>
                <a:lnTo>
                  <a:pt x="126303" y="34816"/>
                </a:lnTo>
                <a:lnTo>
                  <a:pt x="166032" y="15954"/>
                </a:lnTo>
                <a:lnTo>
                  <a:pt x="209176" y="4108"/>
                </a:lnTo>
                <a:lnTo>
                  <a:pt x="255015" y="0"/>
                </a:lnTo>
                <a:lnTo>
                  <a:pt x="5340222" y="0"/>
                </a:lnTo>
                <a:lnTo>
                  <a:pt x="5386062" y="4108"/>
                </a:lnTo>
                <a:lnTo>
                  <a:pt x="5429206" y="15954"/>
                </a:lnTo>
                <a:lnTo>
                  <a:pt x="5468935" y="34816"/>
                </a:lnTo>
                <a:lnTo>
                  <a:pt x="5504527" y="59976"/>
                </a:lnTo>
                <a:lnTo>
                  <a:pt x="5535262" y="90711"/>
                </a:lnTo>
                <a:lnTo>
                  <a:pt x="5560422" y="126303"/>
                </a:lnTo>
                <a:lnTo>
                  <a:pt x="5579284" y="166032"/>
                </a:lnTo>
                <a:lnTo>
                  <a:pt x="5591130" y="209176"/>
                </a:lnTo>
                <a:lnTo>
                  <a:pt x="5595239" y="255015"/>
                </a:lnTo>
                <a:lnTo>
                  <a:pt x="5595239" y="4380966"/>
                </a:lnTo>
                <a:lnTo>
                  <a:pt x="5591130" y="4426810"/>
                </a:lnTo>
                <a:lnTo>
                  <a:pt x="5579284" y="4469957"/>
                </a:lnTo>
                <a:lnTo>
                  <a:pt x="5560422" y="4509687"/>
                </a:lnTo>
                <a:lnTo>
                  <a:pt x="5535262" y="4545281"/>
                </a:lnTo>
                <a:lnTo>
                  <a:pt x="5504527" y="4576018"/>
                </a:lnTo>
                <a:lnTo>
                  <a:pt x="5468935" y="4601178"/>
                </a:lnTo>
                <a:lnTo>
                  <a:pt x="5429206" y="4620040"/>
                </a:lnTo>
                <a:lnTo>
                  <a:pt x="5386062" y="4631886"/>
                </a:lnTo>
                <a:lnTo>
                  <a:pt x="5340222" y="4635995"/>
                </a:lnTo>
                <a:lnTo>
                  <a:pt x="255015" y="4635995"/>
                </a:lnTo>
                <a:lnTo>
                  <a:pt x="209176" y="4631886"/>
                </a:lnTo>
                <a:lnTo>
                  <a:pt x="166032" y="4620040"/>
                </a:lnTo>
                <a:lnTo>
                  <a:pt x="126303" y="4601178"/>
                </a:lnTo>
                <a:lnTo>
                  <a:pt x="90711" y="4576018"/>
                </a:lnTo>
                <a:lnTo>
                  <a:pt x="59976" y="4545281"/>
                </a:lnTo>
                <a:lnTo>
                  <a:pt x="34816" y="4509687"/>
                </a:lnTo>
                <a:lnTo>
                  <a:pt x="15954" y="4469957"/>
                </a:lnTo>
                <a:lnTo>
                  <a:pt x="4108" y="4426810"/>
                </a:lnTo>
                <a:lnTo>
                  <a:pt x="0" y="4380966"/>
                </a:lnTo>
                <a:lnTo>
                  <a:pt x="0" y="255015"/>
                </a:lnTo>
                <a:close/>
              </a:path>
            </a:pathLst>
          </a:custGeom>
          <a:ln w="9524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28334" y="2347341"/>
            <a:ext cx="519112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9085" algn="l"/>
              </a:tabLst>
            </a:pPr>
            <a:r>
              <a:rPr sz="1400" dirty="0">
                <a:latin typeface="맑은 고딕"/>
                <a:cs typeface="맑은 고딕"/>
              </a:rPr>
              <a:t>병렬</a:t>
            </a:r>
            <a:r>
              <a:rPr sz="1400" spc="26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노드</a:t>
            </a:r>
            <a:r>
              <a:rPr sz="1400" spc="26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실행은</a:t>
            </a:r>
            <a:r>
              <a:rPr sz="1400" spc="254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전체</a:t>
            </a:r>
            <a:r>
              <a:rPr sz="1400" spc="26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그래프</a:t>
            </a:r>
            <a:r>
              <a:rPr sz="1400" spc="26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작업속도를</a:t>
            </a:r>
            <a:r>
              <a:rPr sz="1400" spc="254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높이는</a:t>
            </a:r>
            <a:r>
              <a:rPr sz="1400" spc="254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데</a:t>
            </a:r>
            <a:r>
              <a:rPr sz="1400" spc="280" dirty="0">
                <a:latin typeface="맑은 고딕"/>
                <a:cs typeface="맑은 고딕"/>
              </a:rPr>
              <a:t> </a:t>
            </a:r>
            <a:r>
              <a:rPr sz="1400" spc="-25" dirty="0">
                <a:latin typeface="맑은 고딕"/>
                <a:cs typeface="맑은 고딕"/>
              </a:rPr>
              <a:t>필수</a:t>
            </a:r>
            <a:endParaRPr sz="1400">
              <a:latin typeface="맑은 고딕"/>
              <a:cs typeface="맑은 고딕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dirty="0">
                <a:latin typeface="Consolas"/>
                <a:cs typeface="Consolas"/>
              </a:rPr>
              <a:t>LangGraph</a:t>
            </a:r>
            <a:r>
              <a:rPr sz="1400" dirty="0">
                <a:latin typeface="맑은 고딕"/>
                <a:cs typeface="맑은 고딕"/>
              </a:rPr>
              <a:t>는</a:t>
            </a:r>
            <a:r>
              <a:rPr sz="1400" spc="30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노드의</a:t>
            </a:r>
            <a:r>
              <a:rPr sz="1400" spc="24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병렬</a:t>
            </a:r>
            <a:r>
              <a:rPr sz="1400" spc="24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실행을</a:t>
            </a:r>
            <a:r>
              <a:rPr sz="1400" spc="24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기본적으로</a:t>
            </a:r>
            <a:r>
              <a:rPr sz="1400" spc="225" dirty="0">
                <a:latin typeface="맑은 고딕"/>
                <a:cs typeface="맑은 고딕"/>
              </a:rPr>
              <a:t> </a:t>
            </a:r>
            <a:r>
              <a:rPr sz="1400" spc="-25" dirty="0">
                <a:latin typeface="맑은 고딕"/>
                <a:cs typeface="맑은 고딕"/>
              </a:rPr>
              <a:t>지원</a:t>
            </a:r>
            <a:endParaRPr sz="1400">
              <a:latin typeface="맑은 고딕"/>
              <a:cs typeface="맑은 고딕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spc="-20" dirty="0">
                <a:latin typeface="맑은 고딕"/>
                <a:cs typeface="맑은 고딕"/>
              </a:rPr>
              <a:t>팬아웃</a:t>
            </a:r>
            <a:r>
              <a:rPr sz="1400" spc="-20" dirty="0">
                <a:latin typeface="Consolas"/>
                <a:cs typeface="Consolas"/>
              </a:rPr>
              <a:t>(fan-</a:t>
            </a:r>
            <a:r>
              <a:rPr sz="1400" dirty="0">
                <a:latin typeface="Consolas"/>
                <a:cs typeface="Consolas"/>
              </a:rPr>
              <a:t>out)</a:t>
            </a:r>
            <a:r>
              <a:rPr sz="1400" dirty="0">
                <a:latin typeface="맑은 고딕"/>
                <a:cs typeface="맑은 고딕"/>
              </a:rPr>
              <a:t>과</a:t>
            </a:r>
            <a:r>
              <a:rPr sz="1400" spc="320" dirty="0">
                <a:latin typeface="맑은 고딕"/>
                <a:cs typeface="맑은 고딕"/>
              </a:rPr>
              <a:t> </a:t>
            </a:r>
            <a:r>
              <a:rPr sz="1400" spc="-20" dirty="0">
                <a:latin typeface="맑은 고딕"/>
                <a:cs typeface="맑은 고딕"/>
              </a:rPr>
              <a:t>팬인</a:t>
            </a:r>
            <a:r>
              <a:rPr sz="1400" spc="-20" dirty="0">
                <a:latin typeface="Consolas"/>
                <a:cs typeface="Consolas"/>
              </a:rPr>
              <a:t>(fan-</a:t>
            </a:r>
            <a:r>
              <a:rPr sz="1400" dirty="0">
                <a:latin typeface="Consolas"/>
                <a:cs typeface="Consolas"/>
              </a:rPr>
              <a:t>in)</a:t>
            </a:r>
            <a:r>
              <a:rPr sz="1400" spc="35" dirty="0">
                <a:latin typeface="Consolas"/>
                <a:cs typeface="Consolas"/>
              </a:rPr>
              <a:t> </a:t>
            </a:r>
            <a:r>
              <a:rPr sz="1400" dirty="0">
                <a:latin typeface="맑은 고딕"/>
                <a:cs typeface="맑은 고딕"/>
              </a:rPr>
              <a:t>메커니즘을</a:t>
            </a:r>
            <a:r>
              <a:rPr sz="1400" spc="24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통해</a:t>
            </a:r>
            <a:r>
              <a:rPr sz="1400" spc="260" dirty="0">
                <a:latin typeface="맑은 고딕"/>
                <a:cs typeface="맑은 고딕"/>
              </a:rPr>
              <a:t> </a:t>
            </a:r>
            <a:r>
              <a:rPr sz="1400" spc="-25" dirty="0">
                <a:latin typeface="맑은 고딕"/>
                <a:cs typeface="맑은 고딕"/>
              </a:rPr>
              <a:t>구현</a:t>
            </a:r>
            <a:endParaRPr sz="1400">
              <a:latin typeface="맑은 고딕"/>
              <a:cs typeface="맑은 고딕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50900" y="1822373"/>
            <a:ext cx="4470400" cy="391160"/>
          </a:xfrm>
          <a:custGeom>
            <a:avLst/>
            <a:gdLst/>
            <a:ahLst/>
            <a:cxnLst/>
            <a:rect l="l" t="t" r="r" b="b"/>
            <a:pathLst>
              <a:path w="4470400" h="391160">
                <a:moveTo>
                  <a:pt x="4470400" y="0"/>
                </a:moveTo>
                <a:lnTo>
                  <a:pt x="0" y="0"/>
                </a:lnTo>
                <a:lnTo>
                  <a:pt x="0" y="390982"/>
                </a:lnTo>
                <a:lnTo>
                  <a:pt x="4470400" y="390982"/>
                </a:lnTo>
                <a:lnTo>
                  <a:pt x="4470400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50900" y="1822373"/>
            <a:ext cx="4470400" cy="3911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425"/>
              </a:spcBef>
            </a:pP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서브그래프 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개요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45402" y="1822373"/>
            <a:ext cx="4470400" cy="391160"/>
          </a:xfrm>
          <a:custGeom>
            <a:avLst/>
            <a:gdLst/>
            <a:ahLst/>
            <a:cxnLst/>
            <a:rect l="l" t="t" r="r" b="b"/>
            <a:pathLst>
              <a:path w="4470400" h="391160">
                <a:moveTo>
                  <a:pt x="4470400" y="0"/>
                </a:moveTo>
                <a:lnTo>
                  <a:pt x="0" y="0"/>
                </a:lnTo>
                <a:lnTo>
                  <a:pt x="0" y="390982"/>
                </a:lnTo>
                <a:lnTo>
                  <a:pt x="4470400" y="390982"/>
                </a:lnTo>
                <a:lnTo>
                  <a:pt x="4470400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45402" y="1822373"/>
            <a:ext cx="4470400" cy="3911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425"/>
              </a:spcBef>
            </a:pP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병렬 노드 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실행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19901" y="3181489"/>
            <a:ext cx="5225415" cy="1062355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 marR="1887220">
              <a:lnSpc>
                <a:spcPct val="100000"/>
              </a:lnSpc>
              <a:spcBef>
                <a:spcPts val="315"/>
              </a:spcBef>
            </a:pPr>
            <a:r>
              <a:rPr sz="900" spc="-10" dirty="0">
                <a:latin typeface="Consolas"/>
                <a:cs typeface="Consolas"/>
              </a:rPr>
              <a:t>builder.add_edge(START,</a:t>
            </a:r>
            <a:r>
              <a:rPr sz="900" spc="5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"search_menu"</a:t>
            </a:r>
            <a:r>
              <a:rPr sz="900" spc="-10" dirty="0">
                <a:latin typeface="Consolas"/>
                <a:cs typeface="Consolas"/>
              </a:rPr>
              <a:t>) builder.add_edge(START,</a:t>
            </a:r>
            <a:r>
              <a:rPr sz="900" spc="5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"search_web"</a:t>
            </a:r>
            <a:r>
              <a:rPr sz="900" spc="-10" dirty="0">
                <a:latin typeface="Consolas"/>
                <a:cs typeface="Consolas"/>
              </a:rPr>
              <a:t>) builder.add_edge(START,</a:t>
            </a:r>
            <a:r>
              <a:rPr sz="900" spc="5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"search_wiki"</a:t>
            </a:r>
            <a:r>
              <a:rPr sz="900" spc="-10" dirty="0">
                <a:latin typeface="Consolas"/>
                <a:cs typeface="Consolas"/>
              </a:rPr>
              <a:t>) builder.add_edge(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"search_menu"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7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"filter_documents"</a:t>
            </a:r>
            <a:r>
              <a:rPr sz="900" spc="-10" dirty="0">
                <a:latin typeface="Consolas"/>
                <a:cs typeface="Consolas"/>
              </a:rPr>
              <a:t>) builder.add_edge(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"search_web"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6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"filter_documents"</a:t>
            </a:r>
            <a:r>
              <a:rPr sz="900" spc="-10" dirty="0">
                <a:latin typeface="Consolas"/>
                <a:cs typeface="Consolas"/>
              </a:rPr>
              <a:t>) builder.add_edge(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"search_wiki"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7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"filter_documents"</a:t>
            </a:r>
            <a:r>
              <a:rPr sz="900" spc="-10" dirty="0">
                <a:latin typeface="Consolas"/>
                <a:cs typeface="Consolas"/>
              </a:rPr>
              <a:t>) builder.add_edge(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"filter_documents"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75" dirty="0">
                <a:latin typeface="Consolas"/>
                <a:cs typeface="Consolas"/>
              </a:rPr>
              <a:t> </a:t>
            </a:r>
            <a:r>
              <a:rPr sz="900" spc="-20" dirty="0">
                <a:latin typeface="Consolas"/>
                <a:cs typeface="Consolas"/>
              </a:rPr>
              <a:t>END)</a:t>
            </a:r>
            <a:endParaRPr sz="900">
              <a:latin typeface="Consolas"/>
              <a:cs typeface="Consola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1228" y="4183392"/>
            <a:ext cx="3269741" cy="227241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01472" y="6342684"/>
            <a:ext cx="34848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맑은 고딕"/>
                <a:cs typeface="맑은 고딕"/>
              </a:rPr>
              <a:t>https://langchain-ai.github.io/langgraph/how-tos/subgraph/</a:t>
            </a:r>
            <a:endParaRPr sz="1000">
              <a:latin typeface="맑은 고딕"/>
              <a:cs typeface="맑은 고딕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72604" y="4316285"/>
            <a:ext cx="3152140" cy="223951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서브그래프</a:t>
            </a:r>
            <a:r>
              <a:rPr spc="-30" dirty="0"/>
              <a:t> </a:t>
            </a:r>
            <a:r>
              <a:rPr spc="-10" dirty="0"/>
              <a:t>(Subgraphs)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5551" y="659638"/>
            <a:ext cx="1120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맑은 고딕"/>
                <a:cs typeface="맑은 고딕"/>
              </a:rPr>
              <a:t>Sub-</a:t>
            </a:r>
            <a:r>
              <a:rPr sz="1800" spc="-20" dirty="0">
                <a:solidFill>
                  <a:srgbClr val="FFFFFF"/>
                </a:solidFill>
                <a:latin typeface="맑은 고딕"/>
                <a:cs typeface="맑은 고딕"/>
              </a:rPr>
              <a:t>graph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69520" y="1822373"/>
            <a:ext cx="5605145" cy="4792345"/>
            <a:chOff x="6069520" y="1822373"/>
            <a:chExt cx="5605145" cy="4792345"/>
          </a:xfrm>
        </p:grpSpPr>
        <p:sp>
          <p:nvSpPr>
            <p:cNvPr id="6" name="object 6"/>
            <p:cNvSpPr/>
            <p:nvPr/>
          </p:nvSpPr>
          <p:spPr>
            <a:xfrm>
              <a:off x="6074283" y="1973961"/>
              <a:ext cx="5595620" cy="4636135"/>
            </a:xfrm>
            <a:custGeom>
              <a:avLst/>
              <a:gdLst/>
              <a:ahLst/>
              <a:cxnLst/>
              <a:rect l="l" t="t" r="r" b="b"/>
              <a:pathLst>
                <a:path w="5595620" h="4636134">
                  <a:moveTo>
                    <a:pt x="0" y="255015"/>
                  </a:moveTo>
                  <a:lnTo>
                    <a:pt x="4108" y="209176"/>
                  </a:lnTo>
                  <a:lnTo>
                    <a:pt x="15954" y="166032"/>
                  </a:lnTo>
                  <a:lnTo>
                    <a:pt x="34816" y="126303"/>
                  </a:lnTo>
                  <a:lnTo>
                    <a:pt x="59976" y="90711"/>
                  </a:lnTo>
                  <a:lnTo>
                    <a:pt x="90711" y="59976"/>
                  </a:lnTo>
                  <a:lnTo>
                    <a:pt x="126303" y="34816"/>
                  </a:lnTo>
                  <a:lnTo>
                    <a:pt x="166032" y="15954"/>
                  </a:lnTo>
                  <a:lnTo>
                    <a:pt x="209176" y="4108"/>
                  </a:lnTo>
                  <a:lnTo>
                    <a:pt x="255015" y="0"/>
                  </a:lnTo>
                  <a:lnTo>
                    <a:pt x="5340222" y="0"/>
                  </a:lnTo>
                  <a:lnTo>
                    <a:pt x="5386062" y="4108"/>
                  </a:lnTo>
                  <a:lnTo>
                    <a:pt x="5429206" y="15954"/>
                  </a:lnTo>
                  <a:lnTo>
                    <a:pt x="5468935" y="34816"/>
                  </a:lnTo>
                  <a:lnTo>
                    <a:pt x="5504527" y="59976"/>
                  </a:lnTo>
                  <a:lnTo>
                    <a:pt x="5535262" y="90711"/>
                  </a:lnTo>
                  <a:lnTo>
                    <a:pt x="5560422" y="126303"/>
                  </a:lnTo>
                  <a:lnTo>
                    <a:pt x="5579284" y="166032"/>
                  </a:lnTo>
                  <a:lnTo>
                    <a:pt x="5591130" y="209176"/>
                  </a:lnTo>
                  <a:lnTo>
                    <a:pt x="5595239" y="255015"/>
                  </a:lnTo>
                  <a:lnTo>
                    <a:pt x="5595239" y="4380966"/>
                  </a:lnTo>
                  <a:lnTo>
                    <a:pt x="5591130" y="4426810"/>
                  </a:lnTo>
                  <a:lnTo>
                    <a:pt x="5579284" y="4469957"/>
                  </a:lnTo>
                  <a:lnTo>
                    <a:pt x="5560422" y="4509687"/>
                  </a:lnTo>
                  <a:lnTo>
                    <a:pt x="5535262" y="4545281"/>
                  </a:lnTo>
                  <a:lnTo>
                    <a:pt x="5504527" y="4576018"/>
                  </a:lnTo>
                  <a:lnTo>
                    <a:pt x="5468935" y="4601178"/>
                  </a:lnTo>
                  <a:lnTo>
                    <a:pt x="5429206" y="4620040"/>
                  </a:lnTo>
                  <a:lnTo>
                    <a:pt x="5386062" y="4631886"/>
                  </a:lnTo>
                  <a:lnTo>
                    <a:pt x="5340222" y="4635995"/>
                  </a:lnTo>
                  <a:lnTo>
                    <a:pt x="255015" y="4635995"/>
                  </a:lnTo>
                  <a:lnTo>
                    <a:pt x="209176" y="4631886"/>
                  </a:lnTo>
                  <a:lnTo>
                    <a:pt x="166032" y="4620040"/>
                  </a:lnTo>
                  <a:lnTo>
                    <a:pt x="126303" y="4601178"/>
                  </a:lnTo>
                  <a:lnTo>
                    <a:pt x="90711" y="4576018"/>
                  </a:lnTo>
                  <a:lnTo>
                    <a:pt x="59976" y="4545281"/>
                  </a:lnTo>
                  <a:lnTo>
                    <a:pt x="34816" y="4509687"/>
                  </a:lnTo>
                  <a:lnTo>
                    <a:pt x="15954" y="4469957"/>
                  </a:lnTo>
                  <a:lnTo>
                    <a:pt x="4108" y="4426810"/>
                  </a:lnTo>
                  <a:lnTo>
                    <a:pt x="0" y="4380966"/>
                  </a:lnTo>
                  <a:lnTo>
                    <a:pt x="0" y="255015"/>
                  </a:lnTo>
                  <a:close/>
                </a:path>
              </a:pathLst>
            </a:custGeom>
            <a:ln w="952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45402" y="1822373"/>
              <a:ext cx="4470400" cy="391160"/>
            </a:xfrm>
            <a:custGeom>
              <a:avLst/>
              <a:gdLst/>
              <a:ahLst/>
              <a:cxnLst/>
              <a:rect l="l" t="t" r="r" b="b"/>
              <a:pathLst>
                <a:path w="4470400" h="391160">
                  <a:moveTo>
                    <a:pt x="4470400" y="0"/>
                  </a:moveTo>
                  <a:lnTo>
                    <a:pt x="0" y="0"/>
                  </a:lnTo>
                  <a:lnTo>
                    <a:pt x="0" y="390982"/>
                  </a:lnTo>
                  <a:lnTo>
                    <a:pt x="4470400" y="390982"/>
                  </a:lnTo>
                  <a:lnTo>
                    <a:pt x="44704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645402" y="1822373"/>
            <a:ext cx="4470400" cy="3911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425"/>
              </a:spcBef>
            </a:pP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기존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spc="-30" dirty="0">
                <a:solidFill>
                  <a:srgbClr val="FFFFFF"/>
                </a:solidFill>
                <a:latin typeface="맑은 고딕"/>
                <a:cs typeface="맑은 고딕"/>
              </a:rPr>
              <a:t>Self-</a:t>
            </a: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RAG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그래프와</a:t>
            </a:r>
            <a:r>
              <a:rPr sz="1800" b="1" spc="-2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결합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91489" y="2899155"/>
            <a:ext cx="5225415" cy="3716020"/>
            <a:chOff x="591489" y="2899155"/>
            <a:chExt cx="5225415" cy="371602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4576" y="4359440"/>
              <a:ext cx="2692273" cy="225538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1489" y="2899155"/>
              <a:ext cx="5225415" cy="1477645"/>
            </a:xfrm>
            <a:custGeom>
              <a:avLst/>
              <a:gdLst/>
              <a:ahLst/>
              <a:cxnLst/>
              <a:rect l="l" t="t" r="r" b="b"/>
              <a:pathLst>
                <a:path w="5225415" h="1477645">
                  <a:moveTo>
                    <a:pt x="5225034" y="0"/>
                  </a:moveTo>
                  <a:lnTo>
                    <a:pt x="0" y="0"/>
                  </a:lnTo>
                  <a:lnTo>
                    <a:pt x="0" y="1477390"/>
                  </a:lnTo>
                  <a:lnTo>
                    <a:pt x="5225034" y="1477390"/>
                  </a:lnTo>
                  <a:lnTo>
                    <a:pt x="52250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91489" y="2899155"/>
            <a:ext cx="5225415" cy="1477645"/>
          </a:xfrm>
          <a:prstGeom prst="rect">
            <a:avLst/>
          </a:prstGeom>
          <a:ln w="9525">
            <a:solidFill>
              <a:srgbClr val="A6A6A6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 marR="1951989">
              <a:lnSpc>
                <a:spcPct val="100000"/>
              </a:lnSpc>
              <a:spcBef>
                <a:spcPts val="315"/>
              </a:spcBef>
            </a:pPr>
            <a:r>
              <a:rPr sz="900" spc="-10" dirty="0">
                <a:latin typeface="Consolas"/>
                <a:cs typeface="Consolas"/>
              </a:rPr>
              <a:t>search_builder.add_edge(START,</a:t>
            </a:r>
            <a:r>
              <a:rPr sz="900" spc="5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"analyze_question"</a:t>
            </a:r>
            <a:r>
              <a:rPr sz="900" spc="-10" dirty="0">
                <a:latin typeface="Consolas"/>
                <a:cs typeface="Consolas"/>
              </a:rPr>
              <a:t>) search_builder.add_conditional_edges(</a:t>
            </a:r>
            <a:endParaRPr sz="900">
              <a:latin typeface="Consolas"/>
              <a:cs typeface="Consolas"/>
            </a:endParaRPr>
          </a:p>
          <a:p>
            <a:pPr marL="344170" marR="3666490">
              <a:lnSpc>
                <a:spcPct val="100000"/>
              </a:lnSpc>
            </a:pP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"analyze_question"</a:t>
            </a:r>
            <a:r>
              <a:rPr sz="900" spc="-10" dirty="0">
                <a:latin typeface="Consolas"/>
                <a:cs typeface="Consolas"/>
              </a:rPr>
              <a:t>, route_datasources,</a:t>
            </a:r>
            <a:endParaRPr sz="900">
              <a:latin typeface="Consolas"/>
              <a:cs typeface="Consolas"/>
            </a:endParaRPr>
          </a:p>
          <a:p>
            <a:pPr marL="344170">
              <a:lnSpc>
                <a:spcPct val="100000"/>
              </a:lnSpc>
            </a:pPr>
            <a:r>
              <a:rPr sz="900" dirty="0">
                <a:latin typeface="Consolas"/>
                <a:cs typeface="Consolas"/>
              </a:rPr>
              <a:t>[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"search_menu"</a:t>
            </a:r>
            <a:r>
              <a:rPr sz="900" dirty="0">
                <a:latin typeface="Consolas"/>
                <a:cs typeface="Consolas"/>
              </a:rPr>
              <a:t>,</a:t>
            </a:r>
            <a:r>
              <a:rPr sz="900" spc="-105" dirty="0"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"search_web"</a:t>
            </a:r>
            <a:r>
              <a:rPr sz="900" dirty="0">
                <a:latin typeface="Consolas"/>
                <a:cs typeface="Consolas"/>
              </a:rPr>
              <a:t>,</a:t>
            </a:r>
            <a:r>
              <a:rPr sz="900" spc="-10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"search_wiki"</a:t>
            </a:r>
            <a:r>
              <a:rPr sz="900" spc="-10" dirty="0">
                <a:latin typeface="Consolas"/>
                <a:cs typeface="Consolas"/>
              </a:rPr>
              <a:t>]</a:t>
            </a:r>
            <a:endParaRPr sz="9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900" spc="-50" dirty="0">
                <a:latin typeface="Consolas"/>
                <a:cs typeface="Consolas"/>
              </a:rPr>
              <a:t>)</a:t>
            </a:r>
            <a:endParaRPr sz="900">
              <a:latin typeface="Consolas"/>
              <a:cs typeface="Consolas"/>
            </a:endParaRPr>
          </a:p>
          <a:p>
            <a:pPr marL="91440" marR="1442720">
              <a:lnSpc>
                <a:spcPct val="100000"/>
              </a:lnSpc>
            </a:pPr>
            <a:r>
              <a:rPr sz="900" spc="-10" dirty="0">
                <a:latin typeface="Consolas"/>
                <a:cs typeface="Consolas"/>
              </a:rPr>
              <a:t>search_builder.add_edge(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"search_menu"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8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"filter_documents"</a:t>
            </a:r>
            <a:r>
              <a:rPr sz="900" spc="-10" dirty="0">
                <a:latin typeface="Consolas"/>
                <a:cs typeface="Consolas"/>
              </a:rPr>
              <a:t>) search_builder.add_edge(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"search_web"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7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"filter_documents"</a:t>
            </a:r>
            <a:r>
              <a:rPr sz="900" spc="-10" dirty="0">
                <a:latin typeface="Consolas"/>
                <a:cs typeface="Consolas"/>
              </a:rPr>
              <a:t>) search_builder.add_edge(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"search_wiki"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8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"filter_documents"</a:t>
            </a:r>
            <a:r>
              <a:rPr sz="900" spc="-10" dirty="0">
                <a:latin typeface="Consolas"/>
                <a:cs typeface="Consolas"/>
              </a:rPr>
              <a:t>) search_builder.add_edge(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"filter_documents"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90" dirty="0">
                <a:latin typeface="Consolas"/>
                <a:cs typeface="Consolas"/>
              </a:rPr>
              <a:t> </a:t>
            </a:r>
            <a:r>
              <a:rPr sz="900" spc="-20" dirty="0">
                <a:latin typeface="Consolas"/>
                <a:cs typeface="Consolas"/>
              </a:rPr>
              <a:t>END)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6400" y="1973960"/>
            <a:ext cx="5595620" cy="4636135"/>
          </a:xfrm>
          <a:custGeom>
            <a:avLst/>
            <a:gdLst/>
            <a:ahLst/>
            <a:cxnLst/>
            <a:rect l="l" t="t" r="r" b="b"/>
            <a:pathLst>
              <a:path w="5595620" h="4636134">
                <a:moveTo>
                  <a:pt x="0" y="255015"/>
                </a:moveTo>
                <a:lnTo>
                  <a:pt x="4109" y="209176"/>
                </a:lnTo>
                <a:lnTo>
                  <a:pt x="15955" y="166032"/>
                </a:lnTo>
                <a:lnTo>
                  <a:pt x="34820" y="126303"/>
                </a:lnTo>
                <a:lnTo>
                  <a:pt x="59981" y="90711"/>
                </a:lnTo>
                <a:lnTo>
                  <a:pt x="90719" y="59976"/>
                </a:lnTo>
                <a:lnTo>
                  <a:pt x="126313" y="34816"/>
                </a:lnTo>
                <a:lnTo>
                  <a:pt x="166043" y="15954"/>
                </a:lnTo>
                <a:lnTo>
                  <a:pt x="209188" y="4108"/>
                </a:lnTo>
                <a:lnTo>
                  <a:pt x="255028" y="0"/>
                </a:lnTo>
                <a:lnTo>
                  <a:pt x="5340223" y="0"/>
                </a:lnTo>
                <a:lnTo>
                  <a:pt x="5386062" y="4108"/>
                </a:lnTo>
                <a:lnTo>
                  <a:pt x="5429206" y="15954"/>
                </a:lnTo>
                <a:lnTo>
                  <a:pt x="5468935" y="34816"/>
                </a:lnTo>
                <a:lnTo>
                  <a:pt x="5504527" y="59976"/>
                </a:lnTo>
                <a:lnTo>
                  <a:pt x="5535262" y="90711"/>
                </a:lnTo>
                <a:lnTo>
                  <a:pt x="5560422" y="126303"/>
                </a:lnTo>
                <a:lnTo>
                  <a:pt x="5579284" y="166032"/>
                </a:lnTo>
                <a:lnTo>
                  <a:pt x="5591130" y="209176"/>
                </a:lnTo>
                <a:lnTo>
                  <a:pt x="5595239" y="255015"/>
                </a:lnTo>
                <a:lnTo>
                  <a:pt x="5595239" y="4380966"/>
                </a:lnTo>
                <a:lnTo>
                  <a:pt x="5591130" y="4426810"/>
                </a:lnTo>
                <a:lnTo>
                  <a:pt x="5579284" y="4469957"/>
                </a:lnTo>
                <a:lnTo>
                  <a:pt x="5560422" y="4509687"/>
                </a:lnTo>
                <a:lnTo>
                  <a:pt x="5535262" y="4545281"/>
                </a:lnTo>
                <a:lnTo>
                  <a:pt x="5504527" y="4576018"/>
                </a:lnTo>
                <a:lnTo>
                  <a:pt x="5468935" y="4601178"/>
                </a:lnTo>
                <a:lnTo>
                  <a:pt x="5429206" y="4620040"/>
                </a:lnTo>
                <a:lnTo>
                  <a:pt x="5386062" y="4631886"/>
                </a:lnTo>
                <a:lnTo>
                  <a:pt x="5340223" y="4635995"/>
                </a:lnTo>
                <a:lnTo>
                  <a:pt x="255028" y="4635995"/>
                </a:lnTo>
                <a:lnTo>
                  <a:pt x="209188" y="4631886"/>
                </a:lnTo>
                <a:lnTo>
                  <a:pt x="166043" y="4620040"/>
                </a:lnTo>
                <a:lnTo>
                  <a:pt x="126313" y="4601178"/>
                </a:lnTo>
                <a:lnTo>
                  <a:pt x="90719" y="4576018"/>
                </a:lnTo>
                <a:lnTo>
                  <a:pt x="59981" y="4545281"/>
                </a:lnTo>
                <a:lnTo>
                  <a:pt x="34820" y="4509687"/>
                </a:lnTo>
                <a:lnTo>
                  <a:pt x="15955" y="4469957"/>
                </a:lnTo>
                <a:lnTo>
                  <a:pt x="4109" y="4426810"/>
                </a:lnTo>
                <a:lnTo>
                  <a:pt x="0" y="4380966"/>
                </a:lnTo>
                <a:lnTo>
                  <a:pt x="0" y="255015"/>
                </a:lnTo>
                <a:close/>
              </a:path>
            </a:pathLst>
          </a:custGeom>
          <a:ln w="9524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60019" y="2353437"/>
            <a:ext cx="438023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525" indent="-12382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136525" algn="l"/>
              </a:tabLst>
            </a:pPr>
            <a:r>
              <a:rPr sz="1400" dirty="0">
                <a:solidFill>
                  <a:srgbClr val="0D0D0D"/>
                </a:solidFill>
                <a:latin typeface="맑은 고딕"/>
                <a:cs typeface="맑은 고딕"/>
              </a:rPr>
              <a:t>조건부</a:t>
            </a:r>
            <a:r>
              <a:rPr sz="1400" spc="-2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0D0D0D"/>
                </a:solidFill>
                <a:latin typeface="맑은 고딕"/>
                <a:cs typeface="맑은 고딕"/>
              </a:rPr>
              <a:t>엣지는</a:t>
            </a:r>
            <a:r>
              <a:rPr sz="14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0D0D0D"/>
                </a:solidFill>
                <a:latin typeface="맑은 고딕"/>
                <a:cs typeface="맑은 고딕"/>
              </a:rPr>
              <a:t>실행</a:t>
            </a:r>
            <a:r>
              <a:rPr sz="14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0D0D0D"/>
                </a:solidFill>
                <a:latin typeface="맑은 고딕"/>
                <a:cs typeface="맑은 고딕"/>
              </a:rPr>
              <a:t>시간에</a:t>
            </a:r>
            <a:r>
              <a:rPr sz="1400" spc="-2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0D0D0D"/>
                </a:solidFill>
                <a:latin typeface="맑은 고딕"/>
                <a:cs typeface="맑은 고딕"/>
              </a:rPr>
              <a:t>동적으로</a:t>
            </a:r>
            <a:r>
              <a:rPr sz="14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0D0D0D"/>
                </a:solidFill>
                <a:latin typeface="맑은 고딕"/>
                <a:cs typeface="맑은 고딕"/>
              </a:rPr>
              <a:t>경로를</a:t>
            </a:r>
            <a:r>
              <a:rPr sz="1400" spc="-25" dirty="0">
                <a:solidFill>
                  <a:srgbClr val="0D0D0D"/>
                </a:solidFill>
                <a:latin typeface="맑은 고딕"/>
                <a:cs typeface="맑은 고딕"/>
              </a:rPr>
              <a:t> 결정</a:t>
            </a:r>
            <a:endParaRPr sz="1400">
              <a:latin typeface="맑은 고딕"/>
              <a:cs typeface="맑은 고딕"/>
            </a:endParaRPr>
          </a:p>
          <a:p>
            <a:pPr marL="136525" indent="-123825">
              <a:lnSpc>
                <a:spcPct val="100000"/>
              </a:lnSpc>
              <a:buFont typeface="Arial"/>
              <a:buChar char="•"/>
              <a:tabLst>
                <a:tab pos="136525" algn="l"/>
              </a:tabLst>
            </a:pPr>
            <a:r>
              <a:rPr sz="1400" dirty="0">
                <a:solidFill>
                  <a:srgbClr val="0D0D0D"/>
                </a:solidFill>
                <a:latin typeface="맑은 고딕"/>
                <a:cs typeface="맑은 고딕"/>
              </a:rPr>
              <a:t>특정</a:t>
            </a:r>
            <a:r>
              <a:rPr sz="14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0D0D0D"/>
                </a:solidFill>
                <a:latin typeface="맑은 고딕"/>
                <a:cs typeface="맑은 고딕"/>
              </a:rPr>
              <a:t>조건에</a:t>
            </a:r>
            <a:r>
              <a:rPr sz="1400" spc="-2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0D0D0D"/>
                </a:solidFill>
                <a:latin typeface="맑은 고딕"/>
                <a:cs typeface="맑은 고딕"/>
              </a:rPr>
              <a:t>따라</a:t>
            </a:r>
            <a:r>
              <a:rPr sz="14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0D0D0D"/>
                </a:solidFill>
                <a:latin typeface="맑은 고딕"/>
                <a:cs typeface="맑은 고딕"/>
              </a:rPr>
              <a:t>다른</a:t>
            </a:r>
            <a:r>
              <a:rPr sz="14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0D0D0D"/>
                </a:solidFill>
                <a:latin typeface="맑은 고딕"/>
                <a:cs typeface="맑은 고딕"/>
              </a:rPr>
              <a:t>노드</a:t>
            </a:r>
            <a:r>
              <a:rPr sz="14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0D0D0D"/>
                </a:solidFill>
                <a:latin typeface="맑은 고딕"/>
                <a:cs typeface="맑은 고딕"/>
              </a:rPr>
              <a:t>세트를</a:t>
            </a:r>
            <a:r>
              <a:rPr sz="14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0D0D0D"/>
                </a:solidFill>
                <a:latin typeface="맑은 고딕"/>
                <a:cs typeface="맑은 고딕"/>
              </a:rPr>
              <a:t>병렬로</a:t>
            </a:r>
            <a:r>
              <a:rPr sz="1400" spc="-2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0D0D0D"/>
                </a:solidFill>
                <a:latin typeface="맑은 고딕"/>
                <a:cs typeface="맑은 고딕"/>
              </a:rPr>
              <a:t>실행</a:t>
            </a:r>
            <a:r>
              <a:rPr sz="1400" spc="-15" dirty="0">
                <a:solidFill>
                  <a:srgbClr val="0D0D0D"/>
                </a:solidFill>
                <a:latin typeface="맑은 고딕"/>
                <a:cs typeface="맑은 고딕"/>
              </a:rPr>
              <a:t> </a:t>
            </a:r>
            <a:r>
              <a:rPr sz="1400" spc="-25" dirty="0">
                <a:solidFill>
                  <a:srgbClr val="0D0D0D"/>
                </a:solidFill>
                <a:latin typeface="맑은 고딕"/>
                <a:cs typeface="맑은 고딕"/>
              </a:rPr>
              <a:t>가능</a:t>
            </a:r>
            <a:endParaRPr sz="1400">
              <a:latin typeface="맑은 고딕"/>
              <a:cs typeface="맑은 고딕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77216" y="2687192"/>
            <a:ext cx="5467350" cy="3456304"/>
            <a:chOff x="6177216" y="2687192"/>
            <a:chExt cx="5467350" cy="3456304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92489" y="2687192"/>
              <a:ext cx="3152013" cy="345605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6804" y="3150971"/>
              <a:ext cx="2233168" cy="252844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181978" y="3146209"/>
              <a:ext cx="2242820" cy="2538095"/>
            </a:xfrm>
            <a:custGeom>
              <a:avLst/>
              <a:gdLst/>
              <a:ahLst/>
              <a:cxnLst/>
              <a:rect l="l" t="t" r="r" b="b"/>
              <a:pathLst>
                <a:path w="2242820" h="2538095">
                  <a:moveTo>
                    <a:pt x="0" y="2537967"/>
                  </a:moveTo>
                  <a:lnTo>
                    <a:pt x="2242693" y="2537967"/>
                  </a:lnTo>
                  <a:lnTo>
                    <a:pt x="2242693" y="0"/>
                  </a:lnTo>
                  <a:lnTo>
                    <a:pt x="0" y="0"/>
                  </a:lnTo>
                  <a:lnTo>
                    <a:pt x="0" y="2537967"/>
                  </a:lnTo>
                  <a:close/>
                </a:path>
              </a:pathLst>
            </a:custGeom>
            <a:ln w="9525">
              <a:solidFill>
                <a:srgbClr val="F6C5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850900" y="1822373"/>
            <a:ext cx="4470400" cy="391160"/>
          </a:xfrm>
          <a:custGeom>
            <a:avLst/>
            <a:gdLst/>
            <a:ahLst/>
            <a:cxnLst/>
            <a:rect l="l" t="t" r="r" b="b"/>
            <a:pathLst>
              <a:path w="4470400" h="391160">
                <a:moveTo>
                  <a:pt x="4470400" y="0"/>
                </a:moveTo>
                <a:lnTo>
                  <a:pt x="0" y="0"/>
                </a:lnTo>
                <a:lnTo>
                  <a:pt x="0" y="390982"/>
                </a:lnTo>
                <a:lnTo>
                  <a:pt x="4470400" y="390982"/>
                </a:lnTo>
                <a:lnTo>
                  <a:pt x="4470400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50900" y="1822373"/>
            <a:ext cx="4470400" cy="391160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425"/>
              </a:spcBef>
            </a:pP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조건부</a:t>
            </a:r>
            <a:r>
              <a:rPr sz="1800" b="1" spc="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FFFFFF"/>
                </a:solidFill>
                <a:latin typeface="맑은 고딕"/>
                <a:cs typeface="맑은 고딕"/>
              </a:rPr>
              <a:t>엣지로 병렬 노드</a:t>
            </a:r>
            <a:r>
              <a:rPr sz="1800" b="1" spc="1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맑은 고딕"/>
                <a:cs typeface="맑은 고딕"/>
              </a:rPr>
              <a:t>실행</a:t>
            </a:r>
            <a:endParaRPr sz="18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05"/>
              </a:spcBef>
            </a:pPr>
            <a:r>
              <a:rPr dirty="0"/>
              <a:t>Corrective</a:t>
            </a:r>
            <a:r>
              <a:rPr spc="-130" dirty="0"/>
              <a:t> </a:t>
            </a:r>
            <a:r>
              <a:rPr dirty="0"/>
              <a:t>RAG</a:t>
            </a:r>
            <a:r>
              <a:rPr spc="-135" dirty="0"/>
              <a:t> </a:t>
            </a:r>
            <a:r>
              <a:rPr dirty="0"/>
              <a:t>(CRAG)</a:t>
            </a:r>
            <a:r>
              <a:rPr spc="-125" dirty="0"/>
              <a:t> </a:t>
            </a:r>
            <a:r>
              <a:rPr spc="-25" dirty="0"/>
              <a:t>개요</a:t>
            </a:r>
          </a:p>
        </p:txBody>
      </p:sp>
      <p:sp>
        <p:nvSpPr>
          <p:cNvPr id="3" name="object 3"/>
          <p:cNvSpPr/>
          <p:nvPr/>
        </p:nvSpPr>
        <p:spPr>
          <a:xfrm>
            <a:off x="500748" y="1756282"/>
            <a:ext cx="10987405" cy="637540"/>
          </a:xfrm>
          <a:custGeom>
            <a:avLst/>
            <a:gdLst/>
            <a:ahLst/>
            <a:cxnLst/>
            <a:rect l="l" t="t" r="r" b="b"/>
            <a:pathLst>
              <a:path w="10987405" h="637539">
                <a:moveTo>
                  <a:pt x="10918456" y="0"/>
                </a:moveTo>
                <a:lnTo>
                  <a:pt x="68795" y="0"/>
                </a:lnTo>
                <a:lnTo>
                  <a:pt x="42015" y="5395"/>
                </a:lnTo>
                <a:lnTo>
                  <a:pt x="20148" y="20113"/>
                </a:lnTo>
                <a:lnTo>
                  <a:pt x="5405" y="41951"/>
                </a:lnTo>
                <a:lnTo>
                  <a:pt x="0" y="68706"/>
                </a:lnTo>
                <a:lnTo>
                  <a:pt x="0" y="568325"/>
                </a:lnTo>
                <a:lnTo>
                  <a:pt x="5405" y="595100"/>
                </a:lnTo>
                <a:lnTo>
                  <a:pt x="20148" y="616981"/>
                </a:lnTo>
                <a:lnTo>
                  <a:pt x="42015" y="631743"/>
                </a:lnTo>
                <a:lnTo>
                  <a:pt x="68795" y="637158"/>
                </a:lnTo>
                <a:lnTo>
                  <a:pt x="10918456" y="637158"/>
                </a:lnTo>
                <a:lnTo>
                  <a:pt x="10945285" y="631743"/>
                </a:lnTo>
                <a:lnTo>
                  <a:pt x="10967161" y="616981"/>
                </a:lnTo>
                <a:lnTo>
                  <a:pt x="10981893" y="595100"/>
                </a:lnTo>
                <a:lnTo>
                  <a:pt x="10987290" y="568325"/>
                </a:lnTo>
                <a:lnTo>
                  <a:pt x="10987290" y="68706"/>
                </a:lnTo>
                <a:lnTo>
                  <a:pt x="10981893" y="41951"/>
                </a:lnTo>
                <a:lnTo>
                  <a:pt x="10967161" y="20113"/>
                </a:lnTo>
                <a:lnTo>
                  <a:pt x="10945285" y="5395"/>
                </a:lnTo>
                <a:lnTo>
                  <a:pt x="10918456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426322" y="659638"/>
            <a:ext cx="618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맑은 고딕"/>
                <a:cs typeface="맑은 고딕"/>
              </a:rPr>
              <a:t>CRAG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0748" y="2573654"/>
            <a:ext cx="10987405" cy="4036695"/>
          </a:xfrm>
          <a:custGeom>
            <a:avLst/>
            <a:gdLst/>
            <a:ahLst/>
            <a:cxnLst/>
            <a:rect l="l" t="t" r="r" b="b"/>
            <a:pathLst>
              <a:path w="10987405" h="4036695">
                <a:moveTo>
                  <a:pt x="0" y="221996"/>
                </a:moveTo>
                <a:lnTo>
                  <a:pt x="4510" y="177270"/>
                </a:lnTo>
                <a:lnTo>
                  <a:pt x="17447" y="135606"/>
                </a:lnTo>
                <a:lnTo>
                  <a:pt x="37918" y="97897"/>
                </a:lnTo>
                <a:lnTo>
                  <a:pt x="65030" y="65039"/>
                </a:lnTo>
                <a:lnTo>
                  <a:pt x="97890" y="37926"/>
                </a:lnTo>
                <a:lnTo>
                  <a:pt x="135606" y="17452"/>
                </a:lnTo>
                <a:lnTo>
                  <a:pt x="177285" y="4512"/>
                </a:lnTo>
                <a:lnTo>
                  <a:pt x="222034" y="0"/>
                </a:lnTo>
                <a:lnTo>
                  <a:pt x="10765294" y="0"/>
                </a:lnTo>
                <a:lnTo>
                  <a:pt x="10810020" y="4512"/>
                </a:lnTo>
                <a:lnTo>
                  <a:pt x="10851684" y="17452"/>
                </a:lnTo>
                <a:lnTo>
                  <a:pt x="10889392" y="37926"/>
                </a:lnTo>
                <a:lnTo>
                  <a:pt x="10922250" y="65039"/>
                </a:lnTo>
                <a:lnTo>
                  <a:pt x="10949364" y="97897"/>
                </a:lnTo>
                <a:lnTo>
                  <a:pt x="10969838" y="135606"/>
                </a:lnTo>
                <a:lnTo>
                  <a:pt x="10982778" y="177270"/>
                </a:lnTo>
                <a:lnTo>
                  <a:pt x="10987290" y="221996"/>
                </a:lnTo>
                <a:lnTo>
                  <a:pt x="10987290" y="3814267"/>
                </a:lnTo>
                <a:lnTo>
                  <a:pt x="10982778" y="3859016"/>
                </a:lnTo>
                <a:lnTo>
                  <a:pt x="10969838" y="3900695"/>
                </a:lnTo>
                <a:lnTo>
                  <a:pt x="10949364" y="3938410"/>
                </a:lnTo>
                <a:lnTo>
                  <a:pt x="10922250" y="3971270"/>
                </a:lnTo>
                <a:lnTo>
                  <a:pt x="10889392" y="3998382"/>
                </a:lnTo>
                <a:lnTo>
                  <a:pt x="10851684" y="4018853"/>
                </a:lnTo>
                <a:lnTo>
                  <a:pt x="10810020" y="4031790"/>
                </a:lnTo>
                <a:lnTo>
                  <a:pt x="10765294" y="4036301"/>
                </a:lnTo>
                <a:lnTo>
                  <a:pt x="222034" y="4036301"/>
                </a:lnTo>
                <a:lnTo>
                  <a:pt x="177285" y="4031790"/>
                </a:lnTo>
                <a:lnTo>
                  <a:pt x="135606" y="4018853"/>
                </a:lnTo>
                <a:lnTo>
                  <a:pt x="97890" y="3998382"/>
                </a:lnTo>
                <a:lnTo>
                  <a:pt x="65030" y="3971270"/>
                </a:lnTo>
                <a:lnTo>
                  <a:pt x="37918" y="3938410"/>
                </a:lnTo>
                <a:lnTo>
                  <a:pt x="17447" y="3900695"/>
                </a:lnTo>
                <a:lnTo>
                  <a:pt x="4510" y="3859016"/>
                </a:lnTo>
                <a:lnTo>
                  <a:pt x="0" y="3814267"/>
                </a:lnTo>
                <a:lnTo>
                  <a:pt x="0" y="221996"/>
                </a:lnTo>
                <a:close/>
              </a:path>
            </a:pathLst>
          </a:custGeom>
          <a:ln w="95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9643" y="1783841"/>
            <a:ext cx="10321290" cy="2112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indent="-159385">
              <a:lnSpc>
                <a:spcPts val="2130"/>
              </a:lnSpc>
              <a:spcBef>
                <a:spcPts val="100"/>
              </a:spcBef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latin typeface="맑은 고딕"/>
                <a:cs typeface="맑은 고딕"/>
              </a:rPr>
              <a:t>CRAG는 기존</a:t>
            </a:r>
            <a:r>
              <a:rPr sz="1800" spc="-10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RAG 시스템을</a:t>
            </a:r>
            <a:r>
              <a:rPr sz="1800" spc="-10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개선하여</a:t>
            </a:r>
            <a:r>
              <a:rPr sz="1800" spc="-10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검색된</a:t>
            </a:r>
            <a:r>
              <a:rPr sz="1800" spc="-10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정보의</a:t>
            </a:r>
            <a:r>
              <a:rPr sz="1800" spc="-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품질과</a:t>
            </a:r>
            <a:r>
              <a:rPr sz="1800" spc="-10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관련성을</a:t>
            </a:r>
            <a:r>
              <a:rPr sz="1800" spc="-10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향상시키는</a:t>
            </a:r>
            <a:r>
              <a:rPr sz="1800" spc="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접근</a:t>
            </a:r>
            <a:r>
              <a:rPr sz="1800" spc="-10" dirty="0">
                <a:latin typeface="맑은 고딕"/>
                <a:cs typeface="맑은 고딕"/>
              </a:rPr>
              <a:t> </a:t>
            </a:r>
            <a:r>
              <a:rPr sz="1800" spc="-25" dirty="0">
                <a:latin typeface="맑은 고딕"/>
                <a:cs typeface="맑은 고딕"/>
              </a:rPr>
              <a:t>방식</a:t>
            </a:r>
            <a:endParaRPr sz="1800">
              <a:latin typeface="맑은 고딕"/>
              <a:cs typeface="맑은 고딕"/>
            </a:endParaRPr>
          </a:p>
          <a:p>
            <a:pPr marL="172085" indent="-159385">
              <a:lnSpc>
                <a:spcPts val="2130"/>
              </a:lnSpc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latin typeface="맑은 고딕"/>
                <a:cs typeface="맑은 고딕"/>
              </a:rPr>
              <a:t>문서 관련성 평가,</a:t>
            </a:r>
            <a:r>
              <a:rPr sz="1800" spc="1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지식</a:t>
            </a:r>
            <a:r>
              <a:rPr sz="1800" spc="-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정제,</a:t>
            </a:r>
            <a:r>
              <a:rPr sz="1800" spc="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필요</a:t>
            </a:r>
            <a:r>
              <a:rPr sz="1800" spc="1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시</a:t>
            </a:r>
            <a:r>
              <a:rPr sz="1800" spc="-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외부 지식 탐색,</a:t>
            </a:r>
            <a:r>
              <a:rPr sz="1800" spc="5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그리고</a:t>
            </a:r>
            <a:r>
              <a:rPr sz="1800" spc="10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정제된 지식을 바탕으로</a:t>
            </a:r>
            <a:r>
              <a:rPr sz="1800" spc="-10" dirty="0">
                <a:latin typeface="맑은 고딕"/>
                <a:cs typeface="맑은 고딕"/>
              </a:rPr>
              <a:t> </a:t>
            </a:r>
            <a:r>
              <a:rPr sz="1800" dirty="0">
                <a:latin typeface="맑은 고딕"/>
                <a:cs typeface="맑은 고딕"/>
              </a:rPr>
              <a:t>한 답변 </a:t>
            </a:r>
            <a:r>
              <a:rPr sz="1800" spc="-25" dirty="0">
                <a:latin typeface="맑은 고딕"/>
                <a:cs typeface="맑은 고딕"/>
              </a:rPr>
              <a:t>생성</a:t>
            </a:r>
            <a:endParaRPr sz="1800">
              <a:latin typeface="맑은 고딕"/>
              <a:cs typeface="맑은 고딕"/>
            </a:endParaRPr>
          </a:p>
          <a:p>
            <a:pPr marL="262890">
              <a:lnSpc>
                <a:spcPct val="100000"/>
              </a:lnSpc>
              <a:spcBef>
                <a:spcPts val="3045"/>
              </a:spcBef>
            </a:pPr>
            <a:r>
              <a:rPr sz="1400" b="1" dirty="0">
                <a:latin typeface="맑은 고딕"/>
                <a:cs typeface="맑은 고딕"/>
              </a:rPr>
              <a:t>CRAG</a:t>
            </a:r>
            <a:r>
              <a:rPr sz="1400" b="1" spc="-35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작동</a:t>
            </a:r>
            <a:r>
              <a:rPr sz="1400" b="1" spc="-20" dirty="0">
                <a:latin typeface="맑은 고딕"/>
                <a:cs typeface="맑은 고딕"/>
              </a:rPr>
              <a:t> </a:t>
            </a:r>
            <a:r>
              <a:rPr sz="1400" b="1" spc="-25" dirty="0">
                <a:latin typeface="맑은 고딕"/>
                <a:cs typeface="맑은 고딕"/>
              </a:rPr>
              <a:t>방식</a:t>
            </a:r>
            <a:endParaRPr sz="1400">
              <a:latin typeface="맑은 고딕"/>
              <a:cs typeface="맑은 고딕"/>
            </a:endParaRPr>
          </a:p>
          <a:p>
            <a:pPr marL="432434" lvl="1" indent="-16954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432434" algn="l"/>
              </a:tabLst>
            </a:pPr>
            <a:r>
              <a:rPr sz="1200" dirty="0">
                <a:latin typeface="맑은 고딕"/>
                <a:cs typeface="맑은 고딕"/>
              </a:rPr>
              <a:t>문서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관련성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평가: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spc="-10" dirty="0">
                <a:latin typeface="맑은 고딕"/>
                <a:cs typeface="맑은 고딕"/>
              </a:rPr>
              <a:t>Retrieval</a:t>
            </a:r>
            <a:r>
              <a:rPr sz="1200" dirty="0">
                <a:latin typeface="맑은 고딕"/>
                <a:cs typeface="맑은 고딕"/>
              </a:rPr>
              <a:t> 문서에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대한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평가</a:t>
            </a:r>
            <a:endParaRPr sz="1200">
              <a:latin typeface="맑은 고딕"/>
              <a:cs typeface="맑은 고딕"/>
            </a:endParaRPr>
          </a:p>
          <a:p>
            <a:pPr marL="432434" lvl="1" indent="-169545">
              <a:lnSpc>
                <a:spcPct val="100000"/>
              </a:lnSpc>
              <a:buAutoNum type="arabicPeriod"/>
              <a:tabLst>
                <a:tab pos="432434" algn="l"/>
              </a:tabLst>
            </a:pPr>
            <a:r>
              <a:rPr sz="1200" dirty="0">
                <a:latin typeface="맑은 고딕"/>
                <a:cs typeface="맑은 고딕"/>
              </a:rPr>
              <a:t>지식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정제:</a:t>
            </a:r>
            <a:r>
              <a:rPr sz="1200" spc="-10" dirty="0">
                <a:latin typeface="맑은 고딕"/>
                <a:cs typeface="맑은 고딕"/>
              </a:rPr>
              <a:t> Retrieval</a:t>
            </a:r>
            <a:r>
              <a:rPr sz="1200" dirty="0">
                <a:latin typeface="맑은 고딕"/>
                <a:cs typeface="맑은 고딕"/>
              </a:rPr>
              <a:t> 문서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중에서 중요한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정보만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추출</a:t>
            </a:r>
            <a:endParaRPr sz="1200">
              <a:latin typeface="맑은 고딕"/>
              <a:cs typeface="맑은 고딕"/>
            </a:endParaRPr>
          </a:p>
          <a:p>
            <a:pPr marL="432434" lvl="1" indent="-169545">
              <a:lnSpc>
                <a:spcPct val="100000"/>
              </a:lnSpc>
              <a:buAutoNum type="arabicPeriod"/>
              <a:tabLst>
                <a:tab pos="432434" algn="l"/>
              </a:tabLst>
            </a:pPr>
            <a:r>
              <a:rPr sz="1200" dirty="0">
                <a:latin typeface="맑은 고딕"/>
                <a:cs typeface="맑은 고딕"/>
              </a:rPr>
              <a:t>지식 검색: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spc="-10" dirty="0">
                <a:latin typeface="맑은 고딕"/>
                <a:cs typeface="맑은 고딕"/>
              </a:rPr>
              <a:t>Retrieval</a:t>
            </a:r>
            <a:r>
              <a:rPr sz="1200" dirty="0">
                <a:latin typeface="맑은 고딕"/>
                <a:cs typeface="맑은 고딕"/>
              </a:rPr>
              <a:t> 문서가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부족할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경우,</a:t>
            </a:r>
            <a:r>
              <a:rPr sz="1200" spc="-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외부</a:t>
            </a:r>
            <a:r>
              <a:rPr sz="1200" spc="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지식(웹)을</a:t>
            </a:r>
            <a:r>
              <a:rPr sz="1200" spc="-1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탐색</a:t>
            </a:r>
            <a:endParaRPr sz="1200">
              <a:latin typeface="맑은 고딕"/>
              <a:cs typeface="맑은 고딕"/>
            </a:endParaRPr>
          </a:p>
          <a:p>
            <a:pPr marL="432434" lvl="1" indent="-169545">
              <a:lnSpc>
                <a:spcPct val="100000"/>
              </a:lnSpc>
              <a:buAutoNum type="arabicPeriod"/>
              <a:tabLst>
                <a:tab pos="432434" algn="l"/>
              </a:tabLst>
            </a:pPr>
            <a:r>
              <a:rPr sz="1200" dirty="0">
                <a:latin typeface="맑은 고딕"/>
                <a:cs typeface="맑은 고딕"/>
              </a:rPr>
              <a:t>답변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생성: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정제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지식을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활용하여 답변</a:t>
            </a:r>
            <a:r>
              <a:rPr sz="1200" spc="1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생성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9838" y="6396634"/>
            <a:ext cx="22078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맑은 고딕"/>
                <a:cs typeface="맑은 고딕"/>
              </a:rPr>
              <a:t>논문:</a:t>
            </a:r>
            <a:r>
              <a:rPr sz="1000" spc="-15" dirty="0">
                <a:latin typeface="맑은 고딕"/>
                <a:cs typeface="맑은 고딕"/>
              </a:rPr>
              <a:t> </a:t>
            </a:r>
            <a:r>
              <a:rPr sz="1000" spc="-10" dirty="0">
                <a:latin typeface="맑은 고딕"/>
                <a:cs typeface="맑은 고딕"/>
              </a:rPr>
              <a:t>https://arxiv.org/pdf/2401.15884</a:t>
            </a:r>
            <a:endParaRPr sz="1000">
              <a:latin typeface="맑은 고딕"/>
              <a:cs typeface="맑은 고딕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472" y="2681084"/>
            <a:ext cx="4981194" cy="37099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6233" y="4307916"/>
            <a:ext cx="3637788" cy="196049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05"/>
              </a:spcBef>
            </a:pPr>
            <a:r>
              <a:rPr dirty="0"/>
              <a:t>Corrective</a:t>
            </a:r>
            <a:r>
              <a:rPr spc="-95" dirty="0"/>
              <a:t> </a:t>
            </a:r>
            <a:r>
              <a:rPr dirty="0"/>
              <a:t>RAG</a:t>
            </a:r>
            <a:r>
              <a:rPr spc="-105" dirty="0"/>
              <a:t> </a:t>
            </a:r>
            <a:r>
              <a:rPr dirty="0"/>
              <a:t>(CRAG)</a:t>
            </a:r>
            <a:r>
              <a:rPr spc="-90" dirty="0"/>
              <a:t> </a:t>
            </a:r>
            <a:r>
              <a:rPr dirty="0"/>
              <a:t>구현</a:t>
            </a:r>
            <a:r>
              <a:rPr spc="-110" dirty="0"/>
              <a:t> </a:t>
            </a:r>
            <a:r>
              <a:rPr spc="-25" dirty="0"/>
              <a:t>실습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26322" y="659638"/>
            <a:ext cx="618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맑은 고딕"/>
                <a:cs typeface="맑은 고딕"/>
              </a:rPr>
              <a:t>CRAG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0748" y="1756282"/>
            <a:ext cx="10987405" cy="637540"/>
          </a:xfrm>
          <a:custGeom>
            <a:avLst/>
            <a:gdLst/>
            <a:ahLst/>
            <a:cxnLst/>
            <a:rect l="l" t="t" r="r" b="b"/>
            <a:pathLst>
              <a:path w="10987405" h="637539">
                <a:moveTo>
                  <a:pt x="10918456" y="0"/>
                </a:moveTo>
                <a:lnTo>
                  <a:pt x="68795" y="0"/>
                </a:lnTo>
                <a:lnTo>
                  <a:pt x="42015" y="5395"/>
                </a:lnTo>
                <a:lnTo>
                  <a:pt x="20148" y="20113"/>
                </a:lnTo>
                <a:lnTo>
                  <a:pt x="5405" y="41951"/>
                </a:lnTo>
                <a:lnTo>
                  <a:pt x="0" y="68706"/>
                </a:lnTo>
                <a:lnTo>
                  <a:pt x="0" y="568325"/>
                </a:lnTo>
                <a:lnTo>
                  <a:pt x="5405" y="595100"/>
                </a:lnTo>
                <a:lnTo>
                  <a:pt x="20148" y="616981"/>
                </a:lnTo>
                <a:lnTo>
                  <a:pt x="42015" y="631743"/>
                </a:lnTo>
                <a:lnTo>
                  <a:pt x="68795" y="637158"/>
                </a:lnTo>
                <a:lnTo>
                  <a:pt x="10918456" y="637158"/>
                </a:lnTo>
                <a:lnTo>
                  <a:pt x="10945285" y="631743"/>
                </a:lnTo>
                <a:lnTo>
                  <a:pt x="10967161" y="616981"/>
                </a:lnTo>
                <a:lnTo>
                  <a:pt x="10981893" y="595100"/>
                </a:lnTo>
                <a:lnTo>
                  <a:pt x="10987290" y="568325"/>
                </a:lnTo>
                <a:lnTo>
                  <a:pt x="10987290" y="68706"/>
                </a:lnTo>
                <a:lnTo>
                  <a:pt x="10981893" y="41951"/>
                </a:lnTo>
                <a:lnTo>
                  <a:pt x="10967161" y="20113"/>
                </a:lnTo>
                <a:lnTo>
                  <a:pt x="10945285" y="5395"/>
                </a:lnTo>
                <a:lnTo>
                  <a:pt x="10918456" y="0"/>
                </a:lnTo>
                <a:close/>
              </a:path>
            </a:pathLst>
          </a:custGeom>
          <a:solidFill>
            <a:srgbClr val="D1D1D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9643" y="1913382"/>
            <a:ext cx="6282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172085" algn="l"/>
              </a:tabLst>
            </a:pP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주요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과정</a:t>
            </a:r>
            <a:r>
              <a:rPr sz="1800" dirty="0">
                <a:solidFill>
                  <a:srgbClr val="3C3929"/>
                </a:solidFill>
                <a:latin typeface="Calibri"/>
                <a:cs typeface="Calibri"/>
              </a:rPr>
              <a:t>:</a:t>
            </a:r>
            <a:r>
              <a:rPr sz="1800" spc="-20" dirty="0">
                <a:solidFill>
                  <a:srgbClr val="3C3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검색</a:t>
            </a:r>
            <a:r>
              <a:rPr sz="1800" spc="-21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Calibri"/>
                <a:cs typeface="Calibri"/>
              </a:rPr>
              <a:t>-&gt;</a:t>
            </a:r>
            <a:r>
              <a:rPr sz="1800" spc="-5" dirty="0">
                <a:solidFill>
                  <a:srgbClr val="3C3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평가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Calibri"/>
                <a:cs typeface="Calibri"/>
              </a:rPr>
              <a:t>-&gt;</a:t>
            </a:r>
            <a:r>
              <a:rPr sz="1800" spc="15" dirty="0">
                <a:solidFill>
                  <a:srgbClr val="3C3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지식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정제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또는</a:t>
            </a:r>
            <a:r>
              <a:rPr sz="1800" spc="-21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웹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검색</a:t>
            </a:r>
            <a:r>
              <a:rPr sz="1800" spc="-21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dirty="0">
                <a:solidFill>
                  <a:srgbClr val="3C3929"/>
                </a:solidFill>
                <a:latin typeface="Calibri"/>
                <a:cs typeface="Calibri"/>
              </a:rPr>
              <a:t>-&gt;</a:t>
            </a:r>
            <a:r>
              <a:rPr sz="1800" spc="-5" dirty="0">
                <a:solidFill>
                  <a:srgbClr val="3C3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C3929"/>
                </a:solidFill>
                <a:latin typeface="맑은 고딕"/>
                <a:cs typeface="맑은 고딕"/>
              </a:rPr>
              <a:t>답변</a:t>
            </a:r>
            <a:r>
              <a:rPr sz="1800" spc="-225" dirty="0">
                <a:solidFill>
                  <a:srgbClr val="3C3929"/>
                </a:solidFill>
                <a:latin typeface="맑은 고딕"/>
                <a:cs typeface="맑은 고딕"/>
              </a:rPr>
              <a:t> </a:t>
            </a:r>
            <a:r>
              <a:rPr sz="1800" spc="-25" dirty="0">
                <a:solidFill>
                  <a:srgbClr val="3C3929"/>
                </a:solidFill>
                <a:latin typeface="맑은 고딕"/>
                <a:cs typeface="맑은 고딕"/>
              </a:rPr>
              <a:t>생성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0748" y="2573654"/>
            <a:ext cx="10987405" cy="4036695"/>
          </a:xfrm>
          <a:custGeom>
            <a:avLst/>
            <a:gdLst/>
            <a:ahLst/>
            <a:cxnLst/>
            <a:rect l="l" t="t" r="r" b="b"/>
            <a:pathLst>
              <a:path w="10987405" h="4036695">
                <a:moveTo>
                  <a:pt x="0" y="221996"/>
                </a:moveTo>
                <a:lnTo>
                  <a:pt x="4510" y="177270"/>
                </a:lnTo>
                <a:lnTo>
                  <a:pt x="17447" y="135606"/>
                </a:lnTo>
                <a:lnTo>
                  <a:pt x="37918" y="97897"/>
                </a:lnTo>
                <a:lnTo>
                  <a:pt x="65030" y="65039"/>
                </a:lnTo>
                <a:lnTo>
                  <a:pt x="97890" y="37926"/>
                </a:lnTo>
                <a:lnTo>
                  <a:pt x="135606" y="17452"/>
                </a:lnTo>
                <a:lnTo>
                  <a:pt x="177285" y="4512"/>
                </a:lnTo>
                <a:lnTo>
                  <a:pt x="222034" y="0"/>
                </a:lnTo>
                <a:lnTo>
                  <a:pt x="10765294" y="0"/>
                </a:lnTo>
                <a:lnTo>
                  <a:pt x="10810020" y="4512"/>
                </a:lnTo>
                <a:lnTo>
                  <a:pt x="10851684" y="17452"/>
                </a:lnTo>
                <a:lnTo>
                  <a:pt x="10889392" y="37926"/>
                </a:lnTo>
                <a:lnTo>
                  <a:pt x="10922250" y="65039"/>
                </a:lnTo>
                <a:lnTo>
                  <a:pt x="10949364" y="97897"/>
                </a:lnTo>
                <a:lnTo>
                  <a:pt x="10969838" y="135606"/>
                </a:lnTo>
                <a:lnTo>
                  <a:pt x="10982778" y="177270"/>
                </a:lnTo>
                <a:lnTo>
                  <a:pt x="10987290" y="221996"/>
                </a:lnTo>
                <a:lnTo>
                  <a:pt x="10987290" y="3814267"/>
                </a:lnTo>
                <a:lnTo>
                  <a:pt x="10982778" y="3859016"/>
                </a:lnTo>
                <a:lnTo>
                  <a:pt x="10969838" y="3900695"/>
                </a:lnTo>
                <a:lnTo>
                  <a:pt x="10949364" y="3938410"/>
                </a:lnTo>
                <a:lnTo>
                  <a:pt x="10922250" y="3971270"/>
                </a:lnTo>
                <a:lnTo>
                  <a:pt x="10889392" y="3998382"/>
                </a:lnTo>
                <a:lnTo>
                  <a:pt x="10851684" y="4018853"/>
                </a:lnTo>
                <a:lnTo>
                  <a:pt x="10810020" y="4031790"/>
                </a:lnTo>
                <a:lnTo>
                  <a:pt x="10765294" y="4036301"/>
                </a:lnTo>
                <a:lnTo>
                  <a:pt x="222034" y="4036301"/>
                </a:lnTo>
                <a:lnTo>
                  <a:pt x="177285" y="4031790"/>
                </a:lnTo>
                <a:lnTo>
                  <a:pt x="135606" y="4018853"/>
                </a:lnTo>
                <a:lnTo>
                  <a:pt x="97890" y="3998382"/>
                </a:lnTo>
                <a:lnTo>
                  <a:pt x="65030" y="3971270"/>
                </a:lnTo>
                <a:lnTo>
                  <a:pt x="37918" y="3938410"/>
                </a:lnTo>
                <a:lnTo>
                  <a:pt x="17447" y="3900695"/>
                </a:lnTo>
                <a:lnTo>
                  <a:pt x="4510" y="3859016"/>
                </a:lnTo>
                <a:lnTo>
                  <a:pt x="0" y="3814267"/>
                </a:lnTo>
                <a:lnTo>
                  <a:pt x="0" y="221996"/>
                </a:lnTo>
                <a:close/>
              </a:path>
            </a:pathLst>
          </a:custGeom>
          <a:ln w="9525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9883" y="2711576"/>
            <a:ext cx="4168140" cy="3191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맑은 고딕"/>
                <a:cs typeface="맑은 고딕"/>
              </a:rPr>
              <a:t>CRAG</a:t>
            </a:r>
            <a:r>
              <a:rPr sz="1400" b="1" spc="-35" dirty="0">
                <a:latin typeface="맑은 고딕"/>
                <a:cs typeface="맑은 고딕"/>
              </a:rPr>
              <a:t> </a:t>
            </a:r>
            <a:r>
              <a:rPr sz="1400" b="1" dirty="0">
                <a:latin typeface="맑은 고딕"/>
                <a:cs typeface="맑은 고딕"/>
              </a:rPr>
              <a:t>구현</a:t>
            </a:r>
            <a:r>
              <a:rPr sz="1400" b="1" spc="-20" dirty="0">
                <a:latin typeface="맑은 고딕"/>
                <a:cs typeface="맑은 고딕"/>
              </a:rPr>
              <a:t> </a:t>
            </a:r>
            <a:r>
              <a:rPr sz="1400" b="1" spc="-25" dirty="0">
                <a:latin typeface="맑은 고딕"/>
                <a:cs typeface="맑은 고딕"/>
              </a:rPr>
              <a:t>과정</a:t>
            </a:r>
            <a:endParaRPr sz="1400">
              <a:latin typeface="맑은 고딕"/>
              <a:cs typeface="맑은 고딕"/>
            </a:endParaRPr>
          </a:p>
          <a:p>
            <a:pPr marL="265430" indent="-252729">
              <a:lnSpc>
                <a:spcPct val="100000"/>
              </a:lnSpc>
              <a:spcBef>
                <a:spcPts val="1639"/>
              </a:spcBef>
              <a:buClr>
                <a:srgbClr val="0451A4"/>
              </a:buClr>
              <a:buFont typeface="Consolas"/>
              <a:buAutoNum type="arabicPeriod"/>
              <a:tabLst>
                <a:tab pos="265430" algn="l"/>
              </a:tabLst>
            </a:pPr>
            <a:r>
              <a:rPr sz="1200" dirty="0">
                <a:latin typeface="맑은 고딕"/>
                <a:cs typeface="맑은 고딕"/>
              </a:rPr>
              <a:t>문서</a:t>
            </a:r>
            <a:r>
              <a:rPr sz="1200" spc="229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관련성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평가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spc="-10" dirty="0">
                <a:latin typeface="Consolas"/>
                <a:cs typeface="Consolas"/>
              </a:rPr>
              <a:t>(</a:t>
            </a:r>
            <a:r>
              <a:rPr sz="1200" spc="-10" dirty="0">
                <a:solidFill>
                  <a:srgbClr val="800000"/>
                </a:solidFill>
                <a:latin typeface="Consolas"/>
                <a:cs typeface="Consolas"/>
              </a:rPr>
              <a:t>`grade_documents`</a:t>
            </a:r>
            <a:r>
              <a:rPr sz="1200" spc="-10" dirty="0">
                <a:latin typeface="Consolas"/>
                <a:cs typeface="Consolas"/>
              </a:rPr>
              <a:t>):</a:t>
            </a:r>
            <a:endParaRPr sz="1200">
              <a:latin typeface="Consolas"/>
              <a:cs typeface="Consolas"/>
            </a:endParaRPr>
          </a:p>
          <a:p>
            <a:pPr marL="433070" lvl="1" indent="-167640">
              <a:lnSpc>
                <a:spcPct val="100000"/>
              </a:lnSpc>
              <a:buClr>
                <a:srgbClr val="0451A4"/>
              </a:buClr>
              <a:buFont typeface="Consolas"/>
              <a:buChar char="-"/>
              <a:tabLst>
                <a:tab pos="433070" algn="l"/>
              </a:tabLst>
            </a:pPr>
            <a:r>
              <a:rPr sz="1200" dirty="0">
                <a:latin typeface="맑은 고딕"/>
                <a:cs typeface="맑은 고딕"/>
              </a:rPr>
              <a:t>각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문서의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관련성을</a:t>
            </a:r>
            <a:r>
              <a:rPr sz="1200" spc="25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평가</a:t>
            </a:r>
            <a:endParaRPr sz="1200">
              <a:latin typeface="맑은 고딕"/>
              <a:cs typeface="맑은 고딕"/>
            </a:endParaRPr>
          </a:p>
          <a:p>
            <a:pPr marL="433070" lvl="1" indent="-167640">
              <a:lnSpc>
                <a:spcPct val="100000"/>
              </a:lnSpc>
              <a:buClr>
                <a:srgbClr val="0451A4"/>
              </a:buClr>
              <a:buFont typeface="Consolas"/>
              <a:buChar char="-"/>
              <a:tabLst>
                <a:tab pos="433070" algn="l"/>
              </a:tabLst>
            </a:pPr>
            <a:r>
              <a:rPr sz="1200" dirty="0">
                <a:latin typeface="맑은 고딕"/>
                <a:cs typeface="맑은 고딕"/>
              </a:rPr>
              <a:t>기준을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통과하는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문서만을</a:t>
            </a:r>
            <a:r>
              <a:rPr sz="1200" spc="254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유지</a:t>
            </a:r>
            <a:endParaRPr sz="1200">
              <a:latin typeface="맑은 고딕"/>
              <a:cs typeface="맑은 고딕"/>
            </a:endParaRPr>
          </a:p>
          <a:p>
            <a:pPr marL="265430" indent="-252729">
              <a:lnSpc>
                <a:spcPct val="100000"/>
              </a:lnSpc>
              <a:spcBef>
                <a:spcPts val="1440"/>
              </a:spcBef>
              <a:buClr>
                <a:srgbClr val="0451A4"/>
              </a:buClr>
              <a:buFont typeface="Consolas"/>
              <a:buAutoNum type="arabicPeriod"/>
              <a:tabLst>
                <a:tab pos="265430" algn="l"/>
              </a:tabLst>
            </a:pPr>
            <a:r>
              <a:rPr sz="1200" dirty="0">
                <a:latin typeface="맑은 고딕"/>
                <a:cs typeface="맑은 고딕"/>
              </a:rPr>
              <a:t>지식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정제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spc="-10" dirty="0">
                <a:latin typeface="Consolas"/>
                <a:cs typeface="Consolas"/>
              </a:rPr>
              <a:t>(</a:t>
            </a:r>
            <a:r>
              <a:rPr sz="1200" spc="-10" dirty="0">
                <a:solidFill>
                  <a:srgbClr val="800000"/>
                </a:solidFill>
                <a:latin typeface="Consolas"/>
                <a:cs typeface="Consolas"/>
              </a:rPr>
              <a:t>`refine_knowledge`</a:t>
            </a:r>
            <a:r>
              <a:rPr sz="1200" spc="-10" dirty="0">
                <a:latin typeface="Consolas"/>
                <a:cs typeface="Consolas"/>
              </a:rPr>
              <a:t>):</a:t>
            </a:r>
            <a:endParaRPr sz="1200">
              <a:latin typeface="Consolas"/>
              <a:cs typeface="Consolas"/>
            </a:endParaRPr>
          </a:p>
          <a:p>
            <a:pPr marL="433070" lvl="1" indent="-167640">
              <a:lnSpc>
                <a:spcPct val="100000"/>
              </a:lnSpc>
              <a:buClr>
                <a:srgbClr val="0451A4"/>
              </a:buClr>
              <a:buFont typeface="Consolas"/>
              <a:buChar char="-"/>
              <a:tabLst>
                <a:tab pos="433070" algn="l"/>
              </a:tabLst>
            </a:pPr>
            <a:r>
              <a:rPr sz="1200" dirty="0">
                <a:latin typeface="맑은 고딕"/>
                <a:cs typeface="맑은 고딕"/>
              </a:rPr>
              <a:t>문서를</a:t>
            </a:r>
            <a:r>
              <a:rPr sz="1200" spc="235" dirty="0">
                <a:latin typeface="맑은 고딕"/>
                <a:cs typeface="맑은 고딕"/>
              </a:rPr>
              <a:t> </a:t>
            </a:r>
            <a:r>
              <a:rPr sz="1200" dirty="0">
                <a:latin typeface="Consolas"/>
                <a:cs typeface="Consolas"/>
              </a:rPr>
              <a:t>"</a:t>
            </a:r>
            <a:r>
              <a:rPr sz="1200" dirty="0">
                <a:latin typeface="맑은 고딕"/>
                <a:cs typeface="맑은 고딕"/>
              </a:rPr>
              <a:t>지식</a:t>
            </a:r>
            <a:r>
              <a:rPr sz="1200" spc="25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조각</a:t>
            </a:r>
            <a:r>
              <a:rPr sz="1200" dirty="0">
                <a:latin typeface="Consolas"/>
                <a:cs typeface="Consolas"/>
              </a:rPr>
              <a:t>"</a:t>
            </a:r>
            <a:r>
              <a:rPr sz="1200" dirty="0">
                <a:latin typeface="맑은 고딕"/>
                <a:cs typeface="맑은 고딕"/>
              </a:rPr>
              <a:t>으로</a:t>
            </a:r>
            <a:r>
              <a:rPr sz="1200" spc="23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분할하고</a:t>
            </a:r>
            <a:r>
              <a:rPr sz="1200" spc="23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각각</a:t>
            </a:r>
            <a:r>
              <a:rPr sz="1200" spc="24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관련성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평가</a:t>
            </a:r>
            <a:endParaRPr sz="1200">
              <a:latin typeface="맑은 고딕"/>
              <a:cs typeface="맑은 고딕"/>
            </a:endParaRPr>
          </a:p>
          <a:p>
            <a:pPr marL="432434" lvl="1" indent="-167005">
              <a:lnSpc>
                <a:spcPct val="100000"/>
              </a:lnSpc>
              <a:buClr>
                <a:srgbClr val="0451A4"/>
              </a:buClr>
              <a:buFont typeface="Consolas"/>
              <a:buChar char="-"/>
              <a:tabLst>
                <a:tab pos="432434" algn="l"/>
              </a:tabLst>
            </a:pPr>
            <a:r>
              <a:rPr sz="1200" dirty="0">
                <a:latin typeface="맑은 고딕"/>
                <a:cs typeface="맑은 고딕"/>
              </a:rPr>
              <a:t>관련성</a:t>
            </a:r>
            <a:r>
              <a:rPr sz="1200" spc="2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높은</a:t>
            </a:r>
            <a:r>
              <a:rPr sz="1200" dirty="0">
                <a:latin typeface="Consolas"/>
                <a:cs typeface="Consolas"/>
              </a:rPr>
              <a:t>(0.5</a:t>
            </a:r>
            <a:r>
              <a:rPr sz="1200" spc="-10" dirty="0">
                <a:latin typeface="Consolas"/>
                <a:cs typeface="Consolas"/>
              </a:rPr>
              <a:t> </a:t>
            </a:r>
            <a:r>
              <a:rPr sz="1200" dirty="0">
                <a:latin typeface="맑은 고딕"/>
                <a:cs typeface="맑은 고딕"/>
              </a:rPr>
              <a:t>초과</a:t>
            </a:r>
            <a:r>
              <a:rPr sz="1200" dirty="0">
                <a:latin typeface="Consolas"/>
                <a:cs typeface="Consolas"/>
              </a:rPr>
              <a:t>)</a:t>
            </a:r>
            <a:r>
              <a:rPr sz="1200" spc="-5" dirty="0">
                <a:latin typeface="Consolas"/>
                <a:cs typeface="Consolas"/>
              </a:rPr>
              <a:t> </a:t>
            </a:r>
            <a:r>
              <a:rPr sz="1200" dirty="0">
                <a:latin typeface="맑은 고딕"/>
                <a:cs typeface="맑은 고딕"/>
              </a:rPr>
              <a:t>지식</a:t>
            </a:r>
            <a:r>
              <a:rPr sz="1200" spc="2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조각만</a:t>
            </a:r>
            <a:r>
              <a:rPr sz="1200" spc="22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유지</a:t>
            </a:r>
            <a:endParaRPr sz="1200">
              <a:latin typeface="맑은 고딕"/>
              <a:cs typeface="맑은 고딕"/>
            </a:endParaRPr>
          </a:p>
          <a:p>
            <a:pPr marL="265430" indent="-252729">
              <a:lnSpc>
                <a:spcPct val="100000"/>
              </a:lnSpc>
              <a:spcBef>
                <a:spcPts val="1445"/>
              </a:spcBef>
              <a:buClr>
                <a:srgbClr val="0451A4"/>
              </a:buClr>
              <a:buFont typeface="Consolas"/>
              <a:buAutoNum type="arabicPeriod"/>
              <a:tabLst>
                <a:tab pos="265430" algn="l"/>
              </a:tabLst>
            </a:pPr>
            <a:r>
              <a:rPr sz="1200" dirty="0">
                <a:latin typeface="맑은 고딕"/>
                <a:cs typeface="맑은 고딕"/>
              </a:rPr>
              <a:t>웹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검색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spc="-10" dirty="0">
                <a:latin typeface="Consolas"/>
                <a:cs typeface="Consolas"/>
              </a:rPr>
              <a:t>(</a:t>
            </a:r>
            <a:r>
              <a:rPr sz="1200" spc="-10" dirty="0">
                <a:solidFill>
                  <a:srgbClr val="800000"/>
                </a:solidFill>
                <a:latin typeface="Consolas"/>
                <a:cs typeface="Consolas"/>
              </a:rPr>
              <a:t>`web_search`</a:t>
            </a:r>
            <a:r>
              <a:rPr sz="1200" spc="-10" dirty="0">
                <a:latin typeface="Consolas"/>
                <a:cs typeface="Consolas"/>
              </a:rPr>
              <a:t>):</a:t>
            </a:r>
            <a:endParaRPr sz="1200">
              <a:latin typeface="Consolas"/>
              <a:cs typeface="Consolas"/>
            </a:endParaRPr>
          </a:p>
          <a:p>
            <a:pPr marL="433070" lvl="1" indent="-167640">
              <a:lnSpc>
                <a:spcPct val="100000"/>
              </a:lnSpc>
              <a:buClr>
                <a:srgbClr val="0451A4"/>
              </a:buClr>
              <a:buFont typeface="Consolas"/>
              <a:buChar char="-"/>
              <a:tabLst>
                <a:tab pos="433070" algn="l"/>
              </a:tabLst>
            </a:pPr>
            <a:r>
              <a:rPr sz="1200" dirty="0">
                <a:latin typeface="맑은 고딕"/>
                <a:cs typeface="맑은 고딕"/>
              </a:rPr>
              <a:t>문서에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충분한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정보가</a:t>
            </a:r>
            <a:r>
              <a:rPr sz="1200" spc="25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없는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경우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외부지식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활용</a:t>
            </a:r>
            <a:endParaRPr sz="1200">
              <a:latin typeface="맑은 고딕"/>
              <a:cs typeface="맑은 고딕"/>
            </a:endParaRPr>
          </a:p>
          <a:p>
            <a:pPr marL="433070" lvl="1" indent="-167640">
              <a:lnSpc>
                <a:spcPct val="100000"/>
              </a:lnSpc>
              <a:buClr>
                <a:srgbClr val="0451A4"/>
              </a:buClr>
              <a:buFont typeface="Consolas"/>
              <a:buChar char="-"/>
              <a:tabLst>
                <a:tab pos="433070" algn="l"/>
              </a:tabLst>
            </a:pPr>
            <a:r>
              <a:rPr sz="1200" dirty="0">
                <a:latin typeface="맑은 고딕"/>
                <a:cs typeface="맑은 고딕"/>
              </a:rPr>
              <a:t>웹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검색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결과를</a:t>
            </a:r>
            <a:r>
              <a:rPr sz="1200" spc="25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기존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문서에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추가</a:t>
            </a:r>
            <a:endParaRPr sz="1200">
              <a:latin typeface="맑은 고딕"/>
              <a:cs typeface="맑은 고딕"/>
            </a:endParaRPr>
          </a:p>
          <a:p>
            <a:pPr marL="265430" indent="-252729">
              <a:lnSpc>
                <a:spcPct val="100000"/>
              </a:lnSpc>
              <a:spcBef>
                <a:spcPts val="1440"/>
              </a:spcBef>
              <a:buClr>
                <a:srgbClr val="0451A4"/>
              </a:buClr>
              <a:buFont typeface="Consolas"/>
              <a:buAutoNum type="arabicPeriod"/>
              <a:tabLst>
                <a:tab pos="265430" algn="l"/>
              </a:tabLst>
            </a:pPr>
            <a:r>
              <a:rPr sz="1200" dirty="0">
                <a:latin typeface="맑은 고딕"/>
                <a:cs typeface="맑은 고딕"/>
              </a:rPr>
              <a:t>답변</a:t>
            </a:r>
            <a:r>
              <a:rPr sz="1200" spc="229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생성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spc="-10" dirty="0">
                <a:latin typeface="Consolas"/>
                <a:cs typeface="Consolas"/>
              </a:rPr>
              <a:t>(</a:t>
            </a:r>
            <a:r>
              <a:rPr sz="1200" spc="-10" dirty="0">
                <a:solidFill>
                  <a:srgbClr val="800000"/>
                </a:solidFill>
                <a:latin typeface="Consolas"/>
                <a:cs typeface="Consolas"/>
              </a:rPr>
              <a:t>`generate_answer`</a:t>
            </a:r>
            <a:r>
              <a:rPr sz="1200" spc="-10" dirty="0">
                <a:latin typeface="Consolas"/>
                <a:cs typeface="Consolas"/>
              </a:rPr>
              <a:t>):</a:t>
            </a:r>
            <a:endParaRPr sz="1200">
              <a:latin typeface="Consolas"/>
              <a:cs typeface="Consolas"/>
            </a:endParaRPr>
          </a:p>
          <a:p>
            <a:pPr marL="433070" lvl="1" indent="-167640">
              <a:lnSpc>
                <a:spcPct val="100000"/>
              </a:lnSpc>
              <a:buClr>
                <a:srgbClr val="0451A4"/>
              </a:buClr>
              <a:buFont typeface="Consolas"/>
              <a:buChar char="-"/>
              <a:tabLst>
                <a:tab pos="433070" algn="l"/>
              </a:tabLst>
            </a:pPr>
            <a:r>
              <a:rPr sz="1200" dirty="0">
                <a:latin typeface="맑은 고딕"/>
                <a:cs typeface="맑은 고딕"/>
              </a:rPr>
              <a:t>정제된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지식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조각을</a:t>
            </a:r>
            <a:r>
              <a:rPr sz="1200" spc="25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사용하여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답변을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생성</a:t>
            </a:r>
            <a:endParaRPr sz="1200">
              <a:latin typeface="맑은 고딕"/>
              <a:cs typeface="맑은 고딕"/>
            </a:endParaRPr>
          </a:p>
          <a:p>
            <a:pPr marL="432434" lvl="1" indent="-167005">
              <a:lnSpc>
                <a:spcPct val="100000"/>
              </a:lnSpc>
              <a:buClr>
                <a:srgbClr val="0451A4"/>
              </a:buClr>
              <a:buFont typeface="Consolas"/>
              <a:buChar char="-"/>
              <a:tabLst>
                <a:tab pos="432434" algn="l"/>
              </a:tabLst>
            </a:pPr>
            <a:r>
              <a:rPr sz="1200" dirty="0">
                <a:latin typeface="맑은 고딕"/>
                <a:cs typeface="맑은 고딕"/>
              </a:rPr>
              <a:t>관련</a:t>
            </a:r>
            <a:r>
              <a:rPr sz="1200" spc="21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정보가</a:t>
            </a:r>
            <a:r>
              <a:rPr sz="1200" spc="229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없을</a:t>
            </a:r>
            <a:r>
              <a:rPr sz="1200" spc="2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경우</a:t>
            </a:r>
            <a:r>
              <a:rPr sz="1200" spc="229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적절한</a:t>
            </a:r>
            <a:r>
              <a:rPr sz="1200" spc="229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메시지를</a:t>
            </a:r>
            <a:r>
              <a:rPr sz="1200" spc="229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반환</a:t>
            </a:r>
            <a:endParaRPr sz="1200">
              <a:latin typeface="맑은 고딕"/>
              <a:cs typeface="맑은 고딕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93589" y="2597442"/>
            <a:ext cx="6075680" cy="3989070"/>
            <a:chOff x="5093589" y="2597442"/>
            <a:chExt cx="6075680" cy="398907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3589" y="2597442"/>
              <a:ext cx="1405382" cy="398880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683121" y="2675877"/>
              <a:ext cx="4486275" cy="3832225"/>
            </a:xfrm>
            <a:custGeom>
              <a:avLst/>
              <a:gdLst/>
              <a:ahLst/>
              <a:cxnLst/>
              <a:rect l="l" t="t" r="r" b="b"/>
              <a:pathLst>
                <a:path w="4486275" h="3832225">
                  <a:moveTo>
                    <a:pt x="4486021" y="0"/>
                  </a:moveTo>
                  <a:lnTo>
                    <a:pt x="0" y="0"/>
                  </a:lnTo>
                  <a:lnTo>
                    <a:pt x="0" y="3831844"/>
                  </a:lnTo>
                  <a:lnTo>
                    <a:pt x="4486021" y="3831844"/>
                  </a:lnTo>
                  <a:lnTo>
                    <a:pt x="4486021" y="0"/>
                  </a:lnTo>
                  <a:close/>
                </a:path>
              </a:pathLst>
            </a:custGeom>
            <a:solidFill>
              <a:srgbClr val="FAE2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762750" y="2703321"/>
            <a:ext cx="344741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9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노드</a:t>
            </a:r>
            <a:r>
              <a:rPr sz="900" spc="18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25" dirty="0">
                <a:solidFill>
                  <a:srgbClr val="008000"/>
                </a:solidFill>
                <a:latin typeface="맑은 고딕"/>
                <a:cs typeface="맑은 고딕"/>
              </a:rPr>
              <a:t>정의</a:t>
            </a:r>
            <a:endParaRPr sz="900">
              <a:latin typeface="맑은 고딕"/>
              <a:cs typeface="맑은 고딕"/>
            </a:endParaRPr>
          </a:p>
          <a:p>
            <a:pPr marL="12700" marR="5080">
              <a:lnSpc>
                <a:spcPct val="100000"/>
              </a:lnSpc>
            </a:pPr>
            <a:r>
              <a:rPr sz="900" dirty="0">
                <a:latin typeface="Consolas"/>
                <a:cs typeface="Consolas"/>
              </a:rPr>
              <a:t>builder.add_node(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"retrieve"</a:t>
            </a:r>
            <a:r>
              <a:rPr sz="900" dirty="0">
                <a:latin typeface="Consolas"/>
                <a:cs typeface="Consolas"/>
              </a:rPr>
              <a:t>,</a:t>
            </a:r>
            <a:r>
              <a:rPr sz="900" spc="-7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retrieve) builder.add_node(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"grade_documents"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8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grade_documents) builder.add_node(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"refine_knowledge"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85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refine_knowledge) builder.add_node(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"web_search"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7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web_search) builder.add_node(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"generate"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7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generate) builder.add_node(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"transform_query"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80" dirty="0">
                <a:latin typeface="Consolas"/>
                <a:cs typeface="Consolas"/>
              </a:rPr>
              <a:t> </a:t>
            </a:r>
            <a:r>
              <a:rPr sz="900" spc="-10" dirty="0">
                <a:latin typeface="Consolas"/>
                <a:cs typeface="Consolas"/>
              </a:rPr>
              <a:t>transform_query)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8495" y="2840177"/>
            <a:ext cx="67373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90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문서</a:t>
            </a:r>
            <a:r>
              <a:rPr sz="900" spc="16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25" dirty="0">
                <a:solidFill>
                  <a:srgbClr val="008000"/>
                </a:solidFill>
                <a:latin typeface="맑은 고딕"/>
                <a:cs typeface="맑은 고딕"/>
              </a:rPr>
              <a:t>검색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90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문서</a:t>
            </a:r>
            <a:r>
              <a:rPr sz="900" spc="17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25" dirty="0">
                <a:solidFill>
                  <a:srgbClr val="008000"/>
                </a:solidFill>
                <a:latin typeface="맑은 고딕"/>
                <a:cs typeface="맑은 고딕"/>
              </a:rPr>
              <a:t>평가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90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지식</a:t>
            </a:r>
            <a:r>
              <a:rPr sz="900" spc="17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25" dirty="0">
                <a:solidFill>
                  <a:srgbClr val="008000"/>
                </a:solidFill>
                <a:latin typeface="맑은 고딕"/>
                <a:cs typeface="맑은 고딕"/>
              </a:rPr>
              <a:t>정제 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90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웹</a:t>
            </a:r>
            <a:r>
              <a:rPr sz="900" spc="16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25" dirty="0">
                <a:solidFill>
                  <a:srgbClr val="008000"/>
                </a:solidFill>
                <a:latin typeface="맑은 고딕"/>
                <a:cs typeface="맑은 고딕"/>
              </a:rPr>
              <a:t>검색</a:t>
            </a:r>
            <a:endParaRPr sz="900">
              <a:latin typeface="맑은 고딕"/>
              <a:cs typeface="맑은 고딕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90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답변</a:t>
            </a:r>
            <a:r>
              <a:rPr sz="900" spc="17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25" dirty="0">
                <a:solidFill>
                  <a:srgbClr val="008000"/>
                </a:solidFill>
                <a:latin typeface="맑은 고딕"/>
                <a:cs typeface="맑은 고딕"/>
              </a:rPr>
              <a:t>생성</a:t>
            </a:r>
            <a:endParaRPr sz="900">
              <a:latin typeface="맑은 고딕"/>
              <a:cs typeface="맑은 고딕"/>
            </a:endParaRPr>
          </a:p>
          <a:p>
            <a:pPr marL="12700" algn="just">
              <a:lnSpc>
                <a:spcPct val="100000"/>
              </a:lnSpc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90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질문</a:t>
            </a:r>
            <a:r>
              <a:rPr sz="900" spc="17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25" dirty="0">
                <a:solidFill>
                  <a:srgbClr val="008000"/>
                </a:solidFill>
                <a:latin typeface="맑은 고딕"/>
                <a:cs typeface="맑은 고딕"/>
              </a:rPr>
              <a:t>개선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62750" y="3800982"/>
            <a:ext cx="35179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9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경로</a:t>
            </a:r>
            <a:r>
              <a:rPr sz="900" spc="18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25" dirty="0">
                <a:solidFill>
                  <a:srgbClr val="008000"/>
                </a:solidFill>
                <a:latin typeface="맑은 고딕"/>
                <a:cs typeface="맑은 고딕"/>
              </a:rPr>
              <a:t>정의</a:t>
            </a:r>
            <a:endParaRPr sz="900">
              <a:latin typeface="맑은 고딕"/>
              <a:cs typeface="맑은 고딕"/>
            </a:endParaRPr>
          </a:p>
          <a:p>
            <a:pPr marL="12700" marR="5080">
              <a:lnSpc>
                <a:spcPct val="100000"/>
              </a:lnSpc>
            </a:pPr>
            <a:r>
              <a:rPr sz="900" spc="-10" dirty="0">
                <a:latin typeface="Consolas"/>
                <a:cs typeface="Consolas"/>
              </a:rPr>
              <a:t>builder.add_edge(START,</a:t>
            </a:r>
            <a:r>
              <a:rPr sz="900" spc="5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"retrieve"</a:t>
            </a:r>
            <a:r>
              <a:rPr sz="900" spc="-10" dirty="0">
                <a:latin typeface="Consolas"/>
                <a:cs typeface="Consolas"/>
              </a:rPr>
              <a:t>) builder.add_edge(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"retrieve"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6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"grade_documents"</a:t>
            </a:r>
            <a:r>
              <a:rPr sz="900" spc="-10" dirty="0">
                <a:latin typeface="Consolas"/>
                <a:cs typeface="Consolas"/>
              </a:rPr>
              <a:t>) </a:t>
            </a:r>
            <a:r>
              <a:rPr sz="900" dirty="0">
                <a:latin typeface="Consolas"/>
                <a:cs typeface="Consolas"/>
              </a:rPr>
              <a:t>builder.add_edge(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"grade_documents"</a:t>
            </a:r>
            <a:r>
              <a:rPr sz="900" dirty="0">
                <a:latin typeface="Consolas"/>
                <a:cs typeface="Consolas"/>
              </a:rPr>
              <a:t>,</a:t>
            </a:r>
            <a:r>
              <a:rPr sz="900" spc="-95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"refine_knowledge"</a:t>
            </a:r>
            <a:r>
              <a:rPr sz="900" spc="-10" dirty="0">
                <a:latin typeface="Consolas"/>
                <a:cs typeface="Consolas"/>
              </a:rPr>
              <a:t>)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75450" y="4487036"/>
            <a:ext cx="28568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#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조건부</a:t>
            </a:r>
            <a:r>
              <a:rPr sz="900" spc="175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엣지</a:t>
            </a:r>
            <a:r>
              <a:rPr sz="900" spc="18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추가</a:t>
            </a: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: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문서</a:t>
            </a:r>
            <a:r>
              <a:rPr sz="900" spc="18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평가</a:t>
            </a:r>
            <a:r>
              <a:rPr sz="900" spc="16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후</a:t>
            </a:r>
            <a:r>
              <a:rPr sz="900" spc="18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25" dirty="0">
                <a:solidFill>
                  <a:srgbClr val="008000"/>
                </a:solidFill>
                <a:latin typeface="맑은 고딕"/>
                <a:cs typeface="맑은 고딕"/>
              </a:rPr>
              <a:t>결정</a:t>
            </a:r>
            <a:endParaRPr sz="900">
              <a:latin typeface="맑은 고딕"/>
              <a:cs typeface="맑은 고딕"/>
            </a:endParaRPr>
          </a:p>
          <a:p>
            <a:pPr marL="252729" marR="944880" indent="-253365">
              <a:lnSpc>
                <a:spcPct val="100000"/>
              </a:lnSpc>
            </a:pPr>
            <a:r>
              <a:rPr sz="900" spc="-10" dirty="0">
                <a:latin typeface="Consolas"/>
                <a:cs typeface="Consolas"/>
              </a:rPr>
              <a:t>builder.add_conditional_edges(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"refine_knowledge"</a:t>
            </a:r>
            <a:r>
              <a:rPr sz="900" spc="-10" dirty="0">
                <a:latin typeface="Consolas"/>
                <a:cs typeface="Consolas"/>
              </a:rPr>
              <a:t>, decide_to_generate,</a:t>
            </a:r>
            <a:endParaRPr sz="900">
              <a:latin typeface="Consolas"/>
              <a:cs typeface="Consolas"/>
            </a:endParaRPr>
          </a:p>
          <a:p>
            <a:pPr marL="252729">
              <a:lnSpc>
                <a:spcPct val="100000"/>
              </a:lnSpc>
            </a:pPr>
            <a:r>
              <a:rPr sz="900" spc="-50" dirty="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507365">
              <a:lnSpc>
                <a:spcPct val="100000"/>
              </a:lnSpc>
            </a:pP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"transform_query"</a:t>
            </a:r>
            <a:r>
              <a:rPr sz="900" spc="-10" dirty="0">
                <a:latin typeface="Consolas"/>
                <a:cs typeface="Consolas"/>
              </a:rPr>
              <a:t>:</a:t>
            </a:r>
            <a:r>
              <a:rPr sz="900" spc="5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"transform_query"</a:t>
            </a:r>
            <a:r>
              <a:rPr sz="900" spc="-10" dirty="0">
                <a:latin typeface="Consolas"/>
                <a:cs typeface="Consolas"/>
              </a:rPr>
              <a:t>, </a:t>
            </a:r>
            <a:r>
              <a:rPr sz="900" dirty="0">
                <a:solidFill>
                  <a:srgbClr val="A21515"/>
                </a:solidFill>
                <a:latin typeface="Consolas"/>
                <a:cs typeface="Consolas"/>
              </a:rPr>
              <a:t>"generate"</a:t>
            </a:r>
            <a:r>
              <a:rPr sz="900" dirty="0">
                <a:latin typeface="Consolas"/>
                <a:cs typeface="Consolas"/>
              </a:rPr>
              <a:t>:</a:t>
            </a:r>
            <a:r>
              <a:rPr sz="900" spc="-8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"generate"</a:t>
            </a:r>
            <a:r>
              <a:rPr sz="900" spc="-10" dirty="0">
                <a:latin typeface="Consolas"/>
                <a:cs typeface="Consolas"/>
              </a:rPr>
              <a:t>,</a:t>
            </a:r>
            <a:endParaRPr sz="900">
              <a:latin typeface="Consolas"/>
              <a:cs typeface="Consolas"/>
            </a:endParaRPr>
          </a:p>
          <a:p>
            <a:pPr marL="252729">
              <a:lnSpc>
                <a:spcPct val="100000"/>
              </a:lnSpc>
            </a:pPr>
            <a:r>
              <a:rPr sz="900" spc="-25" dirty="0">
                <a:latin typeface="Consolas"/>
                <a:cs typeface="Consolas"/>
              </a:rPr>
              <a:t>},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75450" y="5584037"/>
            <a:ext cx="635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Consolas"/>
                <a:cs typeface="Consolas"/>
              </a:rPr>
              <a:t>)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62750" y="5858967"/>
            <a:ext cx="3136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900" spc="-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008000"/>
                </a:solidFill>
                <a:latin typeface="맑은 고딕"/>
                <a:cs typeface="맑은 고딕"/>
              </a:rPr>
              <a:t>추가</a:t>
            </a:r>
            <a:r>
              <a:rPr sz="900" spc="180" dirty="0">
                <a:solidFill>
                  <a:srgbClr val="008000"/>
                </a:solidFill>
                <a:latin typeface="맑은 고딕"/>
                <a:cs typeface="맑은 고딕"/>
              </a:rPr>
              <a:t> </a:t>
            </a:r>
            <a:r>
              <a:rPr sz="900" spc="-25" dirty="0">
                <a:solidFill>
                  <a:srgbClr val="008000"/>
                </a:solidFill>
                <a:latin typeface="맑은 고딕"/>
                <a:cs typeface="맑은 고딕"/>
              </a:rPr>
              <a:t>경로</a:t>
            </a:r>
            <a:endParaRPr sz="900">
              <a:latin typeface="맑은 고딕"/>
              <a:cs typeface="맑은 고딕"/>
            </a:endParaRPr>
          </a:p>
          <a:p>
            <a:pPr marL="12700" marR="5080">
              <a:lnSpc>
                <a:spcPct val="100000"/>
              </a:lnSpc>
            </a:pPr>
            <a:r>
              <a:rPr sz="900" spc="-10" dirty="0">
                <a:latin typeface="Consolas"/>
                <a:cs typeface="Consolas"/>
              </a:rPr>
              <a:t>builder.add_edge(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"transform_query"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7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"web_search"</a:t>
            </a:r>
            <a:r>
              <a:rPr sz="900" spc="-10" dirty="0">
                <a:latin typeface="Consolas"/>
                <a:cs typeface="Consolas"/>
              </a:rPr>
              <a:t>) builder.add_edge(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"web_search"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60" dirty="0"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"generate"</a:t>
            </a:r>
            <a:r>
              <a:rPr sz="900" spc="-10" dirty="0">
                <a:latin typeface="Consolas"/>
                <a:cs typeface="Consolas"/>
              </a:rPr>
              <a:t>) builder.add_edge(</a:t>
            </a:r>
            <a:r>
              <a:rPr sz="900" spc="-10" dirty="0">
                <a:solidFill>
                  <a:srgbClr val="A21515"/>
                </a:solidFill>
                <a:latin typeface="Consolas"/>
                <a:cs typeface="Consolas"/>
              </a:rPr>
              <a:t>"generate"</a:t>
            </a:r>
            <a:r>
              <a:rPr sz="900" spc="-10" dirty="0">
                <a:latin typeface="Consolas"/>
                <a:cs typeface="Consolas"/>
              </a:rPr>
              <a:t>,</a:t>
            </a:r>
            <a:r>
              <a:rPr sz="900" spc="65" dirty="0">
                <a:latin typeface="Consolas"/>
                <a:cs typeface="Consolas"/>
              </a:rPr>
              <a:t> </a:t>
            </a:r>
            <a:r>
              <a:rPr sz="900" spc="-20" dirty="0">
                <a:latin typeface="Consolas"/>
                <a:cs typeface="Consolas"/>
              </a:rPr>
              <a:t>END)</a:t>
            </a:r>
            <a:endParaRPr sz="9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0" y="2895600"/>
            <a:ext cx="342772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/>
              <a:t>감사합니다!!</a:t>
            </a:r>
            <a:endParaRPr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6977</Words>
  <Application>Microsoft Office PowerPoint</Application>
  <PresentationFormat>와이드스크린</PresentationFormat>
  <Paragraphs>755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1" baseType="lpstr">
      <vt:lpstr>맑은 고딕</vt:lpstr>
      <vt:lpstr>Arial</vt:lpstr>
      <vt:lpstr>Calibri</vt:lpstr>
      <vt:lpstr>Consolas</vt:lpstr>
      <vt:lpstr>Times New Roman</vt:lpstr>
      <vt:lpstr>Office Theme</vt:lpstr>
      <vt:lpstr>랭그래프(LangGraph) 활용 에이전트 RAG 구현</vt:lpstr>
      <vt:lpstr>PowerPoint 프레젠테이션</vt:lpstr>
      <vt:lpstr>LangChain ToolCalling 개요</vt:lpstr>
      <vt:lpstr>LangChain 에서 제공하는 내장 도구(Tool)</vt:lpstr>
      <vt:lpstr>LangChain 에서 제공하는 내장 도구(Tool)</vt:lpstr>
      <vt:lpstr>Tavily 웹 검색 도구 사용</vt:lpstr>
      <vt:lpstr>Tool Calling 결과를 가지고 검색 작업을 실행</vt:lpstr>
      <vt:lpstr>ToolMessage를 LLM에 전달하여 AI 답변을 생성하기</vt:lpstr>
      <vt:lpstr>사용자 정의 도구(Tool)</vt:lpstr>
      <vt:lpstr>Few-shot 프롬프팅을 활용한 ToolCalling 성능 개선</vt:lpstr>
      <vt:lpstr>LangChain Agent 개요</vt:lpstr>
      <vt:lpstr>LangChain Agent 개요</vt:lpstr>
      <vt:lpstr>StateGraph 개요</vt:lpstr>
      <vt:lpstr>조건부 엣지(Edge)를 활용 분기(Branching)</vt:lpstr>
      <vt:lpstr>State Reducer</vt:lpstr>
      <vt:lpstr>State Reducer</vt:lpstr>
      <vt:lpstr>MessageGraph 개요</vt:lpstr>
      <vt:lpstr>조건부 엣지(Edge)를 활용 반복(Iteration/ Feedback Loop)</vt:lpstr>
      <vt:lpstr>ReAct(Reasoning + Acting) 개념</vt:lpstr>
      <vt:lpstr>랭그래프(LangGraph)에 내장된 ReAct 에이전트 사용</vt:lpstr>
      <vt:lpstr>StateGraph 구조를 사용하여 ReAct 에이전트 만들기</vt:lpstr>
      <vt:lpstr>StateGraph 구조를 사용하여 ReAct 에이전트 만들기</vt:lpstr>
      <vt:lpstr>MemorySaver</vt:lpstr>
      <vt:lpstr>Adaptive RAG 개요</vt:lpstr>
      <vt:lpstr>Adaptive RAG 구현 실습</vt:lpstr>
      <vt:lpstr>Human-in-the-Loop (HITL)</vt:lpstr>
      <vt:lpstr>Human-in-the-Loop (HITL)</vt:lpstr>
      <vt:lpstr>Human-in-the-Loop (HITL)</vt:lpstr>
      <vt:lpstr>Self-RAG 개요</vt:lpstr>
      <vt:lpstr>Self-RAG 구현 실습</vt:lpstr>
      <vt:lpstr>서브그래프 (Subgraphs)</vt:lpstr>
      <vt:lpstr>서브그래프 (Subgraphs)</vt:lpstr>
      <vt:lpstr>Corrective RAG (CRAG) 개요</vt:lpstr>
      <vt:lpstr>Corrective RAG (CRAG) 구현 실습</vt:lpstr>
      <vt:lpstr>감사합니다!!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승환 오</dc:creator>
  <cp:lastModifiedBy>JEONGDONG SEO</cp:lastModifiedBy>
  <cp:revision>2</cp:revision>
  <dcterms:created xsi:type="dcterms:W3CDTF">2026-07-30T06:37:04Z</dcterms:created>
  <dcterms:modified xsi:type="dcterms:W3CDTF">2026-07-30T10:00:16Z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2024-10-11T00:00:00Z</vt:filetime>
  </property>
  <property fmtid="{D5CDD505-2E9C-101B-9397-08002B2CF9AE}" pid="3" name="Creator">
    <vt:lpwstr>Microsoft® PowerPoint® Microsoft 365용</vt:lpwstr>
  </property>
  <property fmtid="{D5CDD505-2E9C-101B-9397-08002B2CF9AE}" pid="4" name="InflearnDownloadedBy">
    <vt:lpwstr>sjd001@empas.com  470422</vt:lpwstr>
  </property>
  <property fmtid="{D5CDD505-2E9C-101B-9397-08002B2CF9AE}" pid="5" name="LastSaved">
    <vt:filetime>2026-07-30T00:00:00Z</vt:filetime>
  </property>
  <property fmtid="{D5CDD505-2E9C-101B-9397-08002B2CF9AE}" pid="6" name="Producer">
    <vt:lpwstr>Microsoft® PowerPoint® Microsoft 365용</vt:lpwstr>
  </property>
</Properties>
</file>